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9144000" cy="5143500" type="screen16x9"/>
  <p:notesSz cx="6858000" cy="9144000"/>
  <p:embeddedFontLst>
    <p:embeddedFont>
      <p:font typeface="Exo 2 Black" panose="020B0604020202020204" charset="0"/>
      <p:bold r:id="rId86"/>
      <p:boldItalic r:id="rId87"/>
    </p:embeddedFont>
    <p:embeddedFont>
      <p:font typeface="Exo 2" panose="020B0604020202020204" charset="0"/>
      <p:regular r:id="rId88"/>
      <p:bold r:id="rId89"/>
      <p:italic r:id="rId90"/>
      <p:boldItalic r:id="rId91"/>
    </p:embeddedFont>
    <p:embeddedFont>
      <p:font typeface="Space Grotesk" panose="020B0604020202020204" charset="0"/>
      <p:regular r:id="rId92"/>
      <p:bold r:id="rId93"/>
    </p:embeddedFont>
    <p:embeddedFont>
      <p:font typeface="Consolas" panose="020B0609020204030204" pitchFamily="49" charset="0"/>
      <p:regular r:id="rId94"/>
      <p:bold r:id="rId95"/>
      <p:italic r:id="rId96"/>
      <p:boldItalic r:id="rId97"/>
    </p:embeddedFont>
    <p:embeddedFont>
      <p:font typeface="Georgia" panose="02040502050405020303" pitchFamily="18" charset="0"/>
      <p:regular r:id="rId98"/>
      <p:bold r:id="rId99"/>
      <p:italic r:id="rId100"/>
      <p:boldItalic r:id="rId101"/>
    </p:embeddedFont>
    <p:embeddedFont>
      <p:font typeface="Roboto Mono" panose="020B0604020202020204" charset="0"/>
      <p:regular r:id="rId102"/>
      <p:bold r:id="rId103"/>
      <p:italic r:id="rId104"/>
      <p:boldItalic r:id="rId105"/>
    </p:embeddedFont>
    <p:embeddedFont>
      <p:font typeface="Raleway" panose="020B0604020202020204" charset="0"/>
      <p:regular r:id="rId106"/>
      <p:bold r:id="rId107"/>
      <p:italic r:id="rId108"/>
      <p:boldItalic r:id="rId109"/>
    </p:embeddedFont>
    <p:embeddedFont>
      <p:font typeface="Lato" panose="020B0604020202020204" charset="0"/>
      <p:regular r:id="rId110"/>
      <p:bold r:id="rId111"/>
      <p:italic r:id="rId112"/>
      <p:boldItalic r:id="rId113"/>
    </p:embeddedFont>
    <p:embeddedFont>
      <p:font typeface="Space Grotesk Light" panose="020B0604020202020204" charset="0"/>
      <p:regular r:id="rId114"/>
      <p:bold r:id="rId1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BD0CFC-DEC1-4E6F-9715-22E8D36C3251}">
  <a:tblStyle styleId="{DABD0CFC-DEC1-4E6F-9715-22E8D36C325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78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12" Type="http://schemas.openxmlformats.org/officeDocument/2006/relationships/font" Target="fonts/font27.fntdata"/><Relationship Id="rId16" Type="http://schemas.openxmlformats.org/officeDocument/2006/relationships/slide" Target="slides/slide15.xml"/><Relationship Id="rId107" Type="http://schemas.openxmlformats.org/officeDocument/2006/relationships/font" Target="fonts/font2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7.fntdata"/><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28.fntdata"/><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8.fntdata"/><Relationship Id="rId108" Type="http://schemas.openxmlformats.org/officeDocument/2006/relationships/font" Target="fonts/font23.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29.fntdata"/><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104" Type="http://schemas.openxmlformats.org/officeDocument/2006/relationships/font" Target="fonts/font1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110" Type="http://schemas.openxmlformats.org/officeDocument/2006/relationships/font" Target="fonts/font25.fntdata"/><Relationship Id="rId115" Type="http://schemas.openxmlformats.org/officeDocument/2006/relationships/font" Target="fonts/font30.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5.fntdata"/><Relationship Id="rId105"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font" Target="fonts/font3.fntdata"/><Relationship Id="rId111" Type="http://schemas.openxmlformats.org/officeDocument/2006/relationships/font" Target="fonts/font2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eveloper.mozilla.org/es/docs/Web/HTTP/Method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eveloper.mozilla.org/es/docs/Web/HTTP/Method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eveloper.mozilla.org/es/docs/Web/HTTP/Header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es.wikipedia.org/wiki/C++" TargetMode="External"/><Relationship Id="rId13" Type="http://schemas.openxmlformats.org/officeDocument/2006/relationships/hyperlink" Target="https://es.wikipedia.org/wiki/Swift_(lenguaje_de_programaci%C3%B3n)" TargetMode="External"/><Relationship Id="rId3" Type="http://schemas.openxmlformats.org/officeDocument/2006/relationships/hyperlink" Target="https://es.wikipedia.org/wiki/Formato_binario" TargetMode="External"/><Relationship Id="rId7" Type="http://schemas.openxmlformats.org/officeDocument/2006/relationships/hyperlink" Target="https://es.wikipedia.org/wiki/Software_libre" TargetMode="External"/><Relationship Id="rId12" Type="http://schemas.openxmlformats.org/officeDocument/2006/relationships/hyperlink" Target="https://es.wikipedia.org/wiki/Ruby" TargetMode="External"/><Relationship Id="rId2" Type="http://schemas.openxmlformats.org/officeDocument/2006/relationships/slide" Target="../slides/slide26.xml"/><Relationship Id="rId16" Type="http://schemas.openxmlformats.org/officeDocument/2006/relationships/hyperlink" Target="https://es.wikipedia.org/wiki/Extensible_Markup_Language" TargetMode="External"/><Relationship Id="rId1" Type="http://schemas.openxmlformats.org/officeDocument/2006/relationships/notesMaster" Target="../notesMasters/notesMaster1.xml"/><Relationship Id="rId6" Type="http://schemas.openxmlformats.org/officeDocument/2006/relationships/hyperlink" Target="https://es.wikipedia.org/wiki/Google" TargetMode="External"/><Relationship Id="rId11" Type="http://schemas.openxmlformats.org/officeDocument/2006/relationships/hyperlink" Target="https://es.wikipedia.org/wiki/Python" TargetMode="External"/><Relationship Id="rId5" Type="http://schemas.openxmlformats.org/officeDocument/2006/relationships/hyperlink" Target="https://es.wikipedia.org/wiki/Licencia_BSD" TargetMode="External"/><Relationship Id="rId15" Type="http://schemas.openxmlformats.org/officeDocument/2006/relationships/hyperlink" Target="https://es.wikipedia.org/wiki/Sistema_binario" TargetMode="External"/><Relationship Id="rId10" Type="http://schemas.openxmlformats.org/officeDocument/2006/relationships/hyperlink" Target="https://es.wikipedia.org/wiki/Java_(lenguaje_de_programaci%C3%B3n)" TargetMode="External"/><Relationship Id="rId4" Type="http://schemas.openxmlformats.org/officeDocument/2006/relationships/hyperlink" Target="https://es.wikipedia.org/wiki/Protocol_Buffers#cite_note-1" TargetMode="External"/><Relationship Id="rId9" Type="http://schemas.openxmlformats.org/officeDocument/2006/relationships/hyperlink" Target="https://es.wikipedia.org/wiki/Objective-C" TargetMode="External"/><Relationship Id="rId14" Type="http://schemas.openxmlformats.org/officeDocument/2006/relationships/hyperlink" Target="https://es.wikipedia.org/wiki/Wikipedia:Verificabilidad"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www.rfc-editor.org/rfc/rfc3986" TargetMode="External"/><Relationship Id="rId2" Type="http://schemas.openxmlformats.org/officeDocument/2006/relationships/slide" Target="../slides/slide65.xml"/><Relationship Id="rId1" Type="http://schemas.openxmlformats.org/officeDocument/2006/relationships/notesMaster" Target="../notesMasters/notesMaster1.xml"/><Relationship Id="rId4" Type="http://schemas.openxmlformats.org/officeDocument/2006/relationships/hyperlink" Target="https://www.rfc-editor.org/rfc/rfc3986#section-6.2.2.1" TargetMode="Externa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fa53d5c77_0_1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fa53d5c77_0_1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1fa53d5c77_0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1fa53d5c77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1fa53d5c77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1fa53d5c77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b="1"/>
              <a:t>Monolitos</a:t>
            </a:r>
            <a:r>
              <a:rPr lang="es-419"/>
              <a:t>: Durante la década de 1980, los sistemas de software eran en gran medida monolíticos y tendían a ejecutarse en computadoras individuales, ya fueran grandes mainframes centrales con terminales o PC de un solo usuario. Esta fue la era en la que el software se desarrollaba como "programas" y la arquitectura era en gran medida una preocupación del proveedor, heredada de la plataforma que utilizaban los desarrolladores de software.</a:t>
            </a:r>
            <a:endParaRPr/>
          </a:p>
          <a:p>
            <a:pPr marL="457200" lvl="0" indent="-298450" algn="l" rtl="0">
              <a:spcBef>
                <a:spcPts val="0"/>
              </a:spcBef>
              <a:spcAft>
                <a:spcPts val="0"/>
              </a:spcAft>
              <a:buSzPts val="1100"/>
              <a:buChar char="●"/>
            </a:pPr>
            <a:r>
              <a:rPr lang="es-419" b="1"/>
              <a:t>Monolitos distribuidos</a:t>
            </a:r>
            <a:r>
              <a:rPr lang="es-419"/>
              <a:t>: A medida que avanzamos hacia la década de 1990, los sistemas distribuidos se generalizaron, gran parte del procesamiento por lotes se trasladó al procesamiento en línea y el estilo estándar para un sistema empresarial pasó a ser cliente-servidor de tres niveles, con más decisiones arquitectónicas por tomar que antes, pero el estilo arquitectónico todavía estaba en gran medida dictado por los proveedores que proporcionaban las herramientas de desarrollo y el software del sistema en uso. </a:t>
            </a:r>
            <a:endParaRPr/>
          </a:p>
          <a:p>
            <a:pPr marL="457200" lvl="0" indent="-298450" algn="l" rtl="0">
              <a:spcBef>
                <a:spcPts val="0"/>
              </a:spcBef>
              <a:spcAft>
                <a:spcPts val="0"/>
              </a:spcAft>
              <a:buSzPts val="1100"/>
              <a:buChar char="●"/>
            </a:pPr>
            <a:r>
              <a:rPr lang="es-419" b="1"/>
              <a:t>Conectadas a internet</a:t>
            </a:r>
            <a:r>
              <a:rPr lang="es-419"/>
              <a:t>: A medida que Internet se convirtió en una tecnología generalizada a fines de la década de 1990, las organizaciones necesitaban sistemas conectados a Internet, que estuvieran "siempre activos" en lugar de solo "en línea". Inicialmente, estos eran sitios web, pero con el tiempo comenzaron a incorporar interfaces de usuario públicas para el procesamiento comercial B2C y B2B también. La arquitectura de estos sistemas ahora tenía que soportar cualidades no funcionales impredecibles y desafiantes (particularmente rendimiento, escalabilidad y seguridad) y la principal preocupación de los proveedores durante este período pasó a ser suministrar productos que pudieran enfrentar estos desafíos (como servidores a gran escala y balanceadores de carga de red para escalabilidad o firewalls para seguridad). </a:t>
            </a:r>
            <a:endParaRPr/>
          </a:p>
          <a:p>
            <a:pPr marL="457200" lvl="0" indent="-298450" algn="l" rtl="0">
              <a:spcBef>
                <a:spcPts val="0"/>
              </a:spcBef>
              <a:spcAft>
                <a:spcPts val="0"/>
              </a:spcAft>
              <a:buSzPts val="1100"/>
              <a:buChar char="●"/>
            </a:pPr>
            <a:r>
              <a:rPr lang="es-419" b="1"/>
              <a:t>Internet</a:t>
            </a:r>
            <a:r>
              <a:rPr lang="es-419"/>
              <a:t>: En la década de 2010, Internet se ha convertido en un servicio básico y esto ha hecho que nuestros sistemas evolucionen nuevamente, de estar "siempre activos" a ser "utilizados desde cualquier lugar para cualquier cosa", ya que son sistemas nativos de Internet donde "Internet es el sistema". Estos sistemas se construyen a partir de una combinación de componentes de código abierto, servicios remotos conectados a Internet y código personalizado y, a su vez, sus servicios se convierten en parte de Internet a través de API de acceso público. Estos sistemas necesitan API públicas (en lugar de solo interfaces de usuario), IU móviles como su principal interfaz de usuario y basarse en estilos arquitectónicos flexibles y adaptables (en particular, microservicios). La necesidad de ensamblar sistemas a partir de servicios accesibles en red y el uso de la computación en la nube nos han llevado a una era en la que una de las principales preocupaciones de los proveedores es el suministro de plataformas de aplicaciones completas basadas en la nube, y muchos sistemas de Internet se implementan en plataformas PaaS en lugar de en la infraestructura de TI tradicional.</a:t>
            </a:r>
            <a:endParaRPr/>
          </a:p>
          <a:p>
            <a:pPr marL="457200" lvl="0" indent="0" algn="l" rtl="0">
              <a:spcBef>
                <a:spcPts val="0"/>
              </a:spcBef>
              <a:spcAft>
                <a:spcPts val="0"/>
              </a:spcAft>
              <a:buNone/>
            </a:pPr>
            <a:r>
              <a:rPr lang="es-419" b="1" i="1"/>
              <a:t>Aquí surgen arquitecturas como los microservicios, serverless, event driven, …</a:t>
            </a:r>
            <a:r>
              <a:rPr lang="es-419"/>
              <a:t> </a:t>
            </a:r>
            <a:endParaRPr/>
          </a:p>
          <a:p>
            <a:pPr marL="457200" lvl="0" indent="-298450" algn="l" rtl="0">
              <a:spcBef>
                <a:spcPts val="0"/>
              </a:spcBef>
              <a:spcAft>
                <a:spcPts val="0"/>
              </a:spcAft>
              <a:buSzPts val="1100"/>
              <a:buChar char="●"/>
            </a:pPr>
            <a:r>
              <a:rPr lang="es-419" b="1"/>
              <a:t>Inteligencia Conectada</a:t>
            </a:r>
            <a:r>
              <a:rPr lang="es-419"/>
              <a:t>: la siguiente fase de la evolución es hacia sistemas conectados inteligentes, gracias a la generalización de la inteligencia artificial (el aprendizaje automático en particular) se generalice [2] y las redes rápidas y confiables que ya son hoy omnipresentes. Estos sistemas han dejado de proporcionar "acceso en cualquier lugar" para proporcionar "asistencia inteligente" a los usuarios.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1fa53d5c77_0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1fa53d5c77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1fa53d5c77_0_3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1fa53d5c77_0_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En los años 90 y principios de los 2000, las aplicaciones distribuidas comenzaron a ganar popularidad a medida que las organizaciones buscaban aprovechar la conectividad creciente de las redes, incluyendo Internet. Aunque los principios básicos de las aplicaciones distribuidas eran los mismos que hoy, las tecnologías, patrones y limitaciones eran diferentes.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Características de las aplicaciones distribuidas en ese período:</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Arquitectura Cliente-Servidor</a:t>
            </a:r>
            <a:r>
              <a:rPr lang="es-419">
                <a:solidFill>
                  <a:schemeClr val="dk1"/>
                </a:solidFill>
              </a:rPr>
              <a:t>: Dominaba el modelo clásico en el que los clientes (aplicaciones en escritorios o terminales) interactuaban con un servidor central para realizar tareas como almacenamiento y procesamiento.</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Conectividad limitada</a:t>
            </a:r>
            <a:r>
              <a:rPr lang="es-419">
                <a:solidFill>
                  <a:schemeClr val="dk1"/>
                </a:solidFill>
              </a:rPr>
              <a:t>: Aunque las redes LAN eran comunes, el ancho de banda y la confiabilidad de Internet eran limitados comparados con los estándares modernos.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Tecnologías monolíticas</a:t>
            </a:r>
            <a:r>
              <a:rPr lang="es-419">
                <a:solidFill>
                  <a:schemeClr val="dk1"/>
                </a:solidFill>
              </a:rPr>
              <a:t>: Muchas aplicaciones eran monolíticas, con funcionalidades empaquetadas juntas, lo que dificultaba la escalabilidad y el mantenimiento.</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Tecnologías más usadas: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1. Middleware para Comunicación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El middleware era esencial para la comunicación entre componentes distribuidos. Algunas tecnologías destacadas eran:</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CORBA (Common Object Request Broker Architecture)</a:t>
            </a:r>
            <a:r>
              <a:rPr lang="es-419">
                <a:solidFill>
                  <a:schemeClr val="dk1"/>
                </a:solidFill>
              </a:rPr>
              <a:t>: Permitía que objetos distribuidos interactuaran independientemente del lenguaje de programación o la plataforma. Popular en sistemas empresariales.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DCOM (Distributed Component Object Model)</a:t>
            </a:r>
            <a:r>
              <a:rPr lang="es-419">
                <a:solidFill>
                  <a:schemeClr val="dk1"/>
                </a:solidFill>
              </a:rPr>
              <a:t>: Propuesto por Microsoft, era similar a CORBA y se utilizaba en entornos Windows.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RMI (Remote Method Invocation)</a:t>
            </a:r>
            <a:r>
              <a:rPr lang="es-419">
                <a:solidFill>
                  <a:schemeClr val="dk1"/>
                </a:solidFill>
              </a:rPr>
              <a:t>: Una tecnología de Java para llamar métodos en objetos remotos dentro de una red.</a:t>
            </a: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Conceptos Clave de CORBA</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Interoperabilidad</a:t>
            </a:r>
            <a:r>
              <a:rPr lang="es-419">
                <a:solidFill>
                  <a:schemeClr val="dk1"/>
                </a:solidFill>
              </a:rPr>
              <a:t>:</a:t>
            </a:r>
            <a:br>
              <a:rPr lang="es-419">
                <a:solidFill>
                  <a:schemeClr val="dk1"/>
                </a:solidFill>
              </a:rPr>
            </a:br>
            <a:r>
              <a:rPr lang="es-419">
                <a:solidFill>
                  <a:schemeClr val="dk1"/>
                </a:solidFill>
              </a:rPr>
              <a:t>CORBA permitía que aplicaciones escritas en lenguajes como C++, Java, Python o incluso COBOL se comunicaran entre sí, sin importar la plataforma subyacente.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Modelo basado en objetos distribuidos</a:t>
            </a:r>
            <a:r>
              <a:rPr lang="es-419">
                <a:solidFill>
                  <a:schemeClr val="dk1"/>
                </a:solidFill>
              </a:rPr>
              <a:t>:</a:t>
            </a:r>
            <a:br>
              <a:rPr lang="es-419">
                <a:solidFill>
                  <a:schemeClr val="dk1"/>
                </a:solidFill>
              </a:rPr>
            </a:br>
            <a:r>
              <a:rPr lang="es-419">
                <a:solidFill>
                  <a:schemeClr val="dk1"/>
                </a:solidFill>
              </a:rPr>
              <a:t>En CORBA, los objetos distribuidos exponían una interfaz definida en un lenguaje especial llamado </a:t>
            </a:r>
            <a:r>
              <a:rPr lang="es-419" b="1">
                <a:solidFill>
                  <a:schemeClr val="dk1"/>
                </a:solidFill>
              </a:rPr>
              <a:t>IDL</a:t>
            </a:r>
            <a:r>
              <a:rPr lang="es-419">
                <a:solidFill>
                  <a:schemeClr val="dk1"/>
                </a:solidFill>
              </a:rPr>
              <a:t> (</a:t>
            </a:r>
            <a:r>
              <a:rPr lang="es-419" i="1">
                <a:solidFill>
                  <a:schemeClr val="dk1"/>
                </a:solidFill>
              </a:rPr>
              <a:t>Interface Definition Language</a:t>
            </a:r>
            <a:r>
              <a:rPr lang="es-419">
                <a:solidFill>
                  <a:schemeClr val="dk1"/>
                </a:solidFill>
              </a:rPr>
              <a:t>), que luego era compilada para generar código específico del lenguaje que se usaría en cada parte del sistema.</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ORB (Object Request Broker)</a:t>
            </a:r>
            <a:r>
              <a:rPr lang="es-419">
                <a:solidFill>
                  <a:schemeClr val="dk1"/>
                </a:solidFill>
              </a:rPr>
              <a:t>:</a:t>
            </a:r>
            <a:br>
              <a:rPr lang="es-419">
                <a:solidFill>
                  <a:schemeClr val="dk1"/>
                </a:solidFill>
              </a:rPr>
            </a:br>
            <a:r>
              <a:rPr lang="es-419">
                <a:solidFill>
                  <a:schemeClr val="dk1"/>
                </a:solidFill>
              </a:rPr>
              <a:t>El ORB es el corazón de CORBA. Es un middleware que permite que los clientes (quienes solicitan servicios) se comuniquen con los objetos remotos (proveedores de servicios). Este middleware se encarga de localizar objetos, enviar solicitudes y devolver respuestas.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Transparencia</a:t>
            </a:r>
            <a:r>
              <a:rPr lang="es-419">
                <a:solidFill>
                  <a:schemeClr val="dk1"/>
                </a:solidFill>
              </a:rPr>
              <a:t>:</a:t>
            </a:r>
            <a:br>
              <a:rPr lang="es-419">
                <a:solidFill>
                  <a:schemeClr val="dk1"/>
                </a:solidFill>
              </a:rPr>
            </a:br>
            <a:r>
              <a:rPr lang="es-419">
                <a:solidFill>
                  <a:schemeClr val="dk1"/>
                </a:solidFill>
              </a:rPr>
              <a:t>Los clientes no necesitan saber si un objeto está en la misma máquina o en una diferente. CORBA abstrae estos detalles.</a:t>
            </a: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Legado de CORBA</a:t>
            </a:r>
            <a:endParaRPr sz="1300" b="1">
              <a:solidFill>
                <a:schemeClr val="dk1"/>
              </a:solidFill>
            </a:endParaRPr>
          </a:p>
          <a:p>
            <a:pPr marL="0" lvl="0" indent="0" algn="l" rtl="0">
              <a:lnSpc>
                <a:spcPct val="115000"/>
              </a:lnSpc>
              <a:spcBef>
                <a:spcPts val="1200"/>
              </a:spcBef>
              <a:spcAft>
                <a:spcPts val="0"/>
              </a:spcAft>
              <a:buNone/>
            </a:pPr>
            <a:r>
              <a:rPr lang="es-419">
                <a:solidFill>
                  <a:schemeClr val="dk1"/>
                </a:solidFill>
              </a:rPr>
              <a:t>Aunque CORBA está en gran parte obsoleto en la actualidad, sus ideas influyeron en el diseño de tecnologías posteriores, como </a:t>
            </a:r>
            <a:r>
              <a:rPr lang="es-419" b="1">
                <a:solidFill>
                  <a:schemeClr val="dk1"/>
                </a:solidFill>
              </a:rPr>
              <a:t>gRPC</a:t>
            </a:r>
            <a:r>
              <a:rPr lang="es-419">
                <a:solidFill>
                  <a:schemeClr val="dk1"/>
                </a:solidFill>
              </a:rPr>
              <a:t> y </a:t>
            </a:r>
            <a:r>
              <a:rPr lang="es-419" b="1">
                <a:solidFill>
                  <a:schemeClr val="dk1"/>
                </a:solidFill>
              </a:rPr>
              <a:t>microservicios</a:t>
            </a:r>
            <a:r>
              <a:rPr lang="es-419">
                <a:solidFill>
                  <a:schemeClr val="dk1"/>
                </a:solidFill>
              </a:rPr>
              <a:t>, además de ser uno de los primeros intentos significativos de lograr interoperabilidad entre sistemas heterogéneos. Su énfasis en estándares abiertos y abstracciones sigue siendo relevante en el diseño de sistemas distribuidos.</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1fa53d5c77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1fa53d5c77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RMI</a:t>
            </a:r>
            <a:r>
              <a:rPr lang="es-419">
                <a:solidFill>
                  <a:schemeClr val="dk1"/>
                </a:solidFill>
              </a:rPr>
              <a:t> (</a:t>
            </a:r>
            <a:r>
              <a:rPr lang="es-419" i="1">
                <a:solidFill>
                  <a:schemeClr val="dk1"/>
                </a:solidFill>
              </a:rPr>
              <a:t>Remote Method Invocation</a:t>
            </a:r>
            <a:r>
              <a:rPr lang="es-419">
                <a:solidFill>
                  <a:schemeClr val="dk1"/>
                </a:solidFill>
              </a:rPr>
              <a:t>) es una tecnología desarrollada como parte de </a:t>
            </a:r>
            <a:r>
              <a:rPr lang="es-419" b="1">
                <a:solidFill>
                  <a:schemeClr val="dk1"/>
                </a:solidFill>
              </a:rPr>
              <a:t>Java</a:t>
            </a:r>
            <a:r>
              <a:rPr lang="es-419">
                <a:solidFill>
                  <a:schemeClr val="dk1"/>
                </a:solidFill>
              </a:rPr>
              <a:t> que permite la comunicación entre objetos distribuidos en diferentes máquinas, facilitando la llamada de métodos remotos como si fueran métodos locales. Fue introducida como parte de </a:t>
            </a:r>
            <a:r>
              <a:rPr lang="es-419" b="1">
                <a:solidFill>
                  <a:schemeClr val="dk1"/>
                </a:solidFill>
              </a:rPr>
              <a:t>Java 1.1</a:t>
            </a:r>
            <a:r>
              <a:rPr lang="es-419">
                <a:solidFill>
                  <a:schemeClr val="dk1"/>
                </a:solidFill>
              </a:rPr>
              <a:t> y se convirtió en una solución popular para aplicaciones distribuidas dentro del ecosistema Java.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Características Clave de RMI</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Específico de Java</a:t>
            </a:r>
            <a:r>
              <a:rPr lang="es-419">
                <a:solidFill>
                  <a:schemeClr val="dk1"/>
                </a:solidFill>
              </a:rPr>
              <a:t>:</a:t>
            </a:r>
            <a:br>
              <a:rPr lang="es-419">
                <a:solidFill>
                  <a:schemeClr val="dk1"/>
                </a:solidFill>
              </a:rPr>
            </a:br>
            <a:r>
              <a:rPr lang="es-419">
                <a:solidFill>
                  <a:schemeClr val="dk1"/>
                </a:solidFill>
              </a:rPr>
              <a:t>A diferencia de CORBA, que soporta múltiples lenguajes, RMI está diseñado exclusivamente para Java, lo que simplifica la integración y reduce la complejidad al trabajar dentro del mismo ecosistema.</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Modelo de Objetos Distribuidos</a:t>
            </a:r>
            <a:r>
              <a:rPr lang="es-419">
                <a:solidFill>
                  <a:schemeClr val="dk1"/>
                </a:solidFill>
              </a:rPr>
              <a:t>:</a:t>
            </a:r>
            <a:br>
              <a:rPr lang="es-419">
                <a:solidFill>
                  <a:schemeClr val="dk1"/>
                </a:solidFill>
              </a:rPr>
            </a:br>
            <a:r>
              <a:rPr lang="es-419">
                <a:solidFill>
                  <a:schemeClr val="dk1"/>
                </a:solidFill>
              </a:rPr>
              <a:t>Los objetos remotos son accesibles a través de interfaces, y los métodos en estos objetos pueden invocarse desde otros programas (clientes) que estén ejecutándose en diferentes JVMs.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Transparencia</a:t>
            </a:r>
            <a:r>
              <a:rPr lang="es-419">
                <a:solidFill>
                  <a:schemeClr val="dk1"/>
                </a:solidFill>
              </a:rPr>
              <a:t>:</a:t>
            </a:r>
            <a:br>
              <a:rPr lang="es-419">
                <a:solidFill>
                  <a:schemeClr val="dk1"/>
                </a:solidFill>
              </a:rPr>
            </a:br>
            <a:r>
              <a:rPr lang="es-419">
                <a:solidFill>
                  <a:schemeClr val="dk1"/>
                </a:solidFill>
              </a:rPr>
              <a:t>Para los desarrolladores, RMI hace que las llamadas a métodos remotos parezcan llamadas locales. Internamente, RMI maneja los detalles de la comunicación a través de la red.</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Serialización de Objetos</a:t>
            </a:r>
            <a:r>
              <a:rPr lang="es-419">
                <a:solidFill>
                  <a:schemeClr val="dk1"/>
                </a:solidFill>
              </a:rPr>
              <a:t>:</a:t>
            </a:r>
            <a:br>
              <a:rPr lang="es-419">
                <a:solidFill>
                  <a:schemeClr val="dk1"/>
                </a:solidFill>
              </a:rPr>
            </a:br>
            <a:r>
              <a:rPr lang="es-419">
                <a:solidFill>
                  <a:schemeClr val="dk1"/>
                </a:solidFill>
              </a:rPr>
              <a:t>RMI permite enviar y recibir objetos entre cliente y servidor mediante la serialización, lo que facilita el intercambio de datos complejos.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Uso de Stubs y Skeletons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El </a:t>
            </a:r>
            <a:r>
              <a:rPr lang="es-419" b="1">
                <a:solidFill>
                  <a:schemeClr val="dk1"/>
                </a:solidFill>
              </a:rPr>
              <a:t>stub</a:t>
            </a:r>
            <a:r>
              <a:rPr lang="es-419">
                <a:solidFill>
                  <a:schemeClr val="dk1"/>
                </a:solidFill>
              </a:rPr>
              <a:t> es un objeto proxy en el cliente que se encarga de transmitir la solicitud al servidor.</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El </a:t>
            </a:r>
            <a:r>
              <a:rPr lang="es-419" b="1">
                <a:solidFill>
                  <a:schemeClr val="dk1"/>
                </a:solidFill>
              </a:rPr>
              <a:t>skeleton</a:t>
            </a:r>
            <a:r>
              <a:rPr lang="es-419">
                <a:solidFill>
                  <a:schemeClr val="dk1"/>
                </a:solidFill>
              </a:rPr>
              <a:t> era un intermediario en el servidor que manejaba la recepción y ejecución del método remoto (aunque en versiones modernas, el skeleton fue eliminado).</a:t>
            </a: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Ventajas de RMI</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Integración con Java</a:t>
            </a:r>
            <a:r>
              <a:rPr lang="es-419">
                <a:solidFill>
                  <a:schemeClr val="dk1"/>
                </a:solidFill>
              </a:rPr>
              <a:t>:</a:t>
            </a:r>
            <a:br>
              <a:rPr lang="es-419">
                <a:solidFill>
                  <a:schemeClr val="dk1"/>
                </a:solidFill>
              </a:rPr>
            </a:br>
            <a:r>
              <a:rPr lang="es-419">
                <a:solidFill>
                  <a:schemeClr val="dk1"/>
                </a:solidFill>
              </a:rPr>
              <a:t>Como RMI es nativo de Java, aprovecha características del lenguaje como la portabilidad, la gestión de memoria (garbage collection) y la seguridad.</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Simplicidad</a:t>
            </a:r>
            <a:r>
              <a:rPr lang="es-419">
                <a:solidFill>
                  <a:schemeClr val="dk1"/>
                </a:solidFill>
              </a:rPr>
              <a:t>:</a:t>
            </a:r>
            <a:br>
              <a:rPr lang="es-419">
                <a:solidFill>
                  <a:schemeClr val="dk1"/>
                </a:solidFill>
              </a:rPr>
            </a:br>
            <a:r>
              <a:rPr lang="es-419">
                <a:solidFill>
                  <a:schemeClr val="dk1"/>
                </a:solidFill>
              </a:rPr>
              <a:t>Comparado con CORBA, RMI es más fácil de aprender y configurar porque opera en un ecosistema uniforme.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Serialización Automática</a:t>
            </a:r>
            <a:r>
              <a:rPr lang="es-419">
                <a:solidFill>
                  <a:schemeClr val="dk1"/>
                </a:solidFill>
              </a:rPr>
              <a:t>:</a:t>
            </a:r>
            <a:br>
              <a:rPr lang="es-419">
                <a:solidFill>
                  <a:schemeClr val="dk1"/>
                </a:solidFill>
              </a:rPr>
            </a:br>
            <a:r>
              <a:rPr lang="es-419">
                <a:solidFill>
                  <a:schemeClr val="dk1"/>
                </a:solidFill>
              </a:rPr>
              <a:t>Los objetos serializables pueden transmitirse directamente entre JVMs sin necesidad de procesamiento adicional.</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Extensibilidad</a:t>
            </a:r>
            <a:r>
              <a:rPr lang="es-419">
                <a:solidFill>
                  <a:schemeClr val="dk1"/>
                </a:solidFill>
              </a:rPr>
              <a:t>:</a:t>
            </a:r>
            <a:br>
              <a:rPr lang="es-419">
                <a:solidFill>
                  <a:schemeClr val="dk1"/>
                </a:solidFill>
              </a:rPr>
            </a:br>
            <a:r>
              <a:rPr lang="es-419">
                <a:solidFill>
                  <a:schemeClr val="dk1"/>
                </a:solidFill>
              </a:rPr>
              <a:t>Puede integrarse con servicios avanzados como transacciones distribuidas y directorios JNDI.</a:t>
            </a: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Desventajas de RMI</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Dependencia de Java</a:t>
            </a:r>
            <a:r>
              <a:rPr lang="es-419">
                <a:solidFill>
                  <a:schemeClr val="dk1"/>
                </a:solidFill>
              </a:rPr>
              <a:t>:</a:t>
            </a:r>
            <a:br>
              <a:rPr lang="es-419">
                <a:solidFill>
                  <a:schemeClr val="dk1"/>
                </a:solidFill>
              </a:rPr>
            </a:br>
            <a:r>
              <a:rPr lang="es-419">
                <a:solidFill>
                  <a:schemeClr val="dk1"/>
                </a:solidFill>
              </a:rPr>
              <a:t>RMI solo funciona con sistemas escritos en Java, lo que lo hace menos flexible en entornos heterogéneos.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Falta de escalabilidad</a:t>
            </a:r>
            <a:r>
              <a:rPr lang="es-419">
                <a:solidFill>
                  <a:schemeClr val="dk1"/>
                </a:solidFill>
              </a:rPr>
              <a:t>:</a:t>
            </a:r>
            <a:br>
              <a:rPr lang="es-419">
                <a:solidFill>
                  <a:schemeClr val="dk1"/>
                </a:solidFill>
              </a:rPr>
            </a:br>
            <a:r>
              <a:rPr lang="es-419">
                <a:solidFill>
                  <a:schemeClr val="dk1"/>
                </a:solidFill>
              </a:rPr>
              <a:t>No es ideal para aplicaciones modernas de alta concurrencia o escalables, ya que fue diseñado principalmente para entornos de pequeña escala.</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Latencia de red</a:t>
            </a:r>
            <a:r>
              <a:rPr lang="es-419">
                <a:solidFill>
                  <a:schemeClr val="dk1"/>
                </a:solidFill>
              </a:rPr>
              <a:t>:</a:t>
            </a:r>
            <a:br>
              <a:rPr lang="es-419">
                <a:solidFill>
                  <a:schemeClr val="dk1"/>
                </a:solidFill>
              </a:rPr>
            </a:br>
            <a:r>
              <a:rPr lang="es-419">
                <a:solidFill>
                  <a:schemeClr val="dk1"/>
                </a:solidFill>
              </a:rPr>
              <a:t>Aunque simplifica las llamadas remotas, sigue existiendo latencia asociada a la comunicación en red.</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Requiere manejo explícito de excepciones remotas</a:t>
            </a:r>
            <a:r>
              <a:rPr lang="es-419">
                <a:solidFill>
                  <a:schemeClr val="dk1"/>
                </a:solidFill>
              </a:rPr>
              <a:t>:</a:t>
            </a:r>
            <a:br>
              <a:rPr lang="es-419">
                <a:solidFill>
                  <a:schemeClr val="dk1"/>
                </a:solidFill>
              </a:rPr>
            </a:br>
            <a:r>
              <a:rPr lang="es-419">
                <a:solidFill>
                  <a:schemeClr val="dk1"/>
                </a:solidFill>
              </a:rPr>
              <a:t>Todos los métodos remotos deben lanzar </a:t>
            </a:r>
            <a:r>
              <a:rPr lang="es-419" b="1">
                <a:solidFill>
                  <a:srgbClr val="188038"/>
                </a:solidFill>
                <a:latin typeface="Roboto Mono"/>
                <a:ea typeface="Roboto Mono"/>
                <a:cs typeface="Roboto Mono"/>
                <a:sym typeface="Roboto Mono"/>
              </a:rPr>
              <a:t>RemoteException</a:t>
            </a:r>
            <a:r>
              <a:rPr lang="es-419">
                <a:solidFill>
                  <a:schemeClr val="dk1"/>
                </a:solidFill>
              </a:rPr>
              <a:t>, lo que puede hacer que el código sea más verboso.</a:t>
            </a: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Relevancia Actual</a:t>
            </a:r>
            <a:endParaRPr sz="1300" b="1">
              <a:solidFill>
                <a:schemeClr val="dk1"/>
              </a:solidFill>
            </a:endParaRPr>
          </a:p>
          <a:p>
            <a:pPr marL="0" lvl="0" indent="0" algn="l" rtl="0">
              <a:lnSpc>
                <a:spcPct val="115000"/>
              </a:lnSpc>
              <a:spcBef>
                <a:spcPts val="1200"/>
              </a:spcBef>
              <a:spcAft>
                <a:spcPts val="0"/>
              </a:spcAft>
              <a:buNone/>
            </a:pPr>
            <a:r>
              <a:rPr lang="es-419">
                <a:solidFill>
                  <a:schemeClr val="dk1"/>
                </a:solidFill>
              </a:rPr>
              <a:t>Aunque RMI todavía se utiliza en algunos sistemas heredados, ha sido reemplazado en gran medida por tecnologías modernas como:</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APIs RESTful</a:t>
            </a:r>
            <a:r>
              <a:rPr lang="es-419">
                <a:solidFill>
                  <a:schemeClr val="dk1"/>
                </a:solidFill>
              </a:rPr>
              <a:t> y JSON para comunicaciones ligeras.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gRPC</a:t>
            </a:r>
            <a:r>
              <a:rPr lang="es-419">
                <a:solidFill>
                  <a:schemeClr val="dk1"/>
                </a:solidFill>
              </a:rPr>
              <a:t> para invocaciones remotas eficientes y escalables.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Mensajería asincrónica</a:t>
            </a:r>
            <a:r>
              <a:rPr lang="es-419">
                <a:solidFill>
                  <a:schemeClr val="dk1"/>
                </a:solidFill>
              </a:rPr>
              <a:t> con Kafka o RabbitMQ.</a:t>
            </a:r>
            <a:endParaRPr>
              <a:solidFill>
                <a:schemeClr val="dk1"/>
              </a:solidFill>
            </a:endParaRPr>
          </a:p>
          <a:p>
            <a:pPr marL="0" lvl="0" indent="0" algn="l" rtl="0">
              <a:lnSpc>
                <a:spcPct val="115000"/>
              </a:lnSpc>
              <a:spcBef>
                <a:spcPts val="1200"/>
              </a:spcBef>
              <a:spcAft>
                <a:spcPts val="0"/>
              </a:spcAft>
              <a:buNone/>
            </a:pPr>
            <a:r>
              <a:rPr lang="es-419">
                <a:solidFill>
                  <a:schemeClr val="dk1"/>
                </a:solidFill>
              </a:rPr>
              <a:t>RMI fue fundamental para sistemas distribuidos en Java y sirvió como base para muchas ideas modernas en la comunicación de aplicaciones distribuidas.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fa53d5c77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1fa53d5c77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1fa53d5c77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1fa53d5c77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Algunas de las características de la web son soluciones a las desventajas de las tecnologías distribuidas, como el enfoque abierto o el uso de HTTP, que disminuye la complejidad de comunicación, no tiene problemas de cortafuegos (ya que el puerto 80 suele estar siempre abierto) y permite una comunicación más rápida.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1fa53d5c77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1fa53d5c77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1fa53d5c77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1fa53d5c77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b="1"/>
              <a:t>Sin estados</a:t>
            </a:r>
            <a:r>
              <a:rPr lang="es-419"/>
              <a:t>: el propio protocolo, sin ayuda, no recuerda nada entre una petición y la siguiente.</a:t>
            </a:r>
            <a:endParaRPr/>
          </a:p>
          <a:p>
            <a:pPr marL="457200" lvl="0" indent="-298450" algn="l" rtl="0">
              <a:spcBef>
                <a:spcPts val="0"/>
              </a:spcBef>
              <a:spcAft>
                <a:spcPts val="0"/>
              </a:spcAft>
              <a:buSzPts val="1100"/>
              <a:buChar char="-"/>
            </a:pPr>
            <a:r>
              <a:rPr lang="es-419" b="1"/>
              <a:t>Cliente / Servidor</a:t>
            </a:r>
            <a:r>
              <a:rPr lang="es-419"/>
              <a:t>: necesitamos un servidor http (servidor web) y un cliente (navegador web).</a:t>
            </a:r>
            <a:endParaRPr/>
          </a:p>
          <a:p>
            <a:pPr marL="45720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1fa53d5c77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1fa53d5c77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El protocolo funciona siguiendo un esquema de petición / respuesta.</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s-419"/>
              <a:t>El servidor web está esperando siempre peticiones entrantes.</a:t>
            </a:r>
            <a:endParaRPr/>
          </a:p>
          <a:p>
            <a:pPr marL="457200" lvl="0" indent="-298450" algn="l" rtl="0">
              <a:spcBef>
                <a:spcPts val="0"/>
              </a:spcBef>
              <a:spcAft>
                <a:spcPts val="0"/>
              </a:spcAft>
              <a:buSzPts val="1100"/>
              <a:buChar char="-"/>
            </a:pPr>
            <a:r>
              <a:rPr lang="es-419"/>
              <a:t>El navegador web solicita al servidor una petición (por ejemplo, haciendo clic en un botón o enlace).</a:t>
            </a:r>
            <a:endParaRPr/>
          </a:p>
          <a:p>
            <a:pPr marL="457200" lvl="0" indent="-298450" algn="l" rtl="0">
              <a:spcBef>
                <a:spcPts val="0"/>
              </a:spcBef>
              <a:spcAft>
                <a:spcPts val="0"/>
              </a:spcAft>
              <a:buSzPts val="1100"/>
              <a:buChar char="-"/>
            </a:pPr>
            <a:r>
              <a:rPr lang="es-419"/>
              <a:t>El servidor web la recibe, procesa los datos de entrada, y produce un resultado.</a:t>
            </a:r>
            <a:endParaRPr/>
          </a:p>
          <a:p>
            <a:pPr marL="457200" lvl="0" indent="-298450" algn="l" rtl="0">
              <a:spcBef>
                <a:spcPts val="0"/>
              </a:spcBef>
              <a:spcAft>
                <a:spcPts val="0"/>
              </a:spcAft>
              <a:buSzPts val="1100"/>
              <a:buChar char="-"/>
            </a:pPr>
            <a:r>
              <a:rPr lang="es-419"/>
              <a:t>El navegador web recibe el resultado y lo muestra al usuario.</a:t>
            </a:r>
            <a:endParaRPr/>
          </a:p>
          <a:p>
            <a:pPr marL="0" lvl="0" indent="0" algn="l" rtl="0">
              <a:spcBef>
                <a:spcPts val="0"/>
              </a:spcBef>
              <a:spcAft>
                <a:spcPts val="0"/>
              </a:spcAft>
              <a:buNone/>
            </a:pPr>
            <a:endParaRPr/>
          </a:p>
          <a:p>
            <a:pPr marL="0" lvl="0" indent="0" algn="l" rtl="0">
              <a:spcBef>
                <a:spcPts val="0"/>
              </a:spcBef>
              <a:spcAft>
                <a:spcPts val="0"/>
              </a:spcAft>
              <a:buNone/>
            </a:pPr>
            <a:r>
              <a:rPr lang="es-419"/>
              <a:t>Las peticiones y respuestas son “mensajes especiales” que tienen un formato muy específico que cliente y servidor conocen.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fa53d5c77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1fa53d5c77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La línea inicial nos permite diferenciar una petición de una respuesta</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s-419"/>
              <a:t>Una petición tendrá al tipo (verbo) de la petición y la ruta del recurso. Por ejemplo GET /index.html</a:t>
            </a:r>
            <a:endParaRPr/>
          </a:p>
          <a:p>
            <a:pPr marL="457200" lvl="0" indent="-298450" algn="l" rtl="0">
              <a:spcBef>
                <a:spcPts val="0"/>
              </a:spcBef>
              <a:spcAft>
                <a:spcPts val="0"/>
              </a:spcAft>
              <a:buSzPts val="1100"/>
              <a:buChar char="-"/>
            </a:pPr>
            <a:r>
              <a:rPr lang="es-419"/>
              <a:t>Una respuesta tendrá la versión del protocolo HTTP y el estado de la respuesta, expresado en un código y un texto. Por ejemplo, 200 OK.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1fa53d5c77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1fa53d5c77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La línea inicial nos permite diferenciar una petición de una respuesta</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s-419"/>
              <a:t>Una petición tendrá al tipo (verbo) de la petición y la ruta del recurso. Por ejemplo GET /index.html</a:t>
            </a:r>
            <a:endParaRPr/>
          </a:p>
          <a:p>
            <a:pPr marL="457200" lvl="0" indent="-298450" algn="l" rtl="0">
              <a:spcBef>
                <a:spcPts val="0"/>
              </a:spcBef>
              <a:spcAft>
                <a:spcPts val="0"/>
              </a:spcAft>
              <a:buSzPts val="1100"/>
              <a:buChar char="-"/>
            </a:pPr>
            <a:r>
              <a:rPr lang="es-419"/>
              <a:t>Una respuesta tendrá la versión del protocolo HTTP y el estado de la respuesta, expresado en un código y un texto. Por ejemplo, 200 OK.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1fa53d5c77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1fa53d5c77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La línea inicial nos permite diferenciar una petición de una respuesta</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s-419"/>
              <a:t>Una petición tendrá al tipo (verbo) de la petición y la ruta del recurso. Por ejemplo GET /index.html</a:t>
            </a:r>
            <a:endParaRPr/>
          </a:p>
          <a:p>
            <a:pPr marL="457200" lvl="0" indent="-298450" algn="l" rtl="0">
              <a:spcBef>
                <a:spcPts val="0"/>
              </a:spcBef>
              <a:spcAft>
                <a:spcPts val="0"/>
              </a:spcAft>
              <a:buSzPts val="1100"/>
              <a:buChar char="-"/>
            </a:pPr>
            <a:r>
              <a:rPr lang="es-419"/>
              <a:t>Una respuesta tendrá la versión del protocolo HTTP y el estado de la respuesta, expresado en un código y un texto. Por ejemplo, 200 OK.</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fa53d5c77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1fa53d5c77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t>Tipos de peticiones diferentes.</a:t>
            </a:r>
            <a:endParaRPr/>
          </a:p>
          <a:p>
            <a:pPr marL="0" lvl="0" indent="0" algn="l" rtl="0">
              <a:spcBef>
                <a:spcPts val="0"/>
              </a:spcBef>
              <a:spcAft>
                <a:spcPts val="0"/>
              </a:spcAft>
              <a:buClr>
                <a:schemeClr val="dk1"/>
              </a:buClr>
              <a:buSzPts val="1100"/>
              <a:buFont typeface="Arial"/>
              <a:buNone/>
            </a:pPr>
            <a:r>
              <a:rPr lang="es-419"/>
              <a:t>● Indica el tipo de acción a realizar sobre el recurso indicado.</a:t>
            </a:r>
            <a:endParaRPr/>
          </a:p>
          <a:p>
            <a:pPr marL="0" lvl="0" indent="0" algn="l" rtl="0">
              <a:spcBef>
                <a:spcPts val="0"/>
              </a:spcBef>
              <a:spcAft>
                <a:spcPts val="0"/>
              </a:spcAft>
              <a:buClr>
                <a:schemeClr val="dk1"/>
              </a:buClr>
              <a:buSzPts val="1100"/>
              <a:buFont typeface="Arial"/>
              <a:buNone/>
            </a:pPr>
            <a:r>
              <a:rPr lang="es-419"/>
              <a:t>● Más conocidos</a:t>
            </a:r>
            <a:endParaRPr/>
          </a:p>
          <a:p>
            <a:pPr marL="0" lvl="0" indent="0" algn="l" rtl="0">
              <a:spcBef>
                <a:spcPts val="0"/>
              </a:spcBef>
              <a:spcAft>
                <a:spcPts val="0"/>
              </a:spcAft>
              <a:buClr>
                <a:schemeClr val="dk1"/>
              </a:buClr>
              <a:buSzPts val="1100"/>
              <a:buFont typeface="Arial"/>
              <a:buNone/>
            </a:pPr>
            <a:r>
              <a:rPr lang="es-419"/>
              <a:t>○ GET: solicita un recurso al servidor</a:t>
            </a:r>
            <a:endParaRPr/>
          </a:p>
          <a:p>
            <a:pPr marL="0" lvl="0" indent="0" algn="l" rtl="0">
              <a:spcBef>
                <a:spcPts val="0"/>
              </a:spcBef>
              <a:spcAft>
                <a:spcPts val="0"/>
              </a:spcAft>
              <a:buClr>
                <a:schemeClr val="dk1"/>
              </a:buClr>
              <a:buSzPts val="1100"/>
              <a:buFont typeface="Arial"/>
              <a:buNone/>
            </a:pPr>
            <a:r>
              <a:rPr lang="es-419"/>
              <a:t>○ POST: envía información para crear un nuevo recurso</a:t>
            </a:r>
            <a:endParaRPr/>
          </a:p>
          <a:p>
            <a:pPr marL="0" lvl="0" indent="0" algn="l" rtl="0">
              <a:spcBef>
                <a:spcPts val="0"/>
              </a:spcBef>
              <a:spcAft>
                <a:spcPts val="0"/>
              </a:spcAft>
              <a:buClr>
                <a:schemeClr val="dk1"/>
              </a:buClr>
              <a:buSzPts val="1100"/>
              <a:buFont typeface="Arial"/>
              <a:buNone/>
            </a:pPr>
            <a:r>
              <a:rPr lang="es-419"/>
              <a:t>○ PUT: actualiza un recurso de forma completa</a:t>
            </a:r>
            <a:endParaRPr/>
          </a:p>
          <a:p>
            <a:pPr marL="0" lvl="0" indent="0" algn="l" rtl="0">
              <a:spcBef>
                <a:spcPts val="0"/>
              </a:spcBef>
              <a:spcAft>
                <a:spcPts val="0"/>
              </a:spcAft>
              <a:buClr>
                <a:schemeClr val="dk1"/>
              </a:buClr>
              <a:buSzPts val="1100"/>
              <a:buFont typeface="Arial"/>
              <a:buNone/>
            </a:pPr>
            <a:r>
              <a:rPr lang="es-419"/>
              <a:t>○ DELETE: borra un recurso</a:t>
            </a:r>
            <a:endParaRPr/>
          </a:p>
          <a:p>
            <a:pPr marL="0" lvl="0" indent="0" algn="l" rtl="0">
              <a:spcBef>
                <a:spcPts val="0"/>
              </a:spcBef>
              <a:spcAft>
                <a:spcPts val="0"/>
              </a:spcAft>
              <a:buNone/>
            </a:pPr>
            <a:endParaRPr/>
          </a:p>
          <a:p>
            <a:pPr marL="0" lvl="0" indent="0" algn="l" rtl="0">
              <a:spcBef>
                <a:spcPts val="0"/>
              </a:spcBef>
              <a:spcAft>
                <a:spcPts val="0"/>
              </a:spcAft>
              <a:buNone/>
            </a:pPr>
            <a:r>
              <a:rPr lang="es-419"/>
              <a:t>Abrir la lista </a:t>
            </a:r>
            <a:r>
              <a:rPr lang="es-419" u="sng">
                <a:solidFill>
                  <a:schemeClr val="hlink"/>
                </a:solidFill>
                <a:hlinkClick r:id="rId3"/>
              </a:rPr>
              <a:t>https://developer.mozilla.org/es/docs/Web/HTTP/Methods</a:t>
            </a:r>
            <a:r>
              <a:rPr lang="es-419"/>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1fa53d5c77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1fa53d5c77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Se trata de un código numérico que indica el tipo de respuesta. Es lo primero que aparece en la respuesta que da el servidor.</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s-419"/>
              <a:t>1XX: Respuestas informativas. Indica que la petición ha sido recibida y se está procesando. </a:t>
            </a:r>
            <a:endParaRPr/>
          </a:p>
          <a:p>
            <a:pPr marL="457200" lvl="0" indent="-298450" algn="l" rtl="0">
              <a:spcBef>
                <a:spcPts val="0"/>
              </a:spcBef>
              <a:spcAft>
                <a:spcPts val="0"/>
              </a:spcAft>
              <a:buSzPts val="1100"/>
              <a:buChar char="-"/>
            </a:pPr>
            <a:r>
              <a:rPr lang="es-419"/>
              <a:t>2XX: Respuestas correctas.</a:t>
            </a:r>
            <a:endParaRPr/>
          </a:p>
          <a:p>
            <a:pPr marL="457200" lvl="0" indent="-298450" algn="l" rtl="0">
              <a:spcBef>
                <a:spcPts val="0"/>
              </a:spcBef>
              <a:spcAft>
                <a:spcPts val="0"/>
              </a:spcAft>
              <a:buSzPts val="1100"/>
              <a:buChar char="-"/>
            </a:pPr>
            <a:r>
              <a:rPr lang="es-419"/>
              <a:t>3XX: Respuestas de redirección. Indica que el cliente necesita realizar más acciones para finalizar la petición. </a:t>
            </a:r>
            <a:endParaRPr/>
          </a:p>
          <a:p>
            <a:pPr marL="457200" lvl="0" indent="-298450" algn="l" rtl="0">
              <a:spcBef>
                <a:spcPts val="0"/>
              </a:spcBef>
              <a:spcAft>
                <a:spcPts val="0"/>
              </a:spcAft>
              <a:buSzPts val="1100"/>
              <a:buChar char="-"/>
            </a:pPr>
            <a:r>
              <a:rPr lang="es-419"/>
              <a:t>4XX: Errores causados por el cliente (errores en la petición).</a:t>
            </a:r>
            <a:endParaRPr/>
          </a:p>
          <a:p>
            <a:pPr marL="457200" lvl="0" indent="-298450" algn="l" rtl="0">
              <a:spcBef>
                <a:spcPts val="0"/>
              </a:spcBef>
              <a:spcAft>
                <a:spcPts val="0"/>
              </a:spcAft>
              <a:buSzPts val="1100"/>
              <a:buChar char="-"/>
            </a:pPr>
            <a:r>
              <a:rPr lang="es-419"/>
              <a:t>5XX: Errores en el servidor</a:t>
            </a:r>
            <a:endParaRPr/>
          </a:p>
          <a:p>
            <a:pPr marL="0" lvl="0" indent="0" algn="l" rtl="0">
              <a:spcBef>
                <a:spcPts val="0"/>
              </a:spcBef>
              <a:spcAft>
                <a:spcPts val="0"/>
              </a:spcAft>
              <a:buNone/>
            </a:pPr>
            <a:endParaRPr/>
          </a:p>
          <a:p>
            <a:pPr marL="0" lvl="0" indent="0" algn="l" rtl="0">
              <a:spcBef>
                <a:spcPts val="0"/>
              </a:spcBef>
              <a:spcAft>
                <a:spcPts val="0"/>
              </a:spcAft>
              <a:buNone/>
            </a:pPr>
            <a:r>
              <a:rPr lang="es-419"/>
              <a:t>Abrir la lista: </a:t>
            </a:r>
            <a:r>
              <a:rPr lang="es-419" u="sng">
                <a:solidFill>
                  <a:schemeClr val="hlink"/>
                </a:solidFill>
                <a:hlinkClick r:id="rId3"/>
              </a:rPr>
              <a:t>https://developer.mozilla.org/es/docs/Web/HTTP/Methods</a:t>
            </a:r>
            <a:r>
              <a:rPr lang="es-419"/>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1fa53d5c77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1fa53d5c77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1fa53d5c77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1fa53d5c77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Dan gran flexibilidad </a:t>
            </a:r>
            <a:endParaRPr/>
          </a:p>
          <a:p>
            <a:pPr marL="0" lvl="0" indent="457200" algn="l" rtl="0">
              <a:spcBef>
                <a:spcPts val="0"/>
              </a:spcBef>
              <a:spcAft>
                <a:spcPts val="0"/>
              </a:spcAft>
              <a:buNone/>
            </a:pPr>
            <a:r>
              <a:rPr lang="es-419"/>
              <a:t>○ El protocolo dice que puede haber encabezados. </a:t>
            </a:r>
            <a:endParaRPr/>
          </a:p>
          <a:p>
            <a:pPr marL="0" lvl="0" indent="457200" algn="l" rtl="0">
              <a:spcBef>
                <a:spcPts val="0"/>
              </a:spcBef>
              <a:spcAft>
                <a:spcPts val="0"/>
              </a:spcAft>
              <a:buNone/>
            </a:pPr>
            <a:r>
              <a:rPr lang="es-419"/>
              <a:t>○ Con el tiempo se han añadido más y más </a:t>
            </a:r>
            <a:endParaRPr/>
          </a:p>
          <a:p>
            <a:pPr marL="0" lvl="0" indent="457200" algn="l" rtl="0">
              <a:spcBef>
                <a:spcPts val="0"/>
              </a:spcBef>
              <a:spcAft>
                <a:spcPts val="0"/>
              </a:spcAft>
              <a:buNone/>
            </a:pPr>
            <a:r>
              <a:rPr lang="es-419"/>
              <a:t>○ No ha cambiado el contenedor, por lo que el impacto del cambio es muy pequeño. </a:t>
            </a:r>
            <a:endParaRPr/>
          </a:p>
          <a:p>
            <a:pPr marL="0" lvl="0" indent="0" algn="l" rtl="0">
              <a:spcBef>
                <a:spcPts val="0"/>
              </a:spcBef>
              <a:spcAft>
                <a:spcPts val="0"/>
              </a:spcAft>
              <a:buNone/>
            </a:pPr>
            <a:endParaRPr/>
          </a:p>
          <a:p>
            <a:pPr marL="0" lvl="0" indent="0" algn="l" rtl="0">
              <a:spcBef>
                <a:spcPts val="0"/>
              </a:spcBef>
              <a:spcAft>
                <a:spcPts val="0"/>
              </a:spcAft>
              <a:buNone/>
            </a:pPr>
            <a:r>
              <a:rPr lang="es-419"/>
              <a:t>Deben ser interpretados por el cliente, o el servidor, o los intermediarios (proxy, gateways, …) </a:t>
            </a: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1fa53d5c77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1fa53d5c77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Abrir la lista: </a:t>
            </a:r>
            <a:r>
              <a:rPr lang="es-419" u="sng">
                <a:solidFill>
                  <a:schemeClr val="hlink"/>
                </a:solidFill>
                <a:hlinkClick r:id="rId3"/>
              </a:rPr>
              <a:t>https://developer.mozilla.org/es/docs/Web/HTTP/Headers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fa53d5c77_0_4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1fa53d5c77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fa53d5c77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1fa53d5c77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1. Propósito</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br>
              <a:rPr lang="es-419">
                <a:solidFill>
                  <a:schemeClr val="dk1"/>
                </a:solidFill>
              </a:rPr>
            </a:br>
            <a:r>
              <a:rPr lang="es-419">
                <a:solidFill>
                  <a:schemeClr val="dk1"/>
                </a:solidFill>
              </a:rPr>
              <a:t>Es una aplicación diseñada para ser utilizada por seres humanos a través de un navegador web (por ejemplo, Chrome, Firefox). Su objetivo es proporcionar una interfaz gráfica y funcionalidades para que los usuarios interactúen con el sistema.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Ejemplo: Gmail, Amazon, una herramienta de gestión de tareas como tu ToDo App.</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br>
              <a:rPr lang="es-419">
                <a:solidFill>
                  <a:schemeClr val="dk1"/>
                </a:solidFill>
              </a:rPr>
            </a:br>
            <a:r>
              <a:rPr lang="es-419">
                <a:solidFill>
                  <a:schemeClr val="dk1"/>
                </a:solidFill>
              </a:rPr>
              <a:t>Es una tecnología diseñada para permitir que diferentes sistemas o aplicaciones intercambien datos o funciones de manera programática a través de la red. No está pensado para ser usado directamente por personas, sino por otras aplicaciones.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Ejemplo: La API de Google Maps, el servicio SOAP de un banco para procesar pagos.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2. Interacción</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br>
              <a:rPr lang="es-419">
                <a:solidFill>
                  <a:schemeClr val="dk1"/>
                </a:solidFill>
              </a:rPr>
            </a:br>
            <a:r>
              <a:rPr lang="es-419">
                <a:solidFill>
                  <a:schemeClr val="dk1"/>
                </a:solidFill>
              </a:rPr>
              <a:t>Los usuarios interactúan directamente con la aplicación mediante una interfaz visual (HTML, CSS, JavaScript).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br>
              <a:rPr lang="es-419">
                <a:solidFill>
                  <a:schemeClr val="dk1"/>
                </a:solidFill>
              </a:rPr>
            </a:br>
            <a:r>
              <a:rPr lang="es-419">
                <a:solidFill>
                  <a:schemeClr val="dk1"/>
                </a:solidFill>
              </a:rPr>
              <a:t>No tiene una interfaz gráfica directa. La interacción ocurre a través de solicitudes enviadas desde una aplicación cliente (como otra aplicación web o móvil) usando protocolos como HTTP.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3. Formato de Respuesta</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br>
              <a:rPr lang="es-419">
                <a:solidFill>
                  <a:schemeClr val="dk1"/>
                </a:solidFill>
              </a:rPr>
            </a:br>
            <a:r>
              <a:rPr lang="es-419">
                <a:solidFill>
                  <a:schemeClr val="dk1"/>
                </a:solidFill>
              </a:rPr>
              <a:t>Devuelve páginas web completas diseñadas para la interacción humana (HTML, CSS, imágenes, etc.).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br>
              <a:rPr lang="es-419">
                <a:solidFill>
                  <a:schemeClr val="dk1"/>
                </a:solidFill>
              </a:rPr>
            </a:br>
            <a:r>
              <a:rPr lang="es-419">
                <a:solidFill>
                  <a:schemeClr val="dk1"/>
                </a:solidFill>
              </a:rPr>
              <a:t>Devuelve datos estructurados en formatos como </a:t>
            </a:r>
            <a:r>
              <a:rPr lang="es-419" b="1">
                <a:solidFill>
                  <a:schemeClr val="dk1"/>
                </a:solidFill>
              </a:rPr>
              <a:t>JSON</a:t>
            </a:r>
            <a:r>
              <a:rPr lang="es-419">
                <a:solidFill>
                  <a:schemeClr val="dk1"/>
                </a:solidFill>
              </a:rPr>
              <a:t>, </a:t>
            </a:r>
            <a:r>
              <a:rPr lang="es-419" b="1">
                <a:solidFill>
                  <a:schemeClr val="dk1"/>
                </a:solidFill>
              </a:rPr>
              <a:t>XML</a:t>
            </a:r>
            <a:r>
              <a:rPr lang="es-419">
                <a:solidFill>
                  <a:schemeClr val="dk1"/>
                </a:solidFill>
              </a:rPr>
              <a:t> o </a:t>
            </a:r>
            <a:r>
              <a:rPr lang="es-419" b="1">
                <a:solidFill>
                  <a:schemeClr val="dk1"/>
                </a:solidFill>
              </a:rPr>
              <a:t>Protobuf</a:t>
            </a:r>
            <a:r>
              <a:rPr lang="es-419">
                <a:solidFill>
                  <a:schemeClr val="dk1"/>
                </a:solidFill>
              </a:rPr>
              <a:t>, diseñados para ser consumidos por otras aplicaciones.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4. Tecnología y Uso</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Usa tecnologías como HTML, CSS, JavaScript para la presentación.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Puede usar frameworks como React, Angular, o Vue para la capa del cliente, y Spring Boot, Django o Express.js en el servidor.</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Se ejecuta en navegadores y está orientada al usuario final.</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Usa protocolos como </a:t>
            </a:r>
            <a:r>
              <a:rPr lang="es-419" b="1">
                <a:solidFill>
                  <a:schemeClr val="dk1"/>
                </a:solidFill>
              </a:rPr>
              <a:t>SOAP</a:t>
            </a:r>
            <a:r>
              <a:rPr lang="es-419">
                <a:solidFill>
                  <a:schemeClr val="dk1"/>
                </a:solidFill>
              </a:rPr>
              <a:t>, </a:t>
            </a:r>
            <a:r>
              <a:rPr lang="es-419" b="1">
                <a:solidFill>
                  <a:schemeClr val="dk1"/>
                </a:solidFill>
              </a:rPr>
              <a:t>REST</a:t>
            </a:r>
            <a:r>
              <a:rPr lang="es-419">
                <a:solidFill>
                  <a:schemeClr val="dk1"/>
                </a:solidFill>
              </a:rPr>
              <a:t> o </a:t>
            </a:r>
            <a:r>
              <a:rPr lang="es-419" b="1">
                <a:solidFill>
                  <a:schemeClr val="dk1"/>
                </a:solidFill>
              </a:rPr>
              <a:t>gRPC</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Puede implementarse con tecnologías similares, pero su enfoque está en proporcionar datos o lógica.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Sirve como backend o integrador entre sistemas.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5. Ejemplo Comparativo</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Supongamos que estás trabajando con una plataforma de mapas: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Accedes a </a:t>
            </a:r>
            <a:r>
              <a:rPr lang="es-419" b="1">
                <a:solidFill>
                  <a:schemeClr val="dk1"/>
                </a:solidFill>
              </a:rPr>
              <a:t>Google Maps</a:t>
            </a:r>
            <a:r>
              <a:rPr lang="es-419">
                <a:solidFill>
                  <a:schemeClr val="dk1"/>
                </a:solidFill>
              </a:rPr>
              <a:t> en tu navegador para buscar direcciones o planificar rutas.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Ves un mapa interactivo y utilizas botones o campos de búsqueda.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Una aplicación de transporte (como Uber) utiliza la </a:t>
            </a:r>
            <a:r>
              <a:rPr lang="es-419" b="1">
                <a:solidFill>
                  <a:schemeClr val="dk1"/>
                </a:solidFill>
              </a:rPr>
              <a:t>API de Google Maps</a:t>
            </a:r>
            <a:r>
              <a:rPr lang="es-419">
                <a:solidFill>
                  <a:schemeClr val="dk1"/>
                </a:solidFill>
              </a:rPr>
              <a:t> para calcular rutas o estimar tiempos de viaje.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Uber no muestra la interfaz de Google Maps, sino que obtiene datos como coordenadas o tiempos de viaje y los integra en su propia aplicación.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6. Similitudes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Ambas pueden usar tecnologías web y protocolos como HTTP.</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Una aplicación web puede consumir servicios web para obtener o procesar información (por ejemplo, una aplicación de clima que muestra datos obtenidos de un servicio web meteorológico).</a:t>
            </a:r>
            <a:endParaRPr>
              <a:solidFill>
                <a:schemeClr val="dk1"/>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1fa53d5c77_0_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1fa53d5c77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s-419" sz="1300" b="1">
                <a:solidFill>
                  <a:schemeClr val="dk1"/>
                </a:solidFill>
              </a:rPr>
              <a:t>1. Propósito</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br>
              <a:rPr lang="es-419">
                <a:solidFill>
                  <a:schemeClr val="dk1"/>
                </a:solidFill>
              </a:rPr>
            </a:br>
            <a:r>
              <a:rPr lang="es-419">
                <a:solidFill>
                  <a:schemeClr val="dk1"/>
                </a:solidFill>
              </a:rPr>
              <a:t>Es una aplicación diseñada para ser utilizada por seres humanos a través de un navegador web (por ejemplo, Chrome, Firefox). Su objetivo es proporcionar una interfaz gráfica y funcionalidades para que los usuarios interactúen con el sistema.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Ejemplo: Gmail, Amazon, una herramienta de gestión de tareas como tu ToDo App.</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br>
              <a:rPr lang="es-419">
                <a:solidFill>
                  <a:schemeClr val="dk1"/>
                </a:solidFill>
              </a:rPr>
            </a:br>
            <a:r>
              <a:rPr lang="es-419">
                <a:solidFill>
                  <a:schemeClr val="dk1"/>
                </a:solidFill>
              </a:rPr>
              <a:t>Es una tecnología diseñada para permitir que diferentes sistemas o aplicaciones intercambien datos o funciones de manera programática a través de la red. No está pensado para ser usado directamente por personas, sino por otras aplicaciones.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Ejemplo: La API de Google Maps, el servicio SOAP de un banco para procesar pagos.</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2. Interacción</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br>
              <a:rPr lang="es-419">
                <a:solidFill>
                  <a:schemeClr val="dk1"/>
                </a:solidFill>
              </a:rPr>
            </a:br>
            <a:r>
              <a:rPr lang="es-419">
                <a:solidFill>
                  <a:schemeClr val="dk1"/>
                </a:solidFill>
              </a:rPr>
              <a:t>Los usuarios interactúan directamente con la aplicación mediante una interfaz visual (HTML, CSS, JavaScript).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br>
              <a:rPr lang="es-419">
                <a:solidFill>
                  <a:schemeClr val="dk1"/>
                </a:solidFill>
              </a:rPr>
            </a:br>
            <a:r>
              <a:rPr lang="es-419">
                <a:solidFill>
                  <a:schemeClr val="dk1"/>
                </a:solidFill>
              </a:rPr>
              <a:t>No tiene una interfaz gráfica directa. La interacción ocurre a través de solicitudes enviadas desde una aplicación cliente (como otra aplicación web o móvil) usando protocolos como HTTP.</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3. Formato de Respuesta</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br>
              <a:rPr lang="es-419">
                <a:solidFill>
                  <a:schemeClr val="dk1"/>
                </a:solidFill>
              </a:rPr>
            </a:br>
            <a:r>
              <a:rPr lang="es-419">
                <a:solidFill>
                  <a:schemeClr val="dk1"/>
                </a:solidFill>
              </a:rPr>
              <a:t>Devuelve páginas web completas diseñadas para la interacción humana (HTML, CSS, imágenes, etc.).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br>
              <a:rPr lang="es-419">
                <a:solidFill>
                  <a:schemeClr val="dk1"/>
                </a:solidFill>
              </a:rPr>
            </a:br>
            <a:r>
              <a:rPr lang="es-419">
                <a:solidFill>
                  <a:schemeClr val="dk1"/>
                </a:solidFill>
              </a:rPr>
              <a:t>Devuelve datos estructurados en formatos como </a:t>
            </a:r>
            <a:r>
              <a:rPr lang="es-419" b="1">
                <a:solidFill>
                  <a:schemeClr val="dk1"/>
                </a:solidFill>
              </a:rPr>
              <a:t>JSON</a:t>
            </a:r>
            <a:r>
              <a:rPr lang="es-419">
                <a:solidFill>
                  <a:schemeClr val="dk1"/>
                </a:solidFill>
              </a:rPr>
              <a:t>, </a:t>
            </a:r>
            <a:r>
              <a:rPr lang="es-419" b="1">
                <a:solidFill>
                  <a:schemeClr val="dk1"/>
                </a:solidFill>
              </a:rPr>
              <a:t>XML</a:t>
            </a:r>
            <a:r>
              <a:rPr lang="es-419">
                <a:solidFill>
                  <a:schemeClr val="dk1"/>
                </a:solidFill>
              </a:rPr>
              <a:t> o </a:t>
            </a:r>
            <a:r>
              <a:rPr lang="es-419" b="1">
                <a:solidFill>
                  <a:schemeClr val="dk1"/>
                </a:solidFill>
              </a:rPr>
              <a:t>Protobuf</a:t>
            </a:r>
            <a:r>
              <a:rPr lang="es-419">
                <a:solidFill>
                  <a:schemeClr val="dk1"/>
                </a:solidFill>
              </a:rPr>
              <a:t>, diseñados para ser consumidos por otras aplicaciones.</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4. Tecnología y Uso</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Usa tecnologías como HTML, CSS, JavaScript para la presentación.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Puede usar frameworks como React, Angular, o Vue para la capa del cliente, y Spring Boot, Django o Express.js en el servidor.</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Se ejecuta en navegadores y está orientada al usuario final.</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Usa protocolos como </a:t>
            </a:r>
            <a:r>
              <a:rPr lang="es-419" b="1">
                <a:solidFill>
                  <a:schemeClr val="dk1"/>
                </a:solidFill>
              </a:rPr>
              <a:t>SOAP</a:t>
            </a:r>
            <a:r>
              <a:rPr lang="es-419">
                <a:solidFill>
                  <a:schemeClr val="dk1"/>
                </a:solidFill>
              </a:rPr>
              <a:t>, </a:t>
            </a:r>
            <a:r>
              <a:rPr lang="es-419" b="1">
                <a:solidFill>
                  <a:schemeClr val="dk1"/>
                </a:solidFill>
              </a:rPr>
              <a:t>REST</a:t>
            </a:r>
            <a:r>
              <a:rPr lang="es-419">
                <a:solidFill>
                  <a:schemeClr val="dk1"/>
                </a:solidFill>
              </a:rPr>
              <a:t> o </a:t>
            </a:r>
            <a:r>
              <a:rPr lang="es-419" b="1">
                <a:solidFill>
                  <a:schemeClr val="dk1"/>
                </a:solidFill>
              </a:rPr>
              <a:t>gRPC</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Puede implementarse con tecnologías similares, pero su enfoque está en proporcionar datos o lógica.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Sirve como backend o integrador entre sistemas.</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5. Ejemplo Comparativo</a:t>
            </a:r>
            <a:endParaRPr sz="1300" b="1">
              <a:solidFill>
                <a:schemeClr val="dk1"/>
              </a:solidFill>
            </a:endParaRPr>
          </a:p>
          <a:p>
            <a:pPr marL="0" lvl="0" indent="0" algn="l" rtl="0">
              <a:lnSpc>
                <a:spcPct val="115000"/>
              </a:lnSpc>
              <a:spcBef>
                <a:spcPts val="1200"/>
              </a:spcBef>
              <a:spcAft>
                <a:spcPts val="0"/>
              </a:spcAft>
              <a:buNone/>
            </a:pPr>
            <a:r>
              <a:rPr lang="es-419">
                <a:solidFill>
                  <a:schemeClr val="dk1"/>
                </a:solidFill>
              </a:rPr>
              <a:t>Supongamos que estás trabajando con una plataforma de mapas: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Aplicación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Accedes a </a:t>
            </a:r>
            <a:r>
              <a:rPr lang="es-419" b="1">
                <a:solidFill>
                  <a:schemeClr val="dk1"/>
                </a:solidFill>
              </a:rPr>
              <a:t>Google Maps</a:t>
            </a:r>
            <a:r>
              <a:rPr lang="es-419">
                <a:solidFill>
                  <a:schemeClr val="dk1"/>
                </a:solidFill>
              </a:rPr>
              <a:t> en tu navegador para buscar direcciones o planificar rutas.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Ves un mapa interactivo y utilizas botones o campos de búsqueda.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Servicio Web</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Una aplicación de transporte (como Uber) utiliza la </a:t>
            </a:r>
            <a:r>
              <a:rPr lang="es-419" b="1">
                <a:solidFill>
                  <a:schemeClr val="dk1"/>
                </a:solidFill>
              </a:rPr>
              <a:t>API de Google Maps</a:t>
            </a:r>
            <a:r>
              <a:rPr lang="es-419">
                <a:solidFill>
                  <a:schemeClr val="dk1"/>
                </a:solidFill>
              </a:rPr>
              <a:t> para calcular rutas o estimar tiempos de viaje.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Uber no muestra la interfaz de Google Maps, sino que obtiene datos como coordenadas o tiempos de viaje y los integra en su propia aplicación.</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400"/>
              </a:spcBef>
              <a:spcAft>
                <a:spcPts val="0"/>
              </a:spcAft>
              <a:buNone/>
            </a:pPr>
            <a:r>
              <a:rPr lang="es-419" sz="1300" b="1">
                <a:solidFill>
                  <a:schemeClr val="dk1"/>
                </a:solidFill>
              </a:rPr>
              <a:t>6. Similitudes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Ambas pueden usar tecnologías web y protocolos como HTTP.</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Una aplicación web puede consumir servicios web para obtener o procesar información (por ejemplo, una aplicación de clima que muestra datos obtenidos de un servicio web meteorológico).</a:t>
            </a:r>
            <a:endParaRPr>
              <a:solidFill>
                <a:schemeClr val="dk1"/>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1fa53d5c77_0_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1fa53d5c77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Características de un servicio web</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Interoperabilidad</a:t>
            </a:r>
            <a:r>
              <a:rPr lang="es-419">
                <a:solidFill>
                  <a:schemeClr val="dk1"/>
                </a:solidFill>
              </a:rPr>
              <a:t>:</a:t>
            </a:r>
            <a:br>
              <a:rPr lang="es-419">
                <a:solidFill>
                  <a:schemeClr val="dk1"/>
                </a:solidFill>
              </a:rPr>
            </a:br>
            <a:r>
              <a:rPr lang="es-419">
                <a:solidFill>
                  <a:schemeClr val="dk1"/>
                </a:solidFill>
              </a:rPr>
              <a:t>Los servicios web están basados en estándares abiertos, lo que permite que aplicaciones desarrolladas en diferentes lenguajes (Java, Python, .NET, etc.) se comuniquen entre sí.</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Protocolo de red</a:t>
            </a:r>
            <a:r>
              <a:rPr lang="es-419">
                <a:solidFill>
                  <a:schemeClr val="dk1"/>
                </a:solidFill>
              </a:rPr>
              <a:t>:</a:t>
            </a:r>
            <a:br>
              <a:rPr lang="es-419">
                <a:solidFill>
                  <a:schemeClr val="dk1"/>
                </a:solidFill>
              </a:rPr>
            </a:br>
            <a:r>
              <a:rPr lang="es-419">
                <a:solidFill>
                  <a:schemeClr val="dk1"/>
                </a:solidFill>
              </a:rPr>
              <a:t>Usan protocolos comunes, como </a:t>
            </a:r>
            <a:r>
              <a:rPr lang="es-419" b="1">
                <a:solidFill>
                  <a:schemeClr val="dk1"/>
                </a:solidFill>
              </a:rPr>
              <a:t>HTTP</a:t>
            </a:r>
            <a:r>
              <a:rPr lang="es-419">
                <a:solidFill>
                  <a:schemeClr val="dk1"/>
                </a:solidFill>
              </a:rPr>
              <a:t>, para transportar los datos.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Formato de datos estándar</a:t>
            </a:r>
            <a:r>
              <a:rPr lang="es-419">
                <a:solidFill>
                  <a:schemeClr val="dk1"/>
                </a:solidFill>
              </a:rPr>
              <a:t>:</a:t>
            </a:r>
            <a:br>
              <a:rPr lang="es-419">
                <a:solidFill>
                  <a:schemeClr val="dk1"/>
                </a:solidFill>
              </a:rPr>
            </a:br>
            <a:r>
              <a:rPr lang="es-419">
                <a:solidFill>
                  <a:schemeClr val="dk1"/>
                </a:solidFill>
              </a:rPr>
              <a:t>Los datos se estructuran en formatos ampliamente aceptados, como </a:t>
            </a:r>
            <a:r>
              <a:rPr lang="es-419" b="1">
                <a:solidFill>
                  <a:schemeClr val="dk1"/>
                </a:solidFill>
              </a:rPr>
              <a:t>XML</a:t>
            </a:r>
            <a:r>
              <a:rPr lang="es-419">
                <a:solidFill>
                  <a:schemeClr val="dk1"/>
                </a:solidFill>
              </a:rPr>
              <a:t> o </a:t>
            </a:r>
            <a:r>
              <a:rPr lang="es-419" b="1">
                <a:solidFill>
                  <a:schemeClr val="dk1"/>
                </a:solidFill>
              </a:rPr>
              <a:t>JSON</a:t>
            </a:r>
            <a:r>
              <a:rPr lang="es-419">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Independencia</a:t>
            </a:r>
            <a:r>
              <a:rPr lang="es-419">
                <a:solidFill>
                  <a:schemeClr val="dk1"/>
                </a:solidFill>
              </a:rPr>
              <a:t>:</a:t>
            </a:r>
            <a:br>
              <a:rPr lang="es-419">
                <a:solidFill>
                  <a:schemeClr val="dk1"/>
                </a:solidFill>
              </a:rPr>
            </a:br>
            <a:r>
              <a:rPr lang="es-419">
                <a:solidFill>
                  <a:schemeClr val="dk1"/>
                </a:solidFill>
              </a:rPr>
              <a:t>Los servicios web no dependen de un sistema operativo, hardware o tecnología subyacente.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Descubrimiento</a:t>
            </a:r>
            <a:r>
              <a:rPr lang="es-419">
                <a:solidFill>
                  <a:schemeClr val="dk1"/>
                </a:solidFill>
              </a:rPr>
              <a:t>:</a:t>
            </a:r>
            <a:br>
              <a:rPr lang="es-419">
                <a:solidFill>
                  <a:schemeClr val="dk1"/>
                </a:solidFill>
              </a:rPr>
            </a:br>
            <a:r>
              <a:rPr lang="es-419">
                <a:solidFill>
                  <a:schemeClr val="dk1"/>
                </a:solidFill>
              </a:rPr>
              <a:t>Algunos servicios web pueden registrarse en directorios para que otros puedan descubrirlos (por ejemplo, a través de UDDI en el caso de servicios SOAP).</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fa53d5c77_0_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1fa53d5c77_0_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1fa53d5c77_0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1fa53d5c77_0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1. SOAP (Simple Object Access Protocol)</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Descripción</a:t>
            </a:r>
            <a:r>
              <a:rPr lang="es-419">
                <a:solidFill>
                  <a:schemeClr val="dk1"/>
                </a:solidFill>
              </a:rPr>
              <a:t>: Es un protocolo basado en XML para enviar mensajes estructurados entre aplicaciones.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Características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Altamente formalizado, con reglas estrictas.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Utiliza WSDL (</a:t>
            </a:r>
            <a:r>
              <a:rPr lang="es-419" i="1">
                <a:solidFill>
                  <a:schemeClr val="dk1"/>
                </a:solidFill>
              </a:rPr>
              <a:t>Web Services Description Language</a:t>
            </a:r>
            <a:r>
              <a:rPr lang="es-419">
                <a:solidFill>
                  <a:schemeClr val="dk1"/>
                </a:solidFill>
              </a:rPr>
              <a:t>) para describir la interfaz y los métodos disponibles del servicio.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 ideal para aplicaciones empresariales donde la transaccionalidad y la seguridad son críticas.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Ventajas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Soporte para transacciones y estándares avanzados como WS-Security.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Especificaciones robustas para operaciones complejas.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Desventajas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 más complejo y pesado en comparación con otros enfoques.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1fa53d5c77_0_5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1fa53d5c77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3. gRPC (Google Remote Procedure Call)</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Descripción</a:t>
            </a:r>
            <a:r>
              <a:rPr lang="es-419">
                <a:solidFill>
                  <a:schemeClr val="dk1"/>
                </a:solidFill>
              </a:rPr>
              <a:t>: Es un framework moderno que utiliza </a:t>
            </a:r>
            <a:r>
              <a:rPr lang="es-419" b="1">
                <a:solidFill>
                  <a:schemeClr val="dk1"/>
                </a:solidFill>
              </a:rPr>
              <a:t>Protobuf</a:t>
            </a:r>
            <a:r>
              <a:rPr lang="es-419">
                <a:solidFill>
                  <a:schemeClr val="dk1"/>
                </a:solidFill>
              </a:rPr>
              <a:t> (Protocol Buffers) como formato de datos para comunicación binaria eficiente.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Características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Más rápido y eficiente que SOAP o REST.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Soporta streaming bidireccional.</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Ventajas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Muy adecuado para sistemas distribuidos modernos.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Compatible con múltiples lenguajes.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Desventajas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Mayor complejidad inicial debido a Protobuf y la configuración.</a:t>
            </a:r>
            <a:endParaRPr>
              <a:solidFill>
                <a:schemeClr val="dk1"/>
              </a:solidFill>
            </a:endParaRPr>
          </a:p>
          <a:p>
            <a:pPr marL="0" lvl="0" indent="0" algn="l" rtl="0">
              <a:spcBef>
                <a:spcPts val="1200"/>
              </a:spcBef>
              <a:spcAft>
                <a:spcPts val="0"/>
              </a:spcAft>
              <a:buNone/>
            </a:pPr>
            <a:endParaRPr/>
          </a:p>
          <a:p>
            <a:pPr marL="0" lvl="0" indent="0" algn="l" rtl="0">
              <a:lnSpc>
                <a:spcPct val="115000"/>
              </a:lnSpc>
              <a:spcBef>
                <a:spcPts val="600"/>
              </a:spcBef>
              <a:spcAft>
                <a:spcPts val="0"/>
              </a:spcAft>
              <a:buClr>
                <a:schemeClr val="dk1"/>
              </a:buClr>
              <a:buSzPts val="1100"/>
              <a:buFont typeface="Arial"/>
              <a:buNone/>
            </a:pPr>
            <a:r>
              <a:rPr lang="es-419" sz="1200">
                <a:solidFill>
                  <a:srgbClr val="202122"/>
                </a:solidFill>
                <a:highlight>
                  <a:srgbClr val="FFFFFF"/>
                </a:highlight>
              </a:rPr>
              <a:t>Los </a:t>
            </a:r>
            <a:r>
              <a:rPr lang="es-419" sz="1200" b="1">
                <a:solidFill>
                  <a:srgbClr val="202122"/>
                </a:solidFill>
                <a:highlight>
                  <a:srgbClr val="FFFFFF"/>
                </a:highlight>
              </a:rPr>
              <a:t>Protocol Buffers</a:t>
            </a:r>
            <a:r>
              <a:rPr lang="es-419" sz="1200">
                <a:solidFill>
                  <a:srgbClr val="202122"/>
                </a:solidFill>
                <a:highlight>
                  <a:srgbClr val="FFFFFF"/>
                </a:highlight>
              </a:rPr>
              <a:t>, también conocidos como </a:t>
            </a:r>
            <a:r>
              <a:rPr lang="es-419" sz="1200" b="1">
                <a:solidFill>
                  <a:srgbClr val="202122"/>
                </a:solidFill>
                <a:highlight>
                  <a:srgbClr val="FFFFFF"/>
                </a:highlight>
              </a:rPr>
              <a:t>protobuf</a:t>
            </a:r>
            <a:r>
              <a:rPr lang="es-419" sz="1200">
                <a:solidFill>
                  <a:srgbClr val="202122"/>
                </a:solidFill>
                <a:highlight>
                  <a:srgbClr val="FFFFFF"/>
                </a:highlight>
              </a:rPr>
              <a:t>, son un </a:t>
            </a:r>
            <a:r>
              <a:rPr lang="es-419" sz="1200">
                <a:solidFill>
                  <a:schemeClr val="hlink"/>
                </a:solidFill>
                <a:highlight>
                  <a:srgbClr val="FFFFFF"/>
                </a:highlight>
                <a:uFill>
                  <a:noFill/>
                </a:uFill>
                <a:hlinkClick r:id="rId3"/>
              </a:rPr>
              <a:t>formato binario</a:t>
            </a:r>
            <a:r>
              <a:rPr lang="es-419" sz="1200">
                <a:solidFill>
                  <a:srgbClr val="202122"/>
                </a:solidFill>
                <a:highlight>
                  <a:srgbClr val="FFFFFF"/>
                </a:highlight>
              </a:rPr>
              <a:t> que facilita el almacenamiento e intercambio de datos en aplicaciones</a:t>
            </a:r>
            <a:r>
              <a:rPr lang="es-419" sz="1200" baseline="30000">
                <a:solidFill>
                  <a:schemeClr val="hlink"/>
                </a:solidFill>
                <a:highlight>
                  <a:srgbClr val="FFFFFF"/>
                </a:highlight>
                <a:uFill>
                  <a:noFill/>
                </a:uFill>
                <a:hlinkClick r:id="rId4"/>
              </a:rPr>
              <a:t>1</a:t>
            </a:r>
            <a:r>
              <a:rPr lang="es-419" sz="1200">
                <a:solidFill>
                  <a:srgbClr val="202122"/>
                </a:solidFill>
                <a:highlight>
                  <a:srgbClr val="FFFFFF"/>
                </a:highlight>
              </a:rPr>
              <a:t>​. Fue desarrollado por Google Inc. y publicado parcialmente bajo una </a:t>
            </a:r>
            <a:r>
              <a:rPr lang="es-419" sz="1200">
                <a:solidFill>
                  <a:schemeClr val="hlink"/>
                </a:solidFill>
                <a:highlight>
                  <a:srgbClr val="FFFFFF"/>
                </a:highlight>
                <a:uFill>
                  <a:noFill/>
                </a:uFill>
                <a:hlinkClick r:id="rId5"/>
              </a:rPr>
              <a:t>licencia BSD</a:t>
            </a:r>
            <a:r>
              <a:rPr lang="es-419" sz="1200">
                <a:solidFill>
                  <a:srgbClr val="202122"/>
                </a:solidFill>
                <a:highlight>
                  <a:srgbClr val="FFFFFF"/>
                </a:highlight>
              </a:rPr>
              <a:t> de 3 cláusulas. Para una variedad de lenguajes de programación, </a:t>
            </a:r>
            <a:r>
              <a:rPr lang="es-419" sz="1200">
                <a:solidFill>
                  <a:schemeClr val="hlink"/>
                </a:solidFill>
                <a:highlight>
                  <a:srgbClr val="FFFFFF"/>
                </a:highlight>
                <a:uFill>
                  <a:noFill/>
                </a:uFill>
                <a:hlinkClick r:id="rId6"/>
              </a:rPr>
              <a:t>Google</a:t>
            </a:r>
            <a:r>
              <a:rPr lang="es-419" sz="1200">
                <a:solidFill>
                  <a:srgbClr val="202122"/>
                </a:solidFill>
                <a:highlight>
                  <a:srgbClr val="FFFFFF"/>
                </a:highlight>
              </a:rPr>
              <a:t> proporciona una implementación oficial como </a:t>
            </a:r>
            <a:r>
              <a:rPr lang="es-419" sz="1200">
                <a:solidFill>
                  <a:schemeClr val="hlink"/>
                </a:solidFill>
                <a:highlight>
                  <a:srgbClr val="FFFFFF"/>
                </a:highlight>
                <a:uFill>
                  <a:noFill/>
                </a:uFill>
                <a:hlinkClick r:id="rId7"/>
              </a:rPr>
              <a:t>software libre</a:t>
            </a:r>
            <a:r>
              <a:rPr lang="es-419" sz="1200">
                <a:solidFill>
                  <a:srgbClr val="202122"/>
                </a:solidFill>
                <a:highlight>
                  <a:srgbClr val="FFFFFF"/>
                </a:highlight>
              </a:rPr>
              <a:t> bajo la licencia Apache 2.0. Los lenguajes de programación oficialmente admitidos son C#, </a:t>
            </a:r>
            <a:r>
              <a:rPr lang="es-419" sz="1200">
                <a:solidFill>
                  <a:schemeClr val="hlink"/>
                </a:solidFill>
                <a:highlight>
                  <a:srgbClr val="FFFFFF"/>
                </a:highlight>
                <a:uFill>
                  <a:noFill/>
                </a:uFill>
                <a:hlinkClick r:id="rId8"/>
              </a:rPr>
              <a:t>C++</a:t>
            </a:r>
            <a:r>
              <a:rPr lang="es-419" sz="1200">
                <a:solidFill>
                  <a:srgbClr val="202122"/>
                </a:solidFill>
                <a:highlight>
                  <a:srgbClr val="FFFFFF"/>
                </a:highlight>
              </a:rPr>
              <a:t>, Go, </a:t>
            </a:r>
            <a:r>
              <a:rPr lang="es-419" sz="1200">
                <a:solidFill>
                  <a:schemeClr val="hlink"/>
                </a:solidFill>
                <a:highlight>
                  <a:srgbClr val="FFFFFF"/>
                </a:highlight>
                <a:uFill>
                  <a:noFill/>
                </a:uFill>
                <a:hlinkClick r:id="rId9"/>
              </a:rPr>
              <a:t>Objective-C</a:t>
            </a:r>
            <a:r>
              <a:rPr lang="es-419" sz="1200">
                <a:solidFill>
                  <a:srgbClr val="202122"/>
                </a:solidFill>
                <a:highlight>
                  <a:srgbClr val="FFFFFF"/>
                </a:highlight>
              </a:rPr>
              <a:t>, </a:t>
            </a:r>
            <a:r>
              <a:rPr lang="es-419" sz="1200">
                <a:solidFill>
                  <a:schemeClr val="hlink"/>
                </a:solidFill>
                <a:highlight>
                  <a:srgbClr val="FFFFFF"/>
                </a:highlight>
                <a:uFill>
                  <a:noFill/>
                </a:uFill>
                <a:hlinkClick r:id="rId10"/>
              </a:rPr>
              <a:t>Java</a:t>
            </a:r>
            <a:r>
              <a:rPr lang="es-419" sz="1200">
                <a:solidFill>
                  <a:srgbClr val="202122"/>
                </a:solidFill>
                <a:highlight>
                  <a:srgbClr val="FFFFFF"/>
                </a:highlight>
              </a:rPr>
              <a:t>, </a:t>
            </a:r>
            <a:r>
              <a:rPr lang="es-419" sz="1200">
                <a:solidFill>
                  <a:schemeClr val="hlink"/>
                </a:solidFill>
                <a:highlight>
                  <a:srgbClr val="FFFFFF"/>
                </a:highlight>
                <a:uFill>
                  <a:noFill/>
                </a:uFill>
                <a:hlinkClick r:id="rId11"/>
              </a:rPr>
              <a:t>Python</a:t>
            </a:r>
            <a:r>
              <a:rPr lang="es-419" sz="1200">
                <a:solidFill>
                  <a:srgbClr val="202122"/>
                </a:solidFill>
                <a:highlight>
                  <a:srgbClr val="FFFFFF"/>
                </a:highlight>
              </a:rPr>
              <a:t> y </a:t>
            </a:r>
            <a:r>
              <a:rPr lang="es-419" sz="1200">
                <a:solidFill>
                  <a:schemeClr val="hlink"/>
                </a:solidFill>
                <a:highlight>
                  <a:srgbClr val="FFFFFF"/>
                </a:highlight>
                <a:uFill>
                  <a:noFill/>
                </a:uFill>
                <a:hlinkClick r:id="rId12"/>
              </a:rPr>
              <a:t>Ruby</a:t>
            </a:r>
            <a:r>
              <a:rPr lang="es-419" sz="1200">
                <a:solidFill>
                  <a:srgbClr val="202122"/>
                </a:solidFill>
                <a:highlight>
                  <a:srgbClr val="FFFFFF"/>
                </a:highlight>
              </a:rPr>
              <a:t>. Muchos otros lenguajes de programación, como C o </a:t>
            </a:r>
            <a:r>
              <a:rPr lang="es-419" sz="1200">
                <a:solidFill>
                  <a:schemeClr val="hlink"/>
                </a:solidFill>
                <a:highlight>
                  <a:srgbClr val="FFFFFF"/>
                </a:highlight>
                <a:uFill>
                  <a:noFill/>
                </a:uFill>
                <a:hlinkClick r:id="rId13"/>
              </a:rPr>
              <a:t>Swift</a:t>
            </a:r>
            <a:r>
              <a:rPr lang="es-419" sz="1200">
                <a:solidFill>
                  <a:srgbClr val="202122"/>
                </a:solidFill>
                <a:highlight>
                  <a:srgbClr val="FFFFFF"/>
                </a:highlight>
              </a:rPr>
              <a:t>, son compatibles con proyectos de terceros </a:t>
            </a:r>
            <a:r>
              <a:rPr lang="es-419" sz="1200" baseline="30000">
                <a:solidFill>
                  <a:srgbClr val="202122"/>
                </a:solidFill>
                <a:highlight>
                  <a:srgbClr val="FFFFFF"/>
                </a:highlight>
              </a:rPr>
              <a:t>[</a:t>
            </a:r>
            <a:r>
              <a:rPr lang="es-419" sz="1200" i="1" baseline="30000">
                <a:solidFill>
                  <a:schemeClr val="hlink"/>
                </a:solidFill>
                <a:highlight>
                  <a:srgbClr val="FFFFFF"/>
                </a:highlight>
                <a:uFill>
                  <a:noFill/>
                </a:uFill>
                <a:hlinkClick r:id="rId14"/>
              </a:rPr>
              <a:t>cita requerida</a:t>
            </a:r>
            <a:r>
              <a:rPr lang="es-419" sz="1200" baseline="30000">
                <a:solidFill>
                  <a:srgbClr val="202122"/>
                </a:solidFill>
                <a:highlight>
                  <a:srgbClr val="FFFFFF"/>
                </a:highlight>
              </a:rPr>
              <a:t>]</a:t>
            </a:r>
            <a:r>
              <a:rPr lang="es-419" sz="1200">
                <a:solidFill>
                  <a:srgbClr val="202122"/>
                </a:solidFill>
                <a:highlight>
                  <a:srgbClr val="FFFFFF"/>
                </a:highlight>
              </a:rPr>
              <a:t>.</a:t>
            </a:r>
            <a:endParaRPr sz="1200">
              <a:solidFill>
                <a:srgbClr val="202122"/>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s-419" sz="1200">
                <a:solidFill>
                  <a:srgbClr val="202122"/>
                </a:solidFill>
                <a:highlight>
                  <a:srgbClr val="FFFFFF"/>
                </a:highlight>
              </a:rPr>
              <a:t>Los principales características del diseño de los protocol buffers son su simplicidad y su rendimiento. Está diseñado como un formato </a:t>
            </a:r>
            <a:r>
              <a:rPr lang="es-419" sz="1200">
                <a:solidFill>
                  <a:schemeClr val="hlink"/>
                </a:solidFill>
                <a:highlight>
                  <a:srgbClr val="FFFFFF"/>
                </a:highlight>
                <a:uFill>
                  <a:noFill/>
                </a:uFill>
                <a:hlinkClick r:id="rId15"/>
              </a:rPr>
              <a:t>binario</a:t>
            </a:r>
            <a:r>
              <a:rPr lang="es-419" sz="1200">
                <a:solidFill>
                  <a:srgbClr val="202122"/>
                </a:solidFill>
                <a:highlight>
                  <a:srgbClr val="FFFFFF"/>
                </a:highlight>
              </a:rPr>
              <a:t> en contraste con </a:t>
            </a:r>
            <a:r>
              <a:rPr lang="es-419" sz="1200">
                <a:solidFill>
                  <a:schemeClr val="hlink"/>
                </a:solidFill>
                <a:highlight>
                  <a:srgbClr val="FFFFFF"/>
                </a:highlight>
                <a:uFill>
                  <a:noFill/>
                </a:uFill>
                <a:hlinkClick r:id="rId16"/>
              </a:rPr>
              <a:t>XML</a:t>
            </a:r>
            <a:r>
              <a:rPr lang="es-419" sz="1200">
                <a:solidFill>
                  <a:srgbClr val="202122"/>
                </a:solidFill>
                <a:highlight>
                  <a:srgbClr val="FFFFFF"/>
                </a:highlight>
              </a:rPr>
              <a:t>, que se basa en un formato textual.</a:t>
            </a:r>
            <a:endParaRPr sz="1200">
              <a:solidFill>
                <a:srgbClr val="202122"/>
              </a:solidFill>
              <a:highlight>
                <a:srgbClr val="FFFFFF"/>
              </a:highlight>
            </a:endParaRPr>
          </a:p>
          <a:p>
            <a:pPr marL="0" lvl="0" indent="0" algn="l" rtl="0">
              <a:spcBef>
                <a:spcPts val="120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1fa53d5c77_0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1fa53d5c77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GraphQL</a:t>
            </a:r>
            <a:r>
              <a:rPr lang="es-419">
                <a:solidFill>
                  <a:schemeClr val="dk1"/>
                </a:solidFill>
              </a:rPr>
              <a:t> es una tecnología moderna para crear </a:t>
            </a:r>
            <a:r>
              <a:rPr lang="es-419" b="1">
                <a:solidFill>
                  <a:schemeClr val="dk1"/>
                </a:solidFill>
              </a:rPr>
              <a:t>servicios web</a:t>
            </a:r>
            <a:r>
              <a:rPr lang="es-419">
                <a:solidFill>
                  <a:schemeClr val="dk1"/>
                </a:solidFill>
              </a:rPr>
              <a:t> que permite a los clientes consultar datos de forma eficiente y flexible. Fue desarrollada originalmente por </a:t>
            </a:r>
            <a:r>
              <a:rPr lang="es-419" b="1">
                <a:solidFill>
                  <a:schemeClr val="dk1"/>
                </a:solidFill>
              </a:rPr>
              <a:t>Facebook</a:t>
            </a:r>
            <a:r>
              <a:rPr lang="es-419">
                <a:solidFill>
                  <a:schemeClr val="dk1"/>
                </a:solidFill>
              </a:rPr>
              <a:t> en 2012 y se lanzó como un estándar de código abierto en 2015. A diferencia de enfoques tradicionales como REST, GraphQL introduce un enfoque declarativo para las consultas, donde los clientes pueden especificar exactamente qué datos necesitan y en qué formato.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Características Principales de GraphQL</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Consulta Flexible y Precisa</a:t>
            </a:r>
            <a:r>
              <a:rPr lang="es-419">
                <a:solidFill>
                  <a:schemeClr val="dk1"/>
                </a:solidFill>
              </a:rPr>
              <a:t>:</a:t>
            </a:r>
            <a:br>
              <a:rPr lang="es-419">
                <a:solidFill>
                  <a:schemeClr val="dk1"/>
                </a:solidFill>
              </a:rPr>
            </a:br>
            <a:r>
              <a:rPr lang="es-419">
                <a:solidFill>
                  <a:schemeClr val="dk1"/>
                </a:solidFill>
              </a:rPr>
              <a:t>Los clientes pueden especificar exactamente qué campos y datos necesitan en una única consulta, lo que evita el "over-fetching" (obtener más datos de los necesarios) y el "under-fetching" (tener que hacer múltiples solicitudes para completar una operación).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Un Solo Endpoint</a:t>
            </a:r>
            <a:r>
              <a:rPr lang="es-419">
                <a:solidFill>
                  <a:schemeClr val="dk1"/>
                </a:solidFill>
              </a:rPr>
              <a:t>:</a:t>
            </a:r>
            <a:br>
              <a:rPr lang="es-419">
                <a:solidFill>
                  <a:schemeClr val="dk1"/>
                </a:solidFill>
              </a:rPr>
            </a:br>
            <a:r>
              <a:rPr lang="es-419">
                <a:solidFill>
                  <a:schemeClr val="dk1"/>
                </a:solidFill>
              </a:rPr>
              <a:t>A diferencia de REST, donde diferentes recursos tienen diferentes endpoints, con GraphQL todas las consultas y mutaciones se manejan a través de un único endpoint.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Esquema Tipado</a:t>
            </a:r>
            <a:r>
              <a:rPr lang="es-419">
                <a:solidFill>
                  <a:schemeClr val="dk1"/>
                </a:solidFill>
              </a:rPr>
              <a:t>:</a:t>
            </a:r>
            <a:br>
              <a:rPr lang="es-419">
                <a:solidFill>
                  <a:schemeClr val="dk1"/>
                </a:solidFill>
              </a:rPr>
            </a:br>
            <a:r>
              <a:rPr lang="es-419">
                <a:solidFill>
                  <a:schemeClr val="dk1"/>
                </a:solidFill>
              </a:rPr>
              <a:t>GraphQL utiliza un esquema fuertemente tipado definido por el servidor que describe los tipos de datos disponibles y sus relaciones. Esto ayuda a detectar errores en tiempo de desarrollo.</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Composición</a:t>
            </a:r>
            <a:r>
              <a:rPr lang="es-419">
                <a:solidFill>
                  <a:schemeClr val="dk1"/>
                </a:solidFill>
              </a:rPr>
              <a:t>:</a:t>
            </a:r>
            <a:br>
              <a:rPr lang="es-419">
                <a:solidFill>
                  <a:schemeClr val="dk1"/>
                </a:solidFill>
              </a:rPr>
            </a:br>
            <a:r>
              <a:rPr lang="es-419">
                <a:solidFill>
                  <a:schemeClr val="dk1"/>
                </a:solidFill>
              </a:rPr>
              <a:t>Las consultas GraphQL pueden anidar recursos y obtener datos relacionados en una sola solicitud, reduciendo la cantidad de llamadas al servidor.</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Documentación Integrada</a:t>
            </a:r>
            <a:r>
              <a:rPr lang="es-419">
                <a:solidFill>
                  <a:schemeClr val="dk1"/>
                </a:solidFill>
              </a:rPr>
              <a:t>:</a:t>
            </a:r>
            <a:br>
              <a:rPr lang="es-419">
                <a:solidFill>
                  <a:schemeClr val="dk1"/>
                </a:solidFill>
              </a:rPr>
            </a:br>
            <a:r>
              <a:rPr lang="es-419">
                <a:solidFill>
                  <a:schemeClr val="dk1"/>
                </a:solidFill>
              </a:rPr>
              <a:t>Dado que el esquema es explícito y público, las herramientas como GraphiQL y Apollo Studio permiten explorar y documentar la API automáticamente.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Cómo Funciona GraphQL</a:t>
            </a:r>
            <a:endParaRPr sz="1300" b="1">
              <a:solidFill>
                <a:schemeClr val="dk1"/>
              </a:solidFill>
            </a:endParaRPr>
          </a:p>
          <a:p>
            <a:pPr marL="0" lvl="0" indent="0" algn="l" rtl="0">
              <a:spcBef>
                <a:spcPts val="400"/>
              </a:spcBef>
              <a:spcAft>
                <a:spcPts val="0"/>
              </a:spcAft>
              <a:buNone/>
            </a:pPr>
            <a:r>
              <a:rPr lang="es-419" b="1">
                <a:solidFill>
                  <a:schemeClr val="dk1"/>
                </a:solidFill>
              </a:rPr>
              <a:t>Esquema</a:t>
            </a:r>
            <a:r>
              <a:rPr lang="es-419">
                <a:solidFill>
                  <a:schemeClr val="dk1"/>
                </a:solidFill>
              </a:rPr>
              <a:t>:</a:t>
            </a:r>
            <a:br>
              <a:rPr lang="es-419">
                <a:solidFill>
                  <a:schemeClr val="dk1"/>
                </a:solidFill>
              </a:rPr>
            </a:br>
            <a:r>
              <a:rPr lang="es-419">
                <a:solidFill>
                  <a:schemeClr val="dk1"/>
                </a:solidFill>
              </a:rPr>
              <a:t>El servidor define un esquema que describe los datos disponibles, sus tipos y relaciones. Por ejemplo:</a:t>
            </a:r>
            <a:br>
              <a:rPr lang="es-419">
                <a:solidFill>
                  <a:schemeClr val="dk1"/>
                </a:solidFill>
              </a:rPr>
            </a:br>
            <a:r>
              <a:rPr lang="es-419">
                <a:solidFill>
                  <a:schemeClr val="dk1"/>
                </a:solidFill>
              </a:rPr>
              <a:t>graphql</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type User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 ID!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name: String!</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email: String</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tasks: [Task]</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type Task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 ID!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title: String!</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completed: Boolean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type Query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users: [User]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user(id: ID!): User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0" lvl="0" indent="0" algn="l" rtl="0">
              <a:spcBef>
                <a:spcPts val="1200"/>
              </a:spcBef>
              <a:spcAft>
                <a:spcPts val="0"/>
              </a:spcAft>
              <a:buNone/>
            </a:pPr>
            <a:r>
              <a:rPr lang="es-419" b="1">
                <a:solidFill>
                  <a:schemeClr val="dk1"/>
                </a:solidFill>
              </a:rPr>
              <a:t>Consultas</a:t>
            </a:r>
            <a:r>
              <a:rPr lang="es-419">
                <a:solidFill>
                  <a:schemeClr val="dk1"/>
                </a:solidFill>
              </a:rPr>
              <a:t>:</a:t>
            </a:r>
            <a:br>
              <a:rPr lang="es-419">
                <a:solidFill>
                  <a:schemeClr val="dk1"/>
                </a:solidFill>
              </a:rPr>
            </a:br>
            <a:r>
              <a:rPr lang="es-419">
                <a:solidFill>
                  <a:schemeClr val="dk1"/>
                </a:solidFill>
              </a:rPr>
              <a:t>Los clientes escriben consultas especificando exactamente los datos que necesitan. Ejemplo:</a:t>
            </a:r>
            <a:br>
              <a:rPr lang="es-419">
                <a:solidFill>
                  <a:schemeClr val="dk1"/>
                </a:solidFill>
              </a:rPr>
            </a:br>
            <a:r>
              <a:rPr lang="es-419">
                <a:solidFill>
                  <a:schemeClr val="dk1"/>
                </a:solidFill>
              </a:rPr>
              <a:t>graphql</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query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user(id: "1")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name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email</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tasks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title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completed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chemeClr val="dk1"/>
                </a:solidFill>
              </a:rPr>
              <a:t>Respuesta del servidor:</a:t>
            </a:r>
            <a:br>
              <a:rPr lang="es-419">
                <a:solidFill>
                  <a:schemeClr val="dk1"/>
                </a:solidFill>
              </a:rPr>
            </a:br>
            <a:r>
              <a:rPr lang="es-419">
                <a:solidFill>
                  <a:schemeClr val="dk1"/>
                </a:solidFill>
              </a:rPr>
              <a:t>json</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"data":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"user":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"name": "Juan",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"email": "juan@example.com",</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"tasks":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"title": "Comprar leche", "completed": true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"title": "Estudiar GraphQL", "completed": false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0" lvl="0" indent="0" algn="l" rtl="0">
              <a:spcBef>
                <a:spcPts val="1200"/>
              </a:spcBef>
              <a:spcAft>
                <a:spcPts val="0"/>
              </a:spcAft>
              <a:buNone/>
            </a:pPr>
            <a:r>
              <a:rPr lang="es-419" b="1">
                <a:solidFill>
                  <a:schemeClr val="dk1"/>
                </a:solidFill>
              </a:rPr>
              <a:t>Mutaciones</a:t>
            </a:r>
            <a:r>
              <a:rPr lang="es-419">
                <a:solidFill>
                  <a:schemeClr val="dk1"/>
                </a:solidFill>
              </a:rPr>
              <a:t>:</a:t>
            </a:r>
            <a:br>
              <a:rPr lang="es-419">
                <a:solidFill>
                  <a:schemeClr val="dk1"/>
                </a:solidFill>
              </a:rPr>
            </a:br>
            <a:r>
              <a:rPr lang="es-419">
                <a:solidFill>
                  <a:schemeClr val="dk1"/>
                </a:solidFill>
              </a:rPr>
              <a:t>Además de consultar datos, los clientes pueden usar </a:t>
            </a:r>
            <a:r>
              <a:rPr lang="es-419" b="1">
                <a:solidFill>
                  <a:schemeClr val="dk1"/>
                </a:solidFill>
              </a:rPr>
              <a:t>mutaciones</a:t>
            </a:r>
            <a:r>
              <a:rPr lang="es-419">
                <a:solidFill>
                  <a:schemeClr val="dk1"/>
                </a:solidFill>
              </a:rPr>
              <a:t> para modificar datos en el servidor. Ejemplo:</a:t>
            </a:r>
            <a:br>
              <a:rPr lang="es-419">
                <a:solidFill>
                  <a:schemeClr val="dk1"/>
                </a:solidFill>
              </a:rPr>
            </a:br>
            <a:r>
              <a:rPr lang="es-419">
                <a:solidFill>
                  <a:schemeClr val="dk1"/>
                </a:solidFill>
              </a:rPr>
              <a:t>graphql</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mutation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addTask(userId: "1", title: "Hacer ejercicio")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title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completed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Ventajas de GraphQL</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Optimización de Consultas</a:t>
            </a:r>
            <a:r>
              <a:rPr lang="es-419">
                <a:solidFill>
                  <a:schemeClr val="dk1"/>
                </a:solidFill>
              </a:rPr>
              <a:t>:</a:t>
            </a:r>
            <a:br>
              <a:rPr lang="es-419">
                <a:solidFill>
                  <a:schemeClr val="dk1"/>
                </a:solidFill>
              </a:rPr>
            </a:br>
            <a:r>
              <a:rPr lang="es-419">
                <a:solidFill>
                  <a:schemeClr val="dk1"/>
                </a:solidFill>
              </a:rPr>
              <a:t>Elimina problemas comunes de REST, como: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Over-fetching</a:t>
            </a:r>
            <a:r>
              <a:rPr lang="es-419">
                <a:solidFill>
                  <a:schemeClr val="dk1"/>
                </a:solidFill>
              </a:rPr>
              <a:t>: Obtener datos innecesarios.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Under-fetching</a:t>
            </a:r>
            <a:r>
              <a:rPr lang="es-419">
                <a:solidFill>
                  <a:schemeClr val="dk1"/>
                </a:solidFill>
              </a:rPr>
              <a:t>: Tener que hacer múltiples solicitudes para datos relacionados.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Flexibilidad</a:t>
            </a:r>
            <a:r>
              <a:rPr lang="es-419">
                <a:solidFill>
                  <a:schemeClr val="dk1"/>
                </a:solidFill>
              </a:rPr>
              <a:t>:</a:t>
            </a:r>
            <a:br>
              <a:rPr lang="es-419">
                <a:solidFill>
                  <a:schemeClr val="dk1"/>
                </a:solidFill>
              </a:rPr>
            </a:br>
            <a:r>
              <a:rPr lang="es-419">
                <a:solidFill>
                  <a:schemeClr val="dk1"/>
                </a:solidFill>
              </a:rPr>
              <a:t>El cliente decide qué datos necesita, lo que facilita el consumo desde diferentes plataformas (web, móvil, etc.).</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Unificado y Escalable</a:t>
            </a:r>
            <a:r>
              <a:rPr lang="es-419">
                <a:solidFill>
                  <a:schemeClr val="dk1"/>
                </a:solidFill>
              </a:rPr>
              <a:t>:</a:t>
            </a:r>
            <a:br>
              <a:rPr lang="es-419">
                <a:solidFill>
                  <a:schemeClr val="dk1"/>
                </a:solidFill>
              </a:rPr>
            </a:br>
            <a:r>
              <a:rPr lang="es-419">
                <a:solidFill>
                  <a:schemeClr val="dk1"/>
                </a:solidFill>
              </a:rPr>
              <a:t>Ideal para sistemas donde los datos provienen de múltiples fuentes, ya que GraphQL puede actuar como una capa de orquestación para consultar diferentes sistemas.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Fácil de Evolucionar</a:t>
            </a:r>
            <a:r>
              <a:rPr lang="es-419">
                <a:solidFill>
                  <a:schemeClr val="dk1"/>
                </a:solidFill>
              </a:rPr>
              <a:t>:</a:t>
            </a:r>
            <a:br>
              <a:rPr lang="es-419">
                <a:solidFill>
                  <a:schemeClr val="dk1"/>
                </a:solidFill>
              </a:rPr>
            </a:br>
            <a:r>
              <a:rPr lang="es-419">
                <a:solidFill>
                  <a:schemeClr val="dk1"/>
                </a:solidFill>
              </a:rPr>
              <a:t>Se pueden añadir nuevos campos y tipos al esquema sin afectar a los clientes existentes, ya que las consultas solo obtienen lo que piden.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Herramientas de Desarrollo</a:t>
            </a:r>
            <a:r>
              <a:rPr lang="es-419">
                <a:solidFill>
                  <a:schemeClr val="dk1"/>
                </a:solidFill>
              </a:rPr>
              <a:t>:</a:t>
            </a:r>
            <a:br>
              <a:rPr lang="es-419">
                <a:solidFill>
                  <a:schemeClr val="dk1"/>
                </a:solidFill>
              </a:rPr>
            </a:br>
            <a:r>
              <a:rPr lang="es-419">
                <a:solidFill>
                  <a:schemeClr val="dk1"/>
                </a:solidFill>
              </a:rPr>
              <a:t>Las herramientas como GraphiQL permiten probar consultas, explorar esquemas y documentar automáticamente la API.</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Desventajas de GraphQL</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Complejidad en el Servidor</a:t>
            </a:r>
            <a:r>
              <a:rPr lang="es-419">
                <a:solidFill>
                  <a:schemeClr val="dk1"/>
                </a:solidFill>
              </a:rPr>
              <a:t>:</a:t>
            </a:r>
            <a:br>
              <a:rPr lang="es-419">
                <a:solidFill>
                  <a:schemeClr val="dk1"/>
                </a:solidFill>
              </a:rPr>
            </a:br>
            <a:r>
              <a:rPr lang="es-419">
                <a:solidFill>
                  <a:schemeClr val="dk1"/>
                </a:solidFill>
              </a:rPr>
              <a:t>Implementar y optimizar un servidor GraphQL puede ser más complejo, especialmente para consultas anidadas que requieren acceder a múltiples fuentes de datos.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Curva de Aprendizaje</a:t>
            </a:r>
            <a:r>
              <a:rPr lang="es-419">
                <a:solidFill>
                  <a:schemeClr val="dk1"/>
                </a:solidFill>
              </a:rPr>
              <a:t>:</a:t>
            </a:r>
            <a:br>
              <a:rPr lang="es-419">
                <a:solidFill>
                  <a:schemeClr val="dk1"/>
                </a:solidFill>
              </a:rPr>
            </a:br>
            <a:r>
              <a:rPr lang="es-419">
                <a:solidFill>
                  <a:schemeClr val="dk1"/>
                </a:solidFill>
              </a:rPr>
              <a:t>Si bien es poderoso, GraphQL tiene una sintaxis y un enfoque que pueden ser desafiantes para desarrolladores acostumbrados a REST.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Costos de Rendimiento</a:t>
            </a:r>
            <a:r>
              <a:rPr lang="es-419">
                <a:solidFill>
                  <a:schemeClr val="dk1"/>
                </a:solidFill>
              </a:rPr>
              <a:t>:</a:t>
            </a:r>
            <a:br>
              <a:rPr lang="es-419">
                <a:solidFill>
                  <a:schemeClr val="dk1"/>
                </a:solidFill>
              </a:rPr>
            </a:br>
            <a:r>
              <a:rPr lang="es-419">
                <a:solidFill>
                  <a:schemeClr val="dk1"/>
                </a:solidFill>
              </a:rPr>
              <a:t>Si no se gestiona adecuadamente, los clientes pueden realizar consultas demasiado grandes o costosas, impactando el rendimiento del servidor.</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Caché</a:t>
            </a:r>
            <a:r>
              <a:rPr lang="es-419">
                <a:solidFill>
                  <a:schemeClr val="dk1"/>
                </a:solidFill>
              </a:rPr>
              <a:t>:</a:t>
            </a:r>
            <a:br>
              <a:rPr lang="es-419">
                <a:solidFill>
                  <a:schemeClr val="dk1"/>
                </a:solidFill>
              </a:rPr>
            </a:br>
            <a:r>
              <a:rPr lang="es-419">
                <a:solidFill>
                  <a:schemeClr val="dk1"/>
                </a:solidFill>
              </a:rPr>
              <a:t>REST aprovecha la caché HTTP basada en URL, algo que no es tan directo con GraphQL debido a su único endpoint.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Casos de Uso Ideal para GraphQL</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Aplicaciones con Frontends Diversos</a:t>
            </a:r>
            <a:r>
              <a:rPr lang="es-419">
                <a:solidFill>
                  <a:schemeClr val="dk1"/>
                </a:solidFill>
              </a:rPr>
              <a:t>:</a:t>
            </a:r>
            <a:br>
              <a:rPr lang="es-419">
                <a:solidFill>
                  <a:schemeClr val="dk1"/>
                </a:solidFill>
              </a:rPr>
            </a:br>
            <a:r>
              <a:rPr lang="es-419">
                <a:solidFill>
                  <a:schemeClr val="dk1"/>
                </a:solidFill>
              </a:rPr>
              <a:t>Si tienes múltiples clientes (web, móvil, smartwatch), GraphQL es perfecto porque cada cliente puede solicitar solo lo que necesita.</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APIs Agregadoras</a:t>
            </a:r>
            <a:r>
              <a:rPr lang="es-419">
                <a:solidFill>
                  <a:schemeClr val="dk1"/>
                </a:solidFill>
              </a:rPr>
              <a:t>:</a:t>
            </a:r>
            <a:br>
              <a:rPr lang="es-419">
                <a:solidFill>
                  <a:schemeClr val="dk1"/>
                </a:solidFill>
              </a:rPr>
            </a:br>
            <a:r>
              <a:rPr lang="es-419">
                <a:solidFill>
                  <a:schemeClr val="dk1"/>
                </a:solidFill>
              </a:rPr>
              <a:t>Si tu aplicación consulta múltiples sistemas (bases de datos, APIs externas, etc.), GraphQL facilita la unificación de datos.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Iteración Rápida en el Desarrollo</a:t>
            </a:r>
            <a:r>
              <a:rPr lang="es-419">
                <a:solidFill>
                  <a:schemeClr val="dk1"/>
                </a:solidFill>
              </a:rPr>
              <a:t>:</a:t>
            </a:r>
            <a:br>
              <a:rPr lang="es-419">
                <a:solidFill>
                  <a:schemeClr val="dk1"/>
                </a:solidFill>
              </a:rPr>
            </a:br>
            <a:r>
              <a:rPr lang="es-419">
                <a:solidFill>
                  <a:schemeClr val="dk1"/>
                </a:solidFill>
              </a:rPr>
              <a:t>La capacidad de los clientes para definir sus propias consultas permite que los equipos frontend y backend trabajen de manera más independiente.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Tecnologías y Herramientas Comunes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Servidor GraphQL</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Apollo Server</a:t>
            </a:r>
            <a:r>
              <a:rPr lang="es-419">
                <a:solidFill>
                  <a:schemeClr val="dk1"/>
                </a:solidFill>
              </a:rPr>
              <a:t>: Popular en Node.js.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GraphQL Java</a:t>
            </a:r>
            <a:r>
              <a:rPr lang="es-419">
                <a:solidFill>
                  <a:schemeClr val="dk1"/>
                </a:solidFill>
              </a:rPr>
              <a:t>: Para aplicaciones basadas en Java.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Graphene</a:t>
            </a:r>
            <a:r>
              <a:rPr lang="es-419">
                <a:solidFill>
                  <a:schemeClr val="dk1"/>
                </a:solidFill>
              </a:rPr>
              <a:t>: Framework para Python.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Cliente GraphQL</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Apollo Client</a:t>
            </a:r>
            <a:r>
              <a:rPr lang="es-419">
                <a:solidFill>
                  <a:schemeClr val="dk1"/>
                </a:solidFill>
              </a:rPr>
              <a:t>: Integración con aplicaciones React, Angular, Vue, etc.</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Relay</a:t>
            </a:r>
            <a:r>
              <a:rPr lang="es-419">
                <a:solidFill>
                  <a:schemeClr val="dk1"/>
                </a:solidFill>
              </a:rPr>
              <a:t>: Cliente avanzado diseñado por Meta.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Exploradores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GraphiQL</a:t>
            </a:r>
            <a:r>
              <a:rPr lang="es-419">
                <a:solidFill>
                  <a:schemeClr val="dk1"/>
                </a:solidFill>
              </a:rPr>
              <a:t> y </a:t>
            </a:r>
            <a:r>
              <a:rPr lang="es-419" b="1">
                <a:solidFill>
                  <a:schemeClr val="dk1"/>
                </a:solidFill>
              </a:rPr>
              <a:t>Playground</a:t>
            </a:r>
            <a:r>
              <a:rPr lang="es-419">
                <a:solidFill>
                  <a:schemeClr val="dk1"/>
                </a:solidFill>
              </a:rPr>
              <a:t>: Para probar y depurar consultas.</a:t>
            </a:r>
            <a:endParaRPr>
              <a:solidFill>
                <a:schemeClr val="dk1"/>
              </a:solidFill>
            </a:endParaRPr>
          </a:p>
          <a:p>
            <a:pPr marL="0" lvl="0" indent="0" algn="l" rtl="0">
              <a:spcBef>
                <a:spcPts val="1200"/>
              </a:spcBef>
              <a:spcAft>
                <a:spcPts val="0"/>
              </a:spcAft>
              <a:buNone/>
            </a:pPr>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Aspecto               GraphQL                                   REST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 ----------------------------------------- ----------------------------------------------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Endpoint              Un solo endpoint (/graphql)               Múltiples endpoints (/users, /tasks)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Consulta              Específica, personalizada por cliente     Predeterminada por el servidor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Sobrecarga de Datos   Evita over-fetching y under-fetching      Puede incluir datos innecesarios o faltantes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Documentación         Generada automáticamente por el esquema   Manual o separada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s-419">
                <a:latin typeface="Consolas"/>
                <a:ea typeface="Consolas"/>
                <a:cs typeface="Consolas"/>
                <a:sym typeface="Consolas"/>
              </a:rPr>
              <a:t>  Flexibilidad          Alta: Cliente decide qué datos obtener    Limitada por el diseño del servidor       </a:t>
            </a:r>
            <a:r>
              <a:rPr lang="es-419"/>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fa53d5c77_0_5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1fa53d5c77_0_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fa53d5c77_0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1fa53d5c77_0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b="1">
                <a:solidFill>
                  <a:schemeClr val="dk1"/>
                </a:solidFill>
              </a:rPr>
              <a:t>REST</a:t>
            </a:r>
            <a:r>
              <a:rPr lang="es-419">
                <a:solidFill>
                  <a:schemeClr val="dk1"/>
                </a:solidFill>
              </a:rPr>
              <a:t> (Representational State Transfer) es un estilo arquitectónico para diseñar sistemas distribuidos, en particular servicios web. Fue introducido por </a:t>
            </a:r>
            <a:r>
              <a:rPr lang="es-419" b="1">
                <a:solidFill>
                  <a:schemeClr val="dk1"/>
                </a:solidFill>
              </a:rPr>
              <a:t>Roy Fielding</a:t>
            </a:r>
            <a:r>
              <a:rPr lang="es-419">
                <a:solidFill>
                  <a:schemeClr val="dk1"/>
                </a:solidFill>
              </a:rPr>
              <a:t> en su disertación de doctorado en el año 2000 y desde entonces ha sido ampliamente adoptado debido a su simplicidad, flexibilidad y uso eficiente de los estándares existentes de la web, como HTTP.</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1fa53d5c77_0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1fa53d5c77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REST no es un protocolo, sino un conjunto de principios que deben seguirse para que una API sea "RESTful". Estos principios son:</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Arquitectura Cliente-Servidor</a:t>
            </a:r>
            <a:r>
              <a:rPr lang="es-419">
                <a:solidFill>
                  <a:schemeClr val="dk1"/>
                </a:solidFill>
              </a:rPr>
              <a:t>:</a:t>
            </a:r>
            <a:br>
              <a:rPr lang="es-419">
                <a:solidFill>
                  <a:schemeClr val="dk1"/>
                </a:solidFill>
              </a:rPr>
            </a:br>
            <a:r>
              <a:rPr lang="es-419">
                <a:solidFill>
                  <a:schemeClr val="dk1"/>
                </a:solidFill>
              </a:rPr>
              <a:t>Separa las preocupaciones del cliente (interfaz de usuario) y el servidor (gestión de datos y lógica). Esto mejora la escalabilidad y la flexibilidad.</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Sin Estado</a:t>
            </a:r>
            <a:r>
              <a:rPr lang="es-419">
                <a:solidFill>
                  <a:schemeClr val="dk1"/>
                </a:solidFill>
              </a:rPr>
              <a:t>:</a:t>
            </a:r>
            <a:br>
              <a:rPr lang="es-419">
                <a:solidFill>
                  <a:schemeClr val="dk1"/>
                </a:solidFill>
              </a:rPr>
            </a:br>
            <a:r>
              <a:rPr lang="es-419">
                <a:solidFill>
                  <a:schemeClr val="dk1"/>
                </a:solidFill>
              </a:rPr>
              <a:t>Cada solicitud enviada por el cliente al servidor debe contener toda la información necesaria para procesarla. El servidor no almacena ningún estado sobre el cliente entre solicitudes.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Interfaz Uniforme</a:t>
            </a:r>
            <a:r>
              <a:rPr lang="es-419">
                <a:solidFill>
                  <a:schemeClr val="dk1"/>
                </a:solidFill>
              </a:rPr>
              <a:t>:</a:t>
            </a:r>
            <a:br>
              <a:rPr lang="es-419">
                <a:solidFill>
                  <a:schemeClr val="dk1"/>
                </a:solidFill>
              </a:rPr>
            </a:br>
            <a:r>
              <a:rPr lang="es-419">
                <a:solidFill>
                  <a:schemeClr val="dk1"/>
                </a:solidFill>
              </a:rPr>
              <a:t>Define una forma estándar de interactuar con los recursos, facilitando la interoperabilidad. Esto incluye el uso de: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Identificación de recursos</a:t>
            </a:r>
            <a:r>
              <a:rPr lang="es-419">
                <a:solidFill>
                  <a:schemeClr val="dk1"/>
                </a:solidFill>
              </a:rPr>
              <a:t> a través de URLs.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Representación de recursos</a:t>
            </a:r>
            <a:r>
              <a:rPr lang="es-419">
                <a:solidFill>
                  <a:schemeClr val="dk1"/>
                </a:solidFill>
              </a:rPr>
              <a:t> en formatos como JSON o XML.</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Verbos HTTP</a:t>
            </a:r>
            <a:r>
              <a:rPr lang="es-419">
                <a:solidFill>
                  <a:schemeClr val="dk1"/>
                </a:solidFill>
              </a:rPr>
              <a:t> para realizar operaciones (GET, POST, PUT, DELETE, etc.).</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Sistema en Capas</a:t>
            </a:r>
            <a:r>
              <a:rPr lang="es-419">
                <a:solidFill>
                  <a:schemeClr val="dk1"/>
                </a:solidFill>
              </a:rPr>
              <a:t>:</a:t>
            </a:r>
            <a:br>
              <a:rPr lang="es-419">
                <a:solidFill>
                  <a:schemeClr val="dk1"/>
                </a:solidFill>
              </a:rPr>
            </a:br>
            <a:r>
              <a:rPr lang="es-419">
                <a:solidFill>
                  <a:schemeClr val="dk1"/>
                </a:solidFill>
              </a:rPr>
              <a:t>Un cliente no necesita saber si se está conectando directamente al servidor o a un intermediario (como una caché o un balanceador de carga). Esto mejora la escalabilidad y la seguridad.</a:t>
            </a:r>
            <a:endParaRPr>
              <a:solidFill>
                <a:schemeClr val="dk1"/>
              </a:solidFill>
            </a:endParaRPr>
          </a:p>
          <a:p>
            <a:pPr marL="0" lvl="0" indent="0" algn="l" rtl="0">
              <a:spcBef>
                <a:spcPts val="1200"/>
              </a:spcBef>
              <a:spcAft>
                <a:spcPts val="0"/>
              </a:spcAft>
              <a:buNone/>
            </a:pPr>
            <a:r>
              <a:rPr lang="es-419" sz="1200">
                <a:solidFill>
                  <a:srgbClr val="474747"/>
                </a:solidFill>
                <a:highlight>
                  <a:srgbClr val="FFFFFF"/>
                </a:highlight>
              </a:rPr>
              <a:t>Un recurso web es </a:t>
            </a:r>
            <a:r>
              <a:rPr lang="es-419" sz="1200">
                <a:solidFill>
                  <a:srgbClr val="040C28"/>
                </a:solidFill>
                <a:highlight>
                  <a:srgbClr val="D3E3FD"/>
                </a:highlight>
              </a:rPr>
              <a:t>la fuente de contenido web</a:t>
            </a:r>
            <a:r>
              <a:rPr lang="es-419" sz="1200">
                <a:solidFill>
                  <a:srgbClr val="474747"/>
                </a:solidFill>
                <a:highlight>
                  <a:srgbClr val="FFFFFF"/>
                </a:highlight>
              </a:rPr>
              <a:t> . El tipo más simple de recurso web es un archivo estático en el sistema de archivos del servidor web. Estos archivos pueden contener cualquier cosa: pueden ser archivos de texto, archivos HTML, archivos de Microsoft Word, archivos de Adobe Acrobat, archivos de imagen JPEG, archivos de película AVI o cualquier otro formato que se te ocurra.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1fa53d5c77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1fa53d5c77_0_5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Identificación de Recursos</a:t>
            </a:r>
            <a:r>
              <a:rPr lang="es-419">
                <a:solidFill>
                  <a:schemeClr val="dk1"/>
                </a:solidFill>
              </a:rPr>
              <a:t>:</a:t>
            </a:r>
            <a:br>
              <a:rPr lang="es-419">
                <a:solidFill>
                  <a:schemeClr val="dk1"/>
                </a:solidFill>
              </a:rPr>
            </a:br>
            <a:r>
              <a:rPr lang="es-419">
                <a:solidFill>
                  <a:schemeClr val="dk1"/>
                </a:solidFill>
              </a:rPr>
              <a:t>Los recursos (entidades, datos, etc.) se representan como URI (Uniform Resource Identifiers). Por ejemplo:</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rgbClr val="188038"/>
                </a:solidFill>
                <a:latin typeface="Roboto Mono"/>
                <a:ea typeface="Roboto Mono"/>
                <a:cs typeface="Roboto Mono"/>
                <a:sym typeface="Roboto Mono"/>
              </a:rPr>
              <a:t>/users</a:t>
            </a:r>
            <a:r>
              <a:rPr lang="es-419">
                <a:solidFill>
                  <a:schemeClr val="dk1"/>
                </a:solidFill>
              </a:rPr>
              <a:t> podría representar todos los usuarios.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rgbClr val="188038"/>
                </a:solidFill>
                <a:latin typeface="Roboto Mono"/>
                <a:ea typeface="Roboto Mono"/>
                <a:cs typeface="Roboto Mono"/>
                <a:sym typeface="Roboto Mono"/>
              </a:rPr>
              <a:t>/users/123</a:t>
            </a:r>
            <a:r>
              <a:rPr lang="es-419">
                <a:solidFill>
                  <a:schemeClr val="dk1"/>
                </a:solidFill>
              </a:rPr>
              <a:t> representaría al usuario con ID 123.</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1fa53d5c77_0_5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1fa53d5c77_0_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1fa53d5c77_0_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1fa53d5c77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Un recurso web es la fuente de contenido web . El tipo más simple de recurso web es un archivo estático en el sistema de archivos del servidor web. Estos archivos pueden contener cualquier cosa: pueden ser archivos de texto, archivos HTML, archivos de Microsoft Word, archivos de Adobe Acrobat, archivos de imagen JPEG, archivos de película AVI o cualquier otro formato que se te ocurra.</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b="1">
                <a:solidFill>
                  <a:schemeClr val="dk1"/>
                </a:solidFill>
              </a:rPr>
              <a:t>Representación de Datos</a:t>
            </a:r>
            <a:r>
              <a:rPr lang="es-419">
                <a:solidFill>
                  <a:schemeClr val="dk1"/>
                </a:solidFill>
              </a:rPr>
              <a:t>:</a:t>
            </a:r>
            <a:endParaRPr>
              <a:solidFill>
                <a:schemeClr val="dk1"/>
              </a:solidFill>
            </a:endParaRPr>
          </a:p>
          <a:p>
            <a:pPr marL="0" lvl="0" indent="0" algn="l" rtl="0">
              <a:spcBef>
                <a:spcPts val="0"/>
              </a:spcBef>
              <a:spcAft>
                <a:spcPts val="0"/>
              </a:spcAft>
              <a:buNone/>
            </a:pPr>
            <a:r>
              <a:rPr lang="es-419">
                <a:solidFill>
                  <a:schemeClr val="dk1"/>
                </a:solidFill>
              </a:rPr>
              <a:t>Los datos de los recursos se envían y reciben en formatos como </a:t>
            </a:r>
            <a:r>
              <a:rPr lang="es-419" b="1">
                <a:solidFill>
                  <a:schemeClr val="dk1"/>
                </a:solidFill>
              </a:rPr>
              <a:t>JSON</a:t>
            </a:r>
            <a:r>
              <a:rPr lang="es-419">
                <a:solidFill>
                  <a:schemeClr val="dk1"/>
                </a:solidFill>
              </a:rPr>
              <a:t> o </a:t>
            </a:r>
            <a:r>
              <a:rPr lang="es-419" b="1">
                <a:solidFill>
                  <a:schemeClr val="dk1"/>
                </a:solidFill>
              </a:rPr>
              <a:t>XML</a:t>
            </a:r>
            <a:r>
              <a:rPr lang="es-419">
                <a:solidFill>
                  <a:schemeClr val="dk1"/>
                </a:solidFill>
              </a:rPr>
              <a:t>. JSON es el más popular debido a su simplicidad y compatibilidad con JavaScript.</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s-419"/>
              <a:t>Por ejemplo, para la URI /product/123, que representa al producto con id 123, podríamos obtener la representación del mismo en JSON si la petición la realizamos con el encabezado </a:t>
            </a:r>
            <a:r>
              <a:rPr lang="es-419" i="1"/>
              <a:t>Accept : application/json</a:t>
            </a:r>
            <a:r>
              <a:rPr lang="es-419"/>
              <a:t>, pero podríamos obtener su representación en XML si cambiamos el contenido del encabezado.</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1fa53d5c77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1fa53d5c77_0_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1fa53d5c77_0_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1fa53d5c77_0_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JSON</a:t>
            </a:r>
            <a:r>
              <a:rPr lang="es-419">
                <a:solidFill>
                  <a:schemeClr val="dk1"/>
                </a:solidFill>
              </a:rPr>
              <a:t> (JavaScript Object Notation) es un formato ligero para intercambiar datos. Se basa en una estructura simple de texto que es fácil de leer tanto para humanos como para máquinas. JSON se utiliza comúnmente para transmitir datos entre un servidor y un cliente (por ejemplo, entre una API REST y una aplicación web).</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Características de JSON</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Basado en Texto</a:t>
            </a:r>
            <a:r>
              <a:rPr lang="es-419">
                <a:solidFill>
                  <a:schemeClr val="dk1"/>
                </a:solidFill>
              </a:rPr>
              <a:t>:</a:t>
            </a:r>
            <a:br>
              <a:rPr lang="es-419">
                <a:solidFill>
                  <a:schemeClr val="dk1"/>
                </a:solidFill>
              </a:rPr>
            </a:br>
            <a:r>
              <a:rPr lang="es-419">
                <a:solidFill>
                  <a:schemeClr val="dk1"/>
                </a:solidFill>
              </a:rPr>
              <a:t>JSON es un formato de texto plano que utiliza Unicode, lo que lo hace fácilmente legible y portable.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Estructurado</a:t>
            </a:r>
            <a:r>
              <a:rPr lang="es-419">
                <a:solidFill>
                  <a:schemeClr val="dk1"/>
                </a:solidFill>
              </a:rPr>
              <a:t>:</a:t>
            </a:r>
            <a:br>
              <a:rPr lang="es-419">
                <a:solidFill>
                  <a:schemeClr val="dk1"/>
                </a:solidFill>
              </a:rPr>
            </a:br>
            <a:r>
              <a:rPr lang="es-419">
                <a:solidFill>
                  <a:schemeClr val="dk1"/>
                </a:solidFill>
              </a:rPr>
              <a:t>Representa datos como pares clave-valor (similares a objetos en JavaScript) y admite estructuras como listas y anidamientos.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Ligero</a:t>
            </a:r>
            <a:r>
              <a:rPr lang="es-419">
                <a:solidFill>
                  <a:schemeClr val="dk1"/>
                </a:solidFill>
              </a:rPr>
              <a:t>:</a:t>
            </a:r>
            <a:br>
              <a:rPr lang="es-419">
                <a:solidFill>
                  <a:schemeClr val="dk1"/>
                </a:solidFill>
              </a:rPr>
            </a:br>
            <a:r>
              <a:rPr lang="es-419">
                <a:solidFill>
                  <a:schemeClr val="dk1"/>
                </a:solidFill>
              </a:rPr>
              <a:t>Comparado con otros formatos como XML, JSON es más compacto, lo que reduce el tiempo de transmisión.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Independiente del Lenguaje</a:t>
            </a:r>
            <a:r>
              <a:rPr lang="es-419">
                <a:solidFill>
                  <a:schemeClr val="dk1"/>
                </a:solidFill>
              </a:rPr>
              <a:t>:</a:t>
            </a:r>
            <a:br>
              <a:rPr lang="es-419">
                <a:solidFill>
                  <a:schemeClr val="dk1"/>
                </a:solidFill>
              </a:rPr>
            </a:br>
            <a:r>
              <a:rPr lang="es-419">
                <a:solidFill>
                  <a:schemeClr val="dk1"/>
                </a:solidFill>
              </a:rPr>
              <a:t>Aunque JSON deriva de JavaScript, es compatible con prácticamente todos los lenguajes de programación.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Sintaxis de JSON</a:t>
            </a:r>
            <a:endParaRPr sz="1300" b="1">
              <a:solidFill>
                <a:schemeClr val="dk1"/>
              </a:solidFill>
            </a:endParaRPr>
          </a:p>
          <a:p>
            <a:pPr marL="0" lvl="0" indent="0" algn="l" rtl="0">
              <a:spcBef>
                <a:spcPts val="400"/>
              </a:spcBef>
              <a:spcAft>
                <a:spcPts val="0"/>
              </a:spcAft>
              <a:buNone/>
            </a:pPr>
            <a:r>
              <a:rPr lang="es-419" b="1">
                <a:solidFill>
                  <a:schemeClr val="dk1"/>
                </a:solidFill>
              </a:rPr>
              <a:t>Pares Clave-Valor</a:t>
            </a:r>
            <a:r>
              <a:rPr lang="es-419">
                <a:solidFill>
                  <a:schemeClr val="dk1"/>
                </a:solidFill>
              </a:rPr>
              <a:t>:</a:t>
            </a:r>
            <a:br>
              <a:rPr lang="es-419">
                <a:solidFill>
                  <a:schemeClr val="dk1"/>
                </a:solidFill>
              </a:rPr>
            </a:br>
            <a:r>
              <a:rPr lang="es-419">
                <a:solidFill>
                  <a:schemeClr val="dk1"/>
                </a:solidFill>
              </a:rPr>
              <a:t>Los datos se representan como pares clave-valor entre comillas dobles:</a:t>
            </a:r>
            <a:br>
              <a:rPr lang="es-419">
                <a:solidFill>
                  <a:schemeClr val="dk1"/>
                </a:solidFill>
              </a:rPr>
            </a:br>
            <a:r>
              <a:rPr lang="es-419">
                <a:solidFill>
                  <a:schemeClr val="dk1"/>
                </a:solidFill>
              </a:rPr>
              <a:t>json</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 "name": "John", "age": 30 }</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0" lvl="0" indent="0" algn="l" rtl="0">
              <a:spcBef>
                <a:spcPts val="1200"/>
              </a:spcBef>
              <a:spcAft>
                <a:spcPts val="0"/>
              </a:spcAft>
              <a:buNone/>
            </a:pPr>
            <a:r>
              <a:rPr lang="es-419" b="1">
                <a:solidFill>
                  <a:schemeClr val="dk1"/>
                </a:solidFill>
              </a:rPr>
              <a:t>Estructuras Anidadas</a:t>
            </a:r>
            <a:r>
              <a:rPr lang="es-419">
                <a:solidFill>
                  <a:schemeClr val="dk1"/>
                </a:solidFill>
              </a:rPr>
              <a:t>:</a:t>
            </a:r>
            <a:br>
              <a:rPr lang="es-419">
                <a:solidFill>
                  <a:schemeClr val="dk1"/>
                </a:solidFill>
              </a:rPr>
            </a:br>
            <a:r>
              <a:rPr lang="es-419">
                <a:solidFill>
                  <a:schemeClr val="dk1"/>
                </a:solidFill>
              </a:rPr>
              <a:t>JSON permite anidar objetos y arreglos:</a:t>
            </a:r>
            <a:br>
              <a:rPr lang="es-419">
                <a:solidFill>
                  <a:schemeClr val="dk1"/>
                </a:solidFill>
              </a:rPr>
            </a:br>
            <a:r>
              <a:rPr lang="es-419">
                <a:solidFill>
                  <a:schemeClr val="dk1"/>
                </a:solidFill>
              </a:rPr>
              <a:t>json</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"user":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 1,</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"name": "Alice",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"tasks":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"id": 101, "title": "Study JSON", "completed": false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"id": 102, "title": "Do groceries", "completed": true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Tipos de Datos Admitidos</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Strings</a:t>
            </a:r>
            <a:r>
              <a:rPr lang="es-419">
                <a:solidFill>
                  <a:schemeClr val="dk1"/>
                </a:solidFill>
              </a:rPr>
              <a:t>: "Texto"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Números</a:t>
            </a:r>
            <a:r>
              <a:rPr lang="es-419">
                <a:solidFill>
                  <a:schemeClr val="dk1"/>
                </a:solidFill>
              </a:rPr>
              <a:t>: 123, 45.67</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Booleanos</a:t>
            </a:r>
            <a:r>
              <a:rPr lang="es-419">
                <a:solidFill>
                  <a:schemeClr val="dk1"/>
                </a:solidFill>
              </a:rPr>
              <a:t>: </a:t>
            </a:r>
            <a:r>
              <a:rPr lang="es-419">
                <a:solidFill>
                  <a:srgbClr val="188038"/>
                </a:solidFill>
                <a:latin typeface="Roboto Mono"/>
                <a:ea typeface="Roboto Mono"/>
                <a:cs typeface="Roboto Mono"/>
                <a:sym typeface="Roboto Mono"/>
              </a:rPr>
              <a:t>true</a:t>
            </a:r>
            <a:r>
              <a:rPr lang="es-419">
                <a:solidFill>
                  <a:schemeClr val="dk1"/>
                </a:solidFill>
              </a:rPr>
              <a:t>, </a:t>
            </a:r>
            <a:r>
              <a:rPr lang="es-419">
                <a:solidFill>
                  <a:srgbClr val="188038"/>
                </a:solidFill>
                <a:latin typeface="Roboto Mono"/>
                <a:ea typeface="Roboto Mono"/>
                <a:cs typeface="Roboto Mono"/>
                <a:sym typeface="Roboto Mono"/>
              </a:rPr>
              <a:t>false</a:t>
            </a:r>
            <a:endParaRPr>
              <a:solidFill>
                <a:srgbClr val="188038"/>
              </a:solidFill>
              <a:latin typeface="Roboto Mono"/>
              <a:ea typeface="Roboto Mono"/>
              <a:cs typeface="Roboto Mono"/>
              <a:sym typeface="Roboto Mono"/>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Null</a:t>
            </a:r>
            <a:r>
              <a:rPr lang="es-419">
                <a:solidFill>
                  <a:schemeClr val="dk1"/>
                </a:solidFill>
              </a:rPr>
              <a:t>: </a:t>
            </a:r>
            <a:r>
              <a:rPr lang="es-419">
                <a:solidFill>
                  <a:srgbClr val="188038"/>
                </a:solidFill>
                <a:latin typeface="Roboto Mono"/>
                <a:ea typeface="Roboto Mono"/>
                <a:cs typeface="Roboto Mono"/>
                <a:sym typeface="Roboto Mono"/>
              </a:rPr>
              <a:t>null</a:t>
            </a:r>
            <a:endParaRPr>
              <a:solidFill>
                <a:srgbClr val="188038"/>
              </a:solidFill>
              <a:latin typeface="Roboto Mono"/>
              <a:ea typeface="Roboto Mono"/>
              <a:cs typeface="Roboto Mono"/>
              <a:sym typeface="Roboto Mono"/>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Arreglos</a:t>
            </a:r>
            <a:r>
              <a:rPr lang="es-419">
                <a:solidFill>
                  <a:schemeClr val="dk1"/>
                </a:solidFill>
              </a:rPr>
              <a:t>: </a:t>
            </a:r>
            <a:r>
              <a:rPr lang="es-419">
                <a:solidFill>
                  <a:srgbClr val="188038"/>
                </a:solidFill>
                <a:latin typeface="Roboto Mono"/>
                <a:ea typeface="Roboto Mono"/>
                <a:cs typeface="Roboto Mono"/>
                <a:sym typeface="Roboto Mono"/>
              </a:rPr>
              <a:t>[1, 2, 3]</a:t>
            </a:r>
            <a:endParaRPr>
              <a:solidFill>
                <a:srgbClr val="188038"/>
              </a:solidFill>
              <a:latin typeface="Roboto Mono"/>
              <a:ea typeface="Roboto Mono"/>
              <a:cs typeface="Roboto Mono"/>
              <a:sym typeface="Roboto Mono"/>
            </a:endParaRPr>
          </a:p>
          <a:p>
            <a:pPr marL="914400" lvl="1" indent="-298450" algn="l" rtl="0">
              <a:lnSpc>
                <a:spcPct val="115000"/>
              </a:lnSpc>
              <a:spcBef>
                <a:spcPts val="0"/>
              </a:spcBef>
              <a:spcAft>
                <a:spcPts val="0"/>
              </a:spcAft>
              <a:buClr>
                <a:schemeClr val="dk1"/>
              </a:buClr>
              <a:buSzPts val="1100"/>
              <a:buChar char="○"/>
            </a:pPr>
            <a:r>
              <a:rPr lang="es-419" b="1">
                <a:solidFill>
                  <a:schemeClr val="dk1"/>
                </a:solidFill>
              </a:rPr>
              <a:t>Objetos</a:t>
            </a:r>
            <a:r>
              <a:rPr lang="es-419">
                <a:solidFill>
                  <a:schemeClr val="dk1"/>
                </a:solidFill>
              </a:rPr>
              <a:t>: </a:t>
            </a:r>
            <a:r>
              <a:rPr lang="es-419">
                <a:solidFill>
                  <a:srgbClr val="188038"/>
                </a:solidFill>
                <a:latin typeface="Roboto Mono"/>
                <a:ea typeface="Roboto Mono"/>
                <a:cs typeface="Roboto Mono"/>
                <a:sym typeface="Roboto Mono"/>
              </a:rPr>
              <a:t>{ "key": "value" }</a:t>
            </a:r>
            <a:endParaRPr>
              <a:solidFill>
                <a:srgbClr val="188038"/>
              </a:solidFill>
              <a:latin typeface="Roboto Mono"/>
              <a:ea typeface="Roboto Mono"/>
              <a:cs typeface="Roboto Mono"/>
              <a:sym typeface="Roboto Mono"/>
            </a:endParaRPr>
          </a:p>
          <a:p>
            <a:pPr marL="0" lvl="0" indent="0" algn="l" rtl="0">
              <a:lnSpc>
                <a:spcPct val="115000"/>
              </a:lnSpc>
              <a:spcBef>
                <a:spcPts val="1200"/>
              </a:spcBef>
              <a:spcAft>
                <a:spcPts val="0"/>
              </a:spcAft>
              <a:buClr>
                <a:schemeClr val="dk1"/>
              </a:buClr>
              <a:buSzPts val="1100"/>
              <a:buFont typeface="Arial"/>
              <a:buNone/>
            </a:pPr>
            <a:endParaRPr>
              <a:solidFill>
                <a:srgbClr val="188038"/>
              </a:solidFill>
              <a:latin typeface="Roboto Mono"/>
              <a:ea typeface="Roboto Mono"/>
              <a:cs typeface="Roboto Mono"/>
              <a:sym typeface="Roboto Mono"/>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¿Para Qué Sirve JSON?</a:t>
            </a:r>
            <a:endParaRPr sz="1300" b="1">
              <a:solidFill>
                <a:schemeClr val="dk1"/>
              </a:solidFill>
            </a:endParaRPr>
          </a:p>
          <a:p>
            <a:pPr marL="0" lvl="0" indent="0" algn="l" rtl="0">
              <a:spcBef>
                <a:spcPts val="400"/>
              </a:spcBef>
              <a:spcAft>
                <a:spcPts val="0"/>
              </a:spcAft>
              <a:buNone/>
            </a:pPr>
            <a:r>
              <a:rPr lang="es-419" b="1">
                <a:solidFill>
                  <a:schemeClr val="dk1"/>
                </a:solidFill>
              </a:rPr>
              <a:t>Intercambio de Datos en APIs</a:t>
            </a:r>
            <a:r>
              <a:rPr lang="es-419">
                <a:solidFill>
                  <a:schemeClr val="dk1"/>
                </a:solidFill>
              </a:rPr>
              <a:t>:</a:t>
            </a:r>
            <a:br>
              <a:rPr lang="es-419">
                <a:solidFill>
                  <a:schemeClr val="dk1"/>
                </a:solidFill>
              </a:rPr>
            </a:br>
            <a:r>
              <a:rPr lang="es-419">
                <a:solidFill>
                  <a:schemeClr val="dk1"/>
                </a:solidFill>
              </a:rPr>
              <a:t>JSON es el formato más común para enviar y recibir datos en servicios web (REST, GraphQL, etc.).</a:t>
            </a:r>
            <a:br>
              <a:rPr lang="es-419">
                <a:solidFill>
                  <a:schemeClr val="dk1"/>
                </a:solidFill>
              </a:rPr>
            </a:br>
            <a:r>
              <a:rPr lang="es-419">
                <a:solidFill>
                  <a:schemeClr val="dk1"/>
                </a:solidFill>
              </a:rPr>
              <a:t>Ejemplo: Una API devuelve información de un usuario en JSON:</a:t>
            </a:r>
            <a:br>
              <a:rPr lang="es-419">
                <a:solidFill>
                  <a:schemeClr val="dk1"/>
                </a:solidFill>
              </a:rPr>
            </a:br>
            <a:r>
              <a:rPr lang="es-419">
                <a:solidFill>
                  <a:schemeClr val="dk1"/>
                </a:solidFill>
              </a:rPr>
              <a:t>json</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 1,</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"name": "Maria",</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"email": "maria@example.com"</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Configuraciones</a:t>
            </a:r>
            <a:r>
              <a:rPr lang="es-419">
                <a:solidFill>
                  <a:schemeClr val="dk1"/>
                </a:solidFill>
              </a:rPr>
              <a:t>:</a:t>
            </a:r>
            <a:br>
              <a:rPr lang="es-419">
                <a:solidFill>
                  <a:schemeClr val="dk1"/>
                </a:solidFill>
              </a:rPr>
            </a:br>
            <a:r>
              <a:rPr lang="es-419">
                <a:solidFill>
                  <a:schemeClr val="dk1"/>
                </a:solidFill>
              </a:rPr>
              <a:t>JSON se utiliza para almacenar configuraciones en sistemas o aplicaciones (por ejemplo, archivos </a:t>
            </a:r>
            <a:r>
              <a:rPr lang="es-419">
                <a:solidFill>
                  <a:srgbClr val="188038"/>
                </a:solidFill>
                <a:latin typeface="Roboto Mono"/>
                <a:ea typeface="Roboto Mono"/>
                <a:cs typeface="Roboto Mono"/>
                <a:sym typeface="Roboto Mono"/>
              </a:rPr>
              <a:t>package.json</a:t>
            </a:r>
            <a:r>
              <a:rPr lang="es-419">
                <a:solidFill>
                  <a:schemeClr val="dk1"/>
                </a:solidFill>
              </a:rPr>
              <a:t> en proyectos Node.js).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Base de Datos</a:t>
            </a:r>
            <a:r>
              <a:rPr lang="es-419">
                <a:solidFill>
                  <a:schemeClr val="dk1"/>
                </a:solidFill>
              </a:rPr>
              <a:t>:</a:t>
            </a:r>
            <a:br>
              <a:rPr lang="es-419">
                <a:solidFill>
                  <a:schemeClr val="dk1"/>
                </a:solidFill>
              </a:rPr>
            </a:br>
            <a:r>
              <a:rPr lang="es-419">
                <a:solidFill>
                  <a:schemeClr val="dk1"/>
                </a:solidFill>
              </a:rPr>
              <a:t>Algunas bases de datos como </a:t>
            </a:r>
            <a:r>
              <a:rPr lang="es-419" b="1">
                <a:solidFill>
                  <a:schemeClr val="dk1"/>
                </a:solidFill>
              </a:rPr>
              <a:t>MongoDB</a:t>
            </a:r>
            <a:r>
              <a:rPr lang="es-419">
                <a:solidFill>
                  <a:schemeClr val="dk1"/>
                </a:solidFill>
              </a:rPr>
              <a:t> o </a:t>
            </a:r>
            <a:r>
              <a:rPr lang="es-419" b="1">
                <a:solidFill>
                  <a:schemeClr val="dk1"/>
                </a:solidFill>
              </a:rPr>
              <a:t>Firebase</a:t>
            </a:r>
            <a:r>
              <a:rPr lang="es-419">
                <a:solidFill>
                  <a:schemeClr val="dk1"/>
                </a:solidFill>
              </a:rPr>
              <a:t> almacenan datos en formato JSON.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Compatibilidad con JavaScript</a:t>
            </a:r>
            <a:r>
              <a:rPr lang="es-419">
                <a:solidFill>
                  <a:schemeClr val="dk1"/>
                </a:solidFill>
              </a:rPr>
              <a:t>:</a:t>
            </a:r>
            <a:br>
              <a:rPr lang="es-419">
                <a:solidFill>
                  <a:schemeClr val="dk1"/>
                </a:solidFill>
              </a:rPr>
            </a:br>
            <a:r>
              <a:rPr lang="es-419">
                <a:solidFill>
                  <a:schemeClr val="dk1"/>
                </a:solidFill>
              </a:rPr>
              <a:t>JSON es nativo de JavaScript, por lo que es ideal para el frontend en aplicaciones web.</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Ventajas de JSON</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b="1">
                <a:solidFill>
                  <a:schemeClr val="dk1"/>
                </a:solidFill>
              </a:rPr>
              <a:t>Simplicidad</a:t>
            </a:r>
            <a:r>
              <a:rPr lang="es-419">
                <a:solidFill>
                  <a:schemeClr val="dk1"/>
                </a:solidFill>
              </a:rPr>
              <a:t>: Fácil de leer y escribir para desarrolladores.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Compatibilidad</a:t>
            </a:r>
            <a:r>
              <a:rPr lang="es-419">
                <a:solidFill>
                  <a:schemeClr val="dk1"/>
                </a:solidFill>
              </a:rPr>
              <a:t>: Soportado por casi todos los lenguajes y herramientas modernas.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b="1">
                <a:solidFill>
                  <a:schemeClr val="dk1"/>
                </a:solidFill>
              </a:rPr>
              <a:t>Compacto</a:t>
            </a:r>
            <a:r>
              <a:rPr lang="es-419">
                <a:solidFill>
                  <a:schemeClr val="dk1"/>
                </a:solidFill>
              </a:rPr>
              <a:t>: Más ligero que formatos como XML.</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1fa53d5c77_0_5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1fa53d5c77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23850" algn="l" rtl="0">
              <a:lnSpc>
                <a:spcPct val="100000"/>
              </a:lnSpc>
              <a:spcBef>
                <a:spcPts val="0"/>
              </a:spcBef>
              <a:spcAft>
                <a:spcPts val="0"/>
              </a:spcAft>
              <a:buClr>
                <a:srgbClr val="626262"/>
              </a:buClr>
              <a:buSzPts val="1500"/>
              <a:buChar char="●"/>
            </a:pPr>
            <a:r>
              <a:rPr lang="es-419" sz="1500" b="1">
                <a:solidFill>
                  <a:srgbClr val="626262"/>
                </a:solidFill>
              </a:rPr>
              <a:t>Nivel 0: pantano de la calamidad</a:t>
            </a:r>
            <a:r>
              <a:rPr lang="es-419" sz="1500">
                <a:solidFill>
                  <a:srgbClr val="626262"/>
                </a:solidFill>
              </a:rPr>
              <a:t>: el menos conforme con el estilo de arquitectura REST. Por lo general, expone solo una </a:t>
            </a:r>
            <a:r>
              <a:rPr lang="es-419" sz="1500" u="sng">
                <a:solidFill>
                  <a:srgbClr val="626262"/>
                </a:solidFill>
              </a:rPr>
              <a:t>URI</a:t>
            </a:r>
            <a:r>
              <a:rPr lang="es-419" sz="1500">
                <a:solidFill>
                  <a:srgbClr val="626262"/>
                </a:solidFill>
              </a:rPr>
              <a:t> para toda la aplicación. Utiliza </a:t>
            </a:r>
            <a:r>
              <a:rPr lang="es-419" sz="1500" u="sng">
                <a:solidFill>
                  <a:srgbClr val="626262"/>
                </a:solidFill>
              </a:rPr>
              <a:t>HTTP</a:t>
            </a:r>
            <a:r>
              <a:rPr lang="es-419" sz="1500">
                <a:solidFill>
                  <a:srgbClr val="626262"/>
                </a:solidFill>
              </a:rPr>
              <a:t> POST para todas las acciones, incluso para la obtención de datos. Las aplicaciones basadas en </a:t>
            </a:r>
            <a:r>
              <a:rPr lang="es-419" sz="1500" u="sng">
                <a:solidFill>
                  <a:srgbClr val="626262"/>
                </a:solidFill>
              </a:rPr>
              <a:t>SOAP</a:t>
            </a:r>
            <a:r>
              <a:rPr lang="es-419" sz="1500">
                <a:solidFill>
                  <a:srgbClr val="626262"/>
                </a:solidFill>
              </a:rPr>
              <a:t> o </a:t>
            </a:r>
            <a:r>
              <a:rPr lang="es-419" sz="1500" u="sng">
                <a:solidFill>
                  <a:srgbClr val="626262"/>
                </a:solidFill>
              </a:rPr>
              <a:t>XML</a:t>
            </a:r>
            <a:r>
              <a:rPr lang="es-419" sz="1500">
                <a:solidFill>
                  <a:srgbClr val="626262"/>
                </a:solidFill>
              </a:rPr>
              <a:t> - </a:t>
            </a:r>
            <a:r>
              <a:rPr lang="es-419" sz="1500" u="sng">
                <a:solidFill>
                  <a:srgbClr val="626262"/>
                </a:solidFill>
              </a:rPr>
              <a:t>RPC</a:t>
            </a:r>
            <a:r>
              <a:rPr lang="es-419" sz="1500">
                <a:solidFill>
                  <a:srgbClr val="626262"/>
                </a:solidFill>
              </a:rPr>
              <a:t> se incluyen en este nivel. POX significa </a:t>
            </a:r>
            <a:r>
              <a:rPr lang="es-419" sz="1500" i="1">
                <a:solidFill>
                  <a:srgbClr val="626262"/>
                </a:solidFill>
              </a:rPr>
              <a:t>Plain Old </a:t>
            </a:r>
            <a:r>
              <a:rPr lang="es-419" sz="1500" i="1" u="sng">
                <a:solidFill>
                  <a:srgbClr val="626262"/>
                </a:solidFill>
              </a:rPr>
              <a:t>XML (XML</a:t>
            </a:r>
            <a:r>
              <a:rPr lang="es-419" sz="1500">
                <a:solidFill>
                  <a:srgbClr val="626262"/>
                </a:solidFill>
              </a:rPr>
              <a:t> simple) .</a:t>
            </a:r>
            <a:endParaRPr sz="1500">
              <a:solidFill>
                <a:srgbClr val="626262"/>
              </a:solidFill>
            </a:endParaRPr>
          </a:p>
          <a:p>
            <a:pPr marL="457200" lvl="0" indent="-323850" algn="l" rtl="0">
              <a:lnSpc>
                <a:spcPct val="100000"/>
              </a:lnSpc>
              <a:spcBef>
                <a:spcPts val="1000"/>
              </a:spcBef>
              <a:spcAft>
                <a:spcPts val="0"/>
              </a:spcAft>
              <a:buClr>
                <a:srgbClr val="626262"/>
              </a:buClr>
              <a:buSzPts val="1500"/>
              <a:buChar char="●"/>
            </a:pPr>
            <a:r>
              <a:rPr lang="es-419" sz="1500" b="1">
                <a:solidFill>
                  <a:srgbClr val="626262"/>
                </a:solidFill>
              </a:rPr>
              <a:t>Nivel 1: Dirección/ </a:t>
            </a:r>
            <a:r>
              <a:rPr lang="es-419" sz="1500" b="1" u="sng">
                <a:solidFill>
                  <a:srgbClr val="626262"/>
                </a:solidFill>
              </a:rPr>
              <a:t>URI</a:t>
            </a:r>
            <a:r>
              <a:rPr lang="es-419" sz="1500">
                <a:solidFill>
                  <a:srgbClr val="626262"/>
                </a:solidFill>
              </a:rPr>
              <a:t> basada en recursos : estos servicios emplean múltiples </a:t>
            </a:r>
            <a:r>
              <a:rPr lang="es-419" sz="1500" u="sng">
                <a:solidFill>
                  <a:srgbClr val="626262"/>
                </a:solidFill>
              </a:rPr>
              <a:t>URI</a:t>
            </a:r>
            <a:r>
              <a:rPr lang="es-419" sz="1500">
                <a:solidFill>
                  <a:srgbClr val="626262"/>
                </a:solidFill>
              </a:rPr>
              <a:t> , a diferencia del nivel 0. Sin embargo, utilizan solo </a:t>
            </a:r>
            <a:r>
              <a:rPr lang="es-419" sz="1500" u="sng">
                <a:solidFill>
                  <a:srgbClr val="626262"/>
                </a:solidFill>
              </a:rPr>
              <a:t>HTTP POST para todas las operaciones. Cada recurso se puede identificar por su propia URI</a:t>
            </a:r>
            <a:r>
              <a:rPr lang="es-419" sz="1500">
                <a:solidFill>
                  <a:srgbClr val="626262"/>
                </a:solidFill>
              </a:rPr>
              <a:t> única , incluidos los recursos anidados. Este direccionamiento basado en recursos se puede considerar el punto de partida para que </a:t>
            </a:r>
            <a:r>
              <a:rPr lang="es-419" sz="1500" u="sng">
                <a:solidFill>
                  <a:srgbClr val="626262"/>
                </a:solidFill>
              </a:rPr>
              <a:t>las API</a:t>
            </a:r>
            <a:r>
              <a:rPr lang="es-419" sz="1500">
                <a:solidFill>
                  <a:srgbClr val="626262"/>
                </a:solidFill>
              </a:rPr>
              <a:t> sean RESTful.</a:t>
            </a:r>
            <a:endParaRPr sz="1500">
              <a:solidFill>
                <a:srgbClr val="626262"/>
              </a:solidFill>
            </a:endParaRPr>
          </a:p>
          <a:p>
            <a:pPr marL="457200" lvl="0" indent="-323850" algn="l" rtl="0">
              <a:lnSpc>
                <a:spcPct val="100000"/>
              </a:lnSpc>
              <a:spcBef>
                <a:spcPts val="1000"/>
              </a:spcBef>
              <a:spcAft>
                <a:spcPts val="0"/>
              </a:spcAft>
              <a:buClr>
                <a:srgbClr val="626262"/>
              </a:buClr>
              <a:buSzPts val="1500"/>
              <a:buChar char="●"/>
            </a:pPr>
            <a:r>
              <a:rPr lang="es-419" sz="1500" b="1">
                <a:solidFill>
                  <a:srgbClr val="626262"/>
                </a:solidFill>
              </a:rPr>
              <a:t>Nivel 2: Verbos </a:t>
            </a:r>
            <a:r>
              <a:rPr lang="es-419" sz="1500" b="1" u="sng">
                <a:solidFill>
                  <a:srgbClr val="626262"/>
                </a:solidFill>
              </a:rPr>
              <a:t>HTTP</a:t>
            </a:r>
            <a:r>
              <a:rPr lang="es-419" sz="1500">
                <a:solidFill>
                  <a:srgbClr val="626262"/>
                </a:solidFill>
              </a:rPr>
              <a:t> : </a:t>
            </a:r>
            <a:r>
              <a:rPr lang="es-419" sz="1500" u="sng">
                <a:solidFill>
                  <a:srgbClr val="626262"/>
                </a:solidFill>
              </a:rPr>
              <a:t>Las API</a:t>
            </a:r>
            <a:r>
              <a:rPr lang="es-419" sz="1500">
                <a:solidFill>
                  <a:srgbClr val="626262"/>
                </a:solidFill>
              </a:rPr>
              <a:t> de este nivel utilizan todos los comandos o verbos </a:t>
            </a:r>
            <a:r>
              <a:rPr lang="es-419" sz="1500" u="sng">
                <a:solidFill>
                  <a:srgbClr val="626262"/>
                </a:solidFill>
              </a:rPr>
              <a:t>HTTP</a:t>
            </a:r>
            <a:r>
              <a:rPr lang="es-419" sz="1500">
                <a:solidFill>
                  <a:srgbClr val="626262"/>
                </a:solidFill>
              </a:rPr>
              <a:t> , como GET, POST, PUT y DELETE. El cuerpo de la solicitud no contiene la información de la operación en este nivel. Los códigos de retorno también se utilizan correctamente para que los clientes puedan comprobar si hay errores.</a:t>
            </a:r>
            <a:endParaRPr sz="1500">
              <a:solidFill>
                <a:srgbClr val="626262"/>
              </a:solidFill>
            </a:endParaRPr>
          </a:p>
          <a:p>
            <a:pPr marL="457200" lvl="0" indent="-323850" algn="l" rtl="0">
              <a:lnSpc>
                <a:spcPct val="100000"/>
              </a:lnSpc>
              <a:spcBef>
                <a:spcPts val="1000"/>
              </a:spcBef>
              <a:spcAft>
                <a:spcPts val="0"/>
              </a:spcAft>
              <a:buClr>
                <a:srgbClr val="626262"/>
              </a:buClr>
              <a:buSzPts val="1500"/>
              <a:buChar char="●"/>
            </a:pPr>
            <a:r>
              <a:rPr lang="es-419" sz="1500" b="1">
                <a:solidFill>
                  <a:srgbClr val="626262"/>
                </a:solidFill>
              </a:rPr>
              <a:t>Nivel 3: HyperMedia/ </a:t>
            </a:r>
            <a:r>
              <a:rPr lang="es-419" sz="1500" b="1" u="sng">
                <a:solidFill>
                  <a:srgbClr val="626262"/>
                </a:solidFill>
              </a:rPr>
              <a:t>HATEOAS</a:t>
            </a:r>
            <a:r>
              <a:rPr lang="es-419" sz="1500">
                <a:solidFill>
                  <a:srgbClr val="626262"/>
                </a:solidFill>
              </a:rPr>
              <a:t> : el nivel más maduro que utiliza </a:t>
            </a:r>
            <a:r>
              <a:rPr lang="es-419" sz="1500" i="1" u="sng">
                <a:solidFill>
                  <a:srgbClr val="626262"/>
                </a:solidFill>
              </a:rPr>
              <a:t>HATEOAS</a:t>
            </a:r>
            <a:r>
              <a:rPr lang="es-419" sz="1500" i="1">
                <a:solidFill>
                  <a:srgbClr val="626262"/>
                </a:solidFill>
              </a:rPr>
              <a:t> (Hypertext As The Engine Of Application State)</a:t>
            </a:r>
            <a:r>
              <a:rPr lang="es-419" sz="1500">
                <a:solidFill>
                  <a:srgbClr val="626262"/>
                </a:solidFill>
              </a:rPr>
              <a:t> . También se lo conoce como HyperMedia y básicamente consiste en enlaces y formularios de recursos. Establecer conexiones entre recursos se vuelve fácil ya que no requieren intervención humana y facilitan la automatización impulsada por el cliente.</a:t>
            </a:r>
            <a:endParaRPr sz="1500">
              <a:solidFill>
                <a:srgbClr val="626262"/>
              </a:solidFill>
            </a:endParaRPr>
          </a:p>
          <a:p>
            <a:pPr marL="0" lvl="0" indent="0" algn="l" rtl="0">
              <a:spcBef>
                <a:spcPts val="1000"/>
              </a:spcBef>
              <a:spcAft>
                <a:spcPts val="0"/>
              </a:spcAft>
              <a:buNone/>
            </a:pPr>
            <a:endParaRPr/>
          </a:p>
          <a:p>
            <a:pPr marL="0" lvl="0" indent="0" algn="l" rtl="0">
              <a:spcBef>
                <a:spcPts val="0"/>
              </a:spcBef>
              <a:spcAft>
                <a:spcPts val="0"/>
              </a:spcAft>
              <a:buNone/>
            </a:pPr>
            <a:r>
              <a:rPr lang="es-419"/>
              <a:t>Otra explicación</a:t>
            </a:r>
            <a:endParaRPr/>
          </a:p>
          <a:p>
            <a:pPr marL="0" lvl="0" indent="0" algn="l" rtl="0">
              <a:spcBef>
                <a:spcPts val="0"/>
              </a:spcBef>
              <a:spcAft>
                <a:spcPts val="0"/>
              </a:spcAft>
              <a:buNone/>
            </a:pPr>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Nivel 0: El Callejón Sin Salida</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Características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La API es básicamente un solo punto de entrada con una funcionalidad genérica.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No usa recursos ni métodos HTTP. Todo el acceso a la funcionalidad se realiza a través de una única URL.</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Similar a los servicios web basados en RPC o SOAP.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Ejemplo</a:t>
            </a:r>
            <a:r>
              <a:rPr lang="es-419">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http</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POST /api</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Body:</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"action": "getUser",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 123</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Problemas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Difícil de escalar y entender.</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No aprovecha los estándares de la web como HTTP.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Nivel 1: Recursos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Características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Introduce el concepto de recursos identificables mediante URLs.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Cada recurso tiene una representación única (URI).</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No aprovecha los métodos HTTP estándar (todo se hace, por ejemplo, con </a:t>
            </a:r>
            <a:r>
              <a:rPr lang="es-419">
                <a:solidFill>
                  <a:srgbClr val="188038"/>
                </a:solidFill>
                <a:latin typeface="Roboto Mono"/>
                <a:ea typeface="Roboto Mono"/>
                <a:cs typeface="Roboto Mono"/>
                <a:sym typeface="Roboto Mono"/>
              </a:rPr>
              <a:t>POST</a:t>
            </a:r>
            <a:r>
              <a:rPr lang="es-419">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Ejemplo</a:t>
            </a:r>
            <a:r>
              <a:rPr lang="es-419">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http</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POST /users/123/getProfile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Body:</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Mejoras respecto al nivel 0</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Organiza mejor los datos, haciéndolos más comprensibles para los consumidores.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Permite separar la lógica de los recursos.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Problemas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Sigue sin usar las capacidades del protocolo HTTP de forma adecuada, como métodos y códigos de estado.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Nivel 2: Verbos HTTP</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Características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Utiliza métodos HTTP estándar para interactuar con los recursos (</a:t>
            </a:r>
            <a:r>
              <a:rPr lang="es-419">
                <a:solidFill>
                  <a:srgbClr val="188038"/>
                </a:solidFill>
                <a:latin typeface="Roboto Mono"/>
                <a:ea typeface="Roboto Mono"/>
                <a:cs typeface="Roboto Mono"/>
                <a:sym typeface="Roboto Mono"/>
              </a:rPr>
              <a:t>GET</a:t>
            </a:r>
            <a:r>
              <a:rPr lang="es-419">
                <a:solidFill>
                  <a:schemeClr val="dk1"/>
                </a:solidFill>
              </a:rPr>
              <a:t>, </a:t>
            </a:r>
            <a:r>
              <a:rPr lang="es-419">
                <a:solidFill>
                  <a:srgbClr val="188038"/>
                </a:solidFill>
                <a:latin typeface="Roboto Mono"/>
                <a:ea typeface="Roboto Mono"/>
                <a:cs typeface="Roboto Mono"/>
                <a:sym typeface="Roboto Mono"/>
              </a:rPr>
              <a:t>POST</a:t>
            </a:r>
            <a:r>
              <a:rPr lang="es-419">
                <a:solidFill>
                  <a:schemeClr val="dk1"/>
                </a:solidFill>
              </a:rPr>
              <a:t>, </a:t>
            </a:r>
            <a:r>
              <a:rPr lang="es-419">
                <a:solidFill>
                  <a:srgbClr val="188038"/>
                </a:solidFill>
                <a:latin typeface="Roboto Mono"/>
                <a:ea typeface="Roboto Mono"/>
                <a:cs typeface="Roboto Mono"/>
                <a:sym typeface="Roboto Mono"/>
              </a:rPr>
              <a:t>PUT</a:t>
            </a:r>
            <a:r>
              <a:rPr lang="es-419">
                <a:solidFill>
                  <a:schemeClr val="dk1"/>
                </a:solidFill>
              </a:rPr>
              <a:t>, </a:t>
            </a:r>
            <a:r>
              <a:rPr lang="es-419">
                <a:solidFill>
                  <a:srgbClr val="188038"/>
                </a:solidFill>
                <a:latin typeface="Roboto Mono"/>
                <a:ea typeface="Roboto Mono"/>
                <a:cs typeface="Roboto Mono"/>
                <a:sym typeface="Roboto Mono"/>
              </a:rPr>
              <a:t>DELETE</a:t>
            </a:r>
            <a:r>
              <a:rPr lang="es-419">
                <a:solidFill>
                  <a:schemeClr val="dk1"/>
                </a:solidFill>
              </a:rPr>
              <a:t>, etc.).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Introduce semántica en las operaciones.</a:t>
            </a:r>
            <a:br>
              <a:rPr lang="es-419">
                <a:solidFill>
                  <a:schemeClr val="dk1"/>
                </a:solidFill>
              </a:rPr>
            </a:br>
            <a:r>
              <a:rPr lang="es-419">
                <a:solidFill>
                  <a:schemeClr val="dk1"/>
                </a:solidFill>
              </a:rPr>
              <a:t>Por ejemplo: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rgbClr val="188038"/>
                </a:solidFill>
                <a:latin typeface="Roboto Mono"/>
                <a:ea typeface="Roboto Mono"/>
                <a:cs typeface="Roboto Mono"/>
                <a:sym typeface="Roboto Mono"/>
              </a:rPr>
              <a:t>GET</a:t>
            </a:r>
            <a:r>
              <a:rPr lang="es-419">
                <a:solidFill>
                  <a:schemeClr val="dk1"/>
                </a:solidFill>
              </a:rPr>
              <a:t> para obtener datos.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rgbClr val="188038"/>
                </a:solidFill>
                <a:latin typeface="Roboto Mono"/>
                <a:ea typeface="Roboto Mono"/>
                <a:cs typeface="Roboto Mono"/>
                <a:sym typeface="Roboto Mono"/>
              </a:rPr>
              <a:t>POST</a:t>
            </a:r>
            <a:r>
              <a:rPr lang="es-419">
                <a:solidFill>
                  <a:schemeClr val="dk1"/>
                </a:solidFill>
              </a:rPr>
              <a:t> para crear un recurso.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rgbClr val="188038"/>
                </a:solidFill>
                <a:latin typeface="Roboto Mono"/>
                <a:ea typeface="Roboto Mono"/>
                <a:cs typeface="Roboto Mono"/>
                <a:sym typeface="Roboto Mono"/>
              </a:rPr>
              <a:t>PUT</a:t>
            </a:r>
            <a:r>
              <a:rPr lang="es-419">
                <a:solidFill>
                  <a:schemeClr val="dk1"/>
                </a:solidFill>
              </a:rPr>
              <a:t> para actualizar un recurso.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rgbClr val="188038"/>
                </a:solidFill>
                <a:latin typeface="Roboto Mono"/>
                <a:ea typeface="Roboto Mono"/>
                <a:cs typeface="Roboto Mono"/>
                <a:sym typeface="Roboto Mono"/>
              </a:rPr>
              <a:t>DELETE</a:t>
            </a:r>
            <a:r>
              <a:rPr lang="es-419">
                <a:solidFill>
                  <a:schemeClr val="dk1"/>
                </a:solidFill>
              </a:rPr>
              <a:t> para eliminar un recurso.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Ejemplo</a:t>
            </a:r>
            <a:r>
              <a:rPr lang="es-419">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http</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GET /users/123</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Mejoras respecto al nivel 1</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Las operaciones son más explícitas.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Aprovecha mejor las capacidades nativas de HTTP.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Problemas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Todavía no utiliza plenamente otras capacidades de HTTP, como la caché, los encabezados o el control de hipermedios.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Nivel 3: Hipermedios (HATEOAS)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Características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HATEOAS (</a:t>
            </a:r>
            <a:r>
              <a:rPr lang="es-419" b="1">
                <a:solidFill>
                  <a:schemeClr val="dk1"/>
                </a:solidFill>
              </a:rPr>
              <a:t>Hypermedia As The Engine Of Application State</a:t>
            </a:r>
            <a:r>
              <a:rPr lang="es-419">
                <a:solidFill>
                  <a:schemeClr val="dk1"/>
                </a:solidFill>
              </a:rPr>
              <a:t>) introduce enlaces en las respuestas, permitiendo a los clientes descubrir dinámicamente qué acciones están disponibles.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La API ya no necesita documentarse completamente fuera de su implementación; el cliente puede navegarla utilizando los hipervínculos proporcionados.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Ejemplo</a:t>
            </a:r>
            <a:r>
              <a:rPr lang="es-419">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http</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GET /users/123</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Response: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"id": 123,</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"name": "John",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"email": "john@example.com",</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"links":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"rel": "tasks", "href": "/users/123/tasks"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"rel": "update", "href": "/users/123", "method": "PUT"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Mejoras respecto al nivel 2</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Permite que los clientes exploren la API dinámicamente.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Facilita cambios en la API, ya que los clientes no necesitan codificar las rutas o acciones específicas.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Problemas</a:t>
            </a:r>
            <a:r>
              <a:rPr lang="es-419">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s-419">
                <a:solidFill>
                  <a:schemeClr val="dk1"/>
                </a:solidFill>
              </a:rPr>
              <a:t>Más complejo de implementar tanto para el servidor como para el cliente.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s-419">
                <a:solidFill>
                  <a:schemeClr val="dk1"/>
                </a:solidFill>
              </a:rPr>
              <a:t>Puede ser excesivo para APIs simples.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¿Cómo Elegir el Nivel de Madurez?</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Nivel 2 (Métodos HTTP)</a:t>
            </a:r>
            <a:r>
              <a:rPr lang="es-419">
                <a:solidFill>
                  <a:schemeClr val="dk1"/>
                </a:solidFill>
              </a:rPr>
              <a:t> es el nivel que la mayoría de las APIs RESTful alcanzan en la práctica. Es simple de implementar y ofrece un buen equilibrio entre funcionalidad y facilidad de uso.</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Nivel 3 (HATEOAS)</a:t>
            </a:r>
            <a:r>
              <a:rPr lang="es-419">
                <a:solidFill>
                  <a:schemeClr val="dk1"/>
                </a:solidFill>
              </a:rPr>
              <a:t> es ideal para aplicaciones que necesitan evolucionar sin romper a los clientes o que tienen flujos complejos y cambiantes. Sin embargo, su implementación puede ser excesiva para casos simples.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1fa53d5c77_0_6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1fa53d5c77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1fa53d5c77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1fa53d5c77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La convención sobre configuración es un patrón de diseño de software usado por muchos frameworks que trata de minimizar el número de decisiones que un programador tiene que tomar al usar dicho framework, pero sin perder la flexibilidad.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1fa53d5c77_0_6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1fa53d5c77_0_6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Tendríamos que crear un proyecto, previsiblemente un proyecto Maven, añadir varios parámetros de configuración, decenas sino cientos de dependencias manualmente, crear los directorios necesarios dentro del proyecto. Crear y configurar manualmente decenas de beans necesarios, ficheros xml, … Y para ejecutar la aplicación, crear un fichero empaquetado .war y realizar el despliegue en un servidor de aplicaciones que debemos tener instalado aparte, como Tomcat, Jetty,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1fa53d5c77_0_6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1fa53d5c77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b="1"/>
              <a:t>Aplicaciones autónomas</a:t>
            </a:r>
            <a:r>
              <a:rPr lang="es-419"/>
              <a:t> y listas para ejecutarse</a:t>
            </a:r>
            <a:endParaRPr/>
          </a:p>
          <a:p>
            <a:pPr marL="457200" lvl="0" indent="-298450" algn="l" rtl="0">
              <a:spcBef>
                <a:spcPts val="0"/>
              </a:spcBef>
              <a:spcAft>
                <a:spcPts val="0"/>
              </a:spcAft>
              <a:buSzPts val="1100"/>
              <a:buChar char="●"/>
            </a:pPr>
            <a:r>
              <a:rPr lang="es-419" b="1"/>
              <a:t>Servidor incrustado</a:t>
            </a:r>
            <a:r>
              <a:rPr lang="es-419"/>
              <a:t>: Tomcat, Jetty o Undertow sin necesidad de desplegar ficheros war</a:t>
            </a:r>
            <a:endParaRPr/>
          </a:p>
          <a:p>
            <a:pPr marL="457200" lvl="0" indent="-298450" algn="l" rtl="0">
              <a:spcBef>
                <a:spcPts val="0"/>
              </a:spcBef>
              <a:spcAft>
                <a:spcPts val="0"/>
              </a:spcAft>
              <a:buSzPts val="1100"/>
              <a:buChar char="●"/>
            </a:pPr>
            <a:r>
              <a:rPr lang="es-419" b="1"/>
              <a:t>Dependencias predefinidas</a:t>
            </a:r>
            <a:r>
              <a:rPr lang="es-419"/>
              <a:t>: </a:t>
            </a:r>
            <a:r>
              <a:rPr lang="es-419">
                <a:solidFill>
                  <a:schemeClr val="dk1"/>
                </a:solidFill>
              </a:rPr>
              <a:t>son conjuntos preconfigurados de dependencias para diferentes tipos de aplicaciones (por ejemplo, </a:t>
            </a:r>
            <a:r>
              <a:rPr lang="es-419">
                <a:solidFill>
                  <a:srgbClr val="188038"/>
                </a:solidFill>
                <a:latin typeface="Roboto Mono"/>
                <a:ea typeface="Roboto Mono"/>
                <a:cs typeface="Roboto Mono"/>
                <a:sym typeface="Roboto Mono"/>
              </a:rPr>
              <a:t>spring-boot-starter-web</a:t>
            </a:r>
            <a:r>
              <a:rPr lang="es-419">
                <a:solidFill>
                  <a:schemeClr val="dk1"/>
                </a:solidFill>
              </a:rPr>
              <a:t> para aplicaciones web o </a:t>
            </a:r>
            <a:r>
              <a:rPr lang="es-419">
                <a:solidFill>
                  <a:srgbClr val="188038"/>
                </a:solidFill>
                <a:latin typeface="Roboto Mono"/>
                <a:ea typeface="Roboto Mono"/>
                <a:cs typeface="Roboto Mono"/>
                <a:sym typeface="Roboto Mono"/>
              </a:rPr>
              <a:t>spring-boot-starter-data-jpa</a:t>
            </a:r>
            <a:r>
              <a:rPr lang="es-419">
                <a:solidFill>
                  <a:schemeClr val="dk1"/>
                </a:solidFill>
              </a:rPr>
              <a:t> para acceso a bases de datos con JPA).</a:t>
            </a:r>
            <a:endParaRPr>
              <a:solidFill>
                <a:schemeClr val="dk1"/>
              </a:solidFill>
            </a:endParaRPr>
          </a:p>
          <a:p>
            <a:pPr marL="457200" lvl="0" indent="-298450" algn="l" rtl="0">
              <a:spcBef>
                <a:spcPts val="0"/>
              </a:spcBef>
              <a:spcAft>
                <a:spcPts val="0"/>
              </a:spcAft>
              <a:buClr>
                <a:schemeClr val="dk1"/>
              </a:buClr>
              <a:buSzPts val="1100"/>
              <a:buChar char="●"/>
            </a:pPr>
            <a:r>
              <a:rPr lang="es-419" b="1">
                <a:solidFill>
                  <a:schemeClr val="dk1"/>
                </a:solidFill>
              </a:rPr>
              <a:t>Configuración automática</a:t>
            </a:r>
            <a:r>
              <a:rPr lang="es-419">
                <a:solidFill>
                  <a:schemeClr val="dk1"/>
                </a:solidFill>
              </a:rPr>
              <a:t> de librerías de 3os siempre que sea posible. Por ejemplo, si detecta que hay una base de datos en las dependencias, configura automáticamente el acceso a ella.</a:t>
            </a:r>
            <a:endParaRPr>
              <a:solidFill>
                <a:schemeClr val="dk1"/>
              </a:solidFill>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1fa53d5c77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1fa53d5c77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s-419" b="1"/>
              <a:t>Lista para producción: </a:t>
            </a:r>
            <a:r>
              <a:rPr lang="es-419"/>
              <a:t>proporciona funciones listas para producción, como métricas (con Actuator), comprobaciones de estado y configuración externalizada.</a:t>
            </a:r>
            <a:endParaRPr/>
          </a:p>
          <a:p>
            <a:pPr marL="457200" lvl="0" indent="-298450" algn="l" rtl="0">
              <a:spcBef>
                <a:spcPts val="0"/>
              </a:spcBef>
              <a:spcAft>
                <a:spcPts val="0"/>
              </a:spcAft>
              <a:buSzPts val="1100"/>
              <a:buChar char="●"/>
            </a:pPr>
            <a:r>
              <a:rPr lang="es-419" b="1"/>
              <a:t>Sin generación de código o configuración XML</a:t>
            </a:r>
            <a:r>
              <a:rPr lang="es-419"/>
              <a:t>: Spring Boot no es un generador de código, como podría ser un asistente para crear el código inicial de un proyecto.</a:t>
            </a:r>
            <a:endParaRPr/>
          </a:p>
          <a:p>
            <a:pPr marL="457200" lvl="0" indent="-298450" algn="l" rtl="0">
              <a:spcBef>
                <a:spcPts val="0"/>
              </a:spcBef>
              <a:spcAft>
                <a:spcPts val="0"/>
              </a:spcAft>
              <a:buSzPts val="1100"/>
              <a:buChar char="●"/>
            </a:pPr>
            <a:r>
              <a:rPr lang="es-419" b="1"/>
              <a:t>Spring Initializr</a:t>
            </a:r>
            <a:r>
              <a:rPr lang="es-419"/>
              <a:t>: Una herramienta basada en la web que te permite generar proyectos Spring Boot con las dependencias necesarias de manera rápida. Simplemente seleccionas las dependencias que quieres usar y Spring Initializr genera un proyecto que puedes descargar y empezar a trabajar.</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1fa53d5c77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1fa53d5c77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1fa53d5c77_0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1fa53d5c77_0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b="1">
                <a:solidFill>
                  <a:schemeClr val="dk1"/>
                </a:solidFill>
              </a:rPr>
              <a:t>Rapidez en el desarrollo</a:t>
            </a:r>
            <a:r>
              <a:rPr lang="es-419">
                <a:solidFill>
                  <a:schemeClr val="dk1"/>
                </a:solidFill>
              </a:rPr>
              <a:t>: Gracias a las configuraciones automáticas y el manejo de dependencias, puedes empezar a trabajar más rápido en los aspectos importantes de tu aplicación.</a:t>
            </a:r>
            <a:endParaRPr>
              <a:solidFill>
                <a:schemeClr val="dk1"/>
              </a:solidFill>
            </a:endParaRPr>
          </a:p>
          <a:p>
            <a:pPr marL="0" lvl="0" indent="0" algn="l" rtl="0">
              <a:spcBef>
                <a:spcPts val="0"/>
              </a:spcBef>
              <a:spcAft>
                <a:spcPts val="0"/>
              </a:spcAft>
              <a:buClr>
                <a:schemeClr val="dk1"/>
              </a:buClr>
              <a:buSzPts val="1100"/>
              <a:buFont typeface="Arial"/>
              <a:buNone/>
            </a:pPr>
            <a:r>
              <a:rPr lang="es-419" b="1">
                <a:solidFill>
                  <a:schemeClr val="dk1"/>
                </a:solidFill>
              </a:rPr>
              <a:t>Menos código boilerplate (repetitivo)</a:t>
            </a:r>
            <a:r>
              <a:rPr lang="es-419">
                <a:solidFill>
                  <a:schemeClr val="dk1"/>
                </a:solidFill>
              </a:rPr>
              <a:t>: No necesitas escribir muchas configuraciones manuales para cosas como acceso a datos o servidores web. Nos podemos centrar en la lógica de negocio.</a:t>
            </a:r>
            <a:endParaRPr>
              <a:solidFill>
                <a:schemeClr val="dk1"/>
              </a:solidFill>
            </a:endParaRPr>
          </a:p>
          <a:p>
            <a:pPr marL="0" lvl="0" indent="0" algn="l" rtl="0">
              <a:spcBef>
                <a:spcPts val="0"/>
              </a:spcBef>
              <a:spcAft>
                <a:spcPts val="0"/>
              </a:spcAft>
              <a:buClr>
                <a:schemeClr val="dk1"/>
              </a:buClr>
              <a:buSzPts val="1100"/>
              <a:buFont typeface="Arial"/>
              <a:buNone/>
            </a:pPr>
            <a:r>
              <a:rPr lang="es-419" b="1">
                <a:solidFill>
                  <a:schemeClr val="dk1"/>
                </a:solidFill>
              </a:rPr>
              <a:t>Facilidad de despliegue</a:t>
            </a:r>
            <a:r>
              <a:rPr lang="es-419">
                <a:solidFill>
                  <a:schemeClr val="dk1"/>
                </a:solidFill>
              </a:rPr>
              <a:t>: Al incluir un servidor embebido, puedes desplegar aplicaciones Spring Boot en cualquier entorno sin preocuparte por configuraciones adicionales del servidor.</a:t>
            </a:r>
            <a:endParaRPr>
              <a:solidFill>
                <a:schemeClr val="dk1"/>
              </a:solidFill>
            </a:endParaRPr>
          </a:p>
          <a:p>
            <a:pPr marL="0" lvl="0" indent="0" algn="l" rtl="0">
              <a:spcBef>
                <a:spcPts val="0"/>
              </a:spcBef>
              <a:spcAft>
                <a:spcPts val="0"/>
              </a:spcAft>
              <a:buClr>
                <a:schemeClr val="dk1"/>
              </a:buClr>
              <a:buSzPts val="1100"/>
              <a:buFont typeface="Arial"/>
              <a:buNone/>
            </a:pPr>
            <a:r>
              <a:rPr lang="es-419" b="1">
                <a:solidFill>
                  <a:schemeClr val="dk1"/>
                </a:solidFill>
              </a:rPr>
              <a:t>Escalabilidad</a:t>
            </a:r>
            <a:r>
              <a:rPr lang="es-419">
                <a:solidFill>
                  <a:schemeClr val="dk1"/>
                </a:solidFill>
              </a:rPr>
              <a:t>: Ideal para arquitecturas de microservicios, donde puedes dividir una aplicación grande en múltiples servicios pequeños y desplegar cada uno por separado.</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1fa53d5c77_0_7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1fa53d5c77_0_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solidFill>
                  <a:schemeClr val="dk1"/>
                </a:solidFill>
              </a:rPr>
              <a:t>La </a:t>
            </a:r>
            <a:r>
              <a:rPr lang="es-419" b="1">
                <a:solidFill>
                  <a:schemeClr val="dk1"/>
                </a:solidFill>
              </a:rPr>
              <a:t>inyección de dependencias (Dependency Injection, DI)</a:t>
            </a:r>
            <a:r>
              <a:rPr lang="es-419">
                <a:solidFill>
                  <a:schemeClr val="dk1"/>
                </a:solidFill>
              </a:rPr>
              <a:t> es un patrón de diseño que se utiliza para gestionar las dependencias entre objetos de manera eficiente, desacoplando las clases y facilitando su mantenibilidad, reutilización y testeo. En lugar de que una clase cree y gestione directamente sus dependencias, éstas se le proporcionan ("inyectan") desde el exterior, generalmente por un framework o contenedor de IoC (Inversión de Control).</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1fa53d5c77_0_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31fa53d5c77_0_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Esto permite que las clases se enfoquen en su propia lógica, en lugar de preocuparse por cómo obtener las dependencias.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1fa53d5c77_0_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1fa53d5c77_0_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solidFill>
                  <a:schemeClr val="dk1"/>
                </a:solidFill>
              </a:rPr>
              <a:t>Supongamos que tienes una clase </a:t>
            </a:r>
            <a:r>
              <a:rPr lang="es-419">
                <a:solidFill>
                  <a:srgbClr val="188038"/>
                </a:solidFill>
                <a:latin typeface="Roboto Mono"/>
                <a:ea typeface="Roboto Mono"/>
                <a:cs typeface="Roboto Mono"/>
                <a:sym typeface="Roboto Mono"/>
              </a:rPr>
              <a:t>Car</a:t>
            </a:r>
            <a:r>
              <a:rPr lang="es-419">
                <a:solidFill>
                  <a:schemeClr val="dk1"/>
                </a:solidFill>
              </a:rPr>
              <a:t> que necesita un objeto de tipo </a:t>
            </a:r>
            <a:r>
              <a:rPr lang="es-419">
                <a:solidFill>
                  <a:srgbClr val="188038"/>
                </a:solidFill>
                <a:latin typeface="Roboto Mono"/>
                <a:ea typeface="Roboto Mono"/>
                <a:cs typeface="Roboto Mono"/>
                <a:sym typeface="Roboto Mono"/>
              </a:rPr>
              <a:t>Engine</a:t>
            </a:r>
            <a:r>
              <a:rPr lang="es-419">
                <a:solidFill>
                  <a:schemeClr val="dk1"/>
                </a:solidFill>
              </a:rPr>
              <a:t>. Sin inyección de dependencias, la clase </a:t>
            </a:r>
            <a:r>
              <a:rPr lang="es-419">
                <a:solidFill>
                  <a:srgbClr val="188038"/>
                </a:solidFill>
                <a:latin typeface="Roboto Mono"/>
                <a:ea typeface="Roboto Mono"/>
                <a:cs typeface="Roboto Mono"/>
                <a:sym typeface="Roboto Mono"/>
              </a:rPr>
              <a:t>Car</a:t>
            </a:r>
            <a:r>
              <a:rPr lang="es-419">
                <a:solidFill>
                  <a:schemeClr val="dk1"/>
                </a:solidFill>
              </a:rPr>
              <a:t> crearía directamente su propia instancia de </a:t>
            </a:r>
            <a:r>
              <a:rPr lang="es-419">
                <a:solidFill>
                  <a:srgbClr val="188038"/>
                </a:solidFill>
                <a:latin typeface="Roboto Mono"/>
                <a:ea typeface="Roboto Mono"/>
                <a:cs typeface="Roboto Mono"/>
                <a:sym typeface="Roboto Mono"/>
              </a:rPr>
              <a:t>Engine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1fa53d5c77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1fa53d5c77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solidFill>
                  <a:schemeClr val="dk1"/>
                </a:solidFill>
              </a:rPr>
              <a:t>Con </a:t>
            </a:r>
            <a:r>
              <a:rPr lang="es-419" b="1">
                <a:solidFill>
                  <a:schemeClr val="dk1"/>
                </a:solidFill>
              </a:rPr>
              <a:t>inyección de dependencias</a:t>
            </a:r>
            <a:r>
              <a:rPr lang="es-419">
                <a:solidFill>
                  <a:schemeClr val="dk1"/>
                </a:solidFill>
              </a:rPr>
              <a:t>, en lugar de crear la instancia de </a:t>
            </a:r>
            <a:r>
              <a:rPr lang="es-419">
                <a:solidFill>
                  <a:srgbClr val="188038"/>
                </a:solidFill>
                <a:latin typeface="Roboto Mono"/>
                <a:ea typeface="Roboto Mono"/>
                <a:cs typeface="Roboto Mono"/>
                <a:sym typeface="Roboto Mono"/>
              </a:rPr>
              <a:t>Engine</a:t>
            </a:r>
            <a:r>
              <a:rPr lang="es-419">
                <a:solidFill>
                  <a:schemeClr val="dk1"/>
                </a:solidFill>
              </a:rPr>
              <a:t> dentro de </a:t>
            </a:r>
            <a:r>
              <a:rPr lang="es-419">
                <a:solidFill>
                  <a:srgbClr val="188038"/>
                </a:solidFill>
                <a:latin typeface="Roboto Mono"/>
                <a:ea typeface="Roboto Mono"/>
                <a:cs typeface="Roboto Mono"/>
                <a:sym typeface="Roboto Mono"/>
              </a:rPr>
              <a:t>Car</a:t>
            </a:r>
            <a:r>
              <a:rPr lang="es-419">
                <a:solidFill>
                  <a:schemeClr val="dk1"/>
                </a:solidFill>
              </a:rPr>
              <a:t>, se la pasamos desde fuera, lo que hace que </a:t>
            </a:r>
            <a:r>
              <a:rPr lang="es-419">
                <a:solidFill>
                  <a:srgbClr val="188038"/>
                </a:solidFill>
                <a:latin typeface="Roboto Mono"/>
                <a:ea typeface="Roboto Mono"/>
                <a:cs typeface="Roboto Mono"/>
                <a:sym typeface="Roboto Mono"/>
              </a:rPr>
              <a:t>Car</a:t>
            </a:r>
            <a:r>
              <a:rPr lang="es-419">
                <a:solidFill>
                  <a:schemeClr val="dk1"/>
                </a:solidFill>
              </a:rPr>
              <a:t> no dependa de la implementación concreta de </a:t>
            </a:r>
            <a:r>
              <a:rPr lang="es-419">
                <a:solidFill>
                  <a:srgbClr val="188038"/>
                </a:solidFill>
                <a:latin typeface="Roboto Mono"/>
                <a:ea typeface="Roboto Mono"/>
                <a:cs typeface="Roboto Mono"/>
                <a:sym typeface="Roboto Mono"/>
              </a:rPr>
              <a:t>Engine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1fa53d5c77_0_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1fa53d5c77_0_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Supongamos un ejemplo más real. Una aplicación que tiene como una de sus funcionalidades generar un informe (por ejemplo de ventas anuales). El generador del informe podría ser un bean, que depende de otro bean, que es capaz de hacer la consulta y obtener los datos para generar dicho informe. El bean de consulta necesita acceder al repositorio de datos (que podría ser un bean capaz de acceder a una base de datos relacional) y a otro que podría servir para transformar datos.</a:t>
            </a:r>
            <a:endParaRPr/>
          </a:p>
          <a:p>
            <a:pPr marL="0" lvl="0" indent="0" algn="l" rtl="0">
              <a:spcBef>
                <a:spcPts val="0"/>
              </a:spcBef>
              <a:spcAft>
                <a:spcPts val="0"/>
              </a:spcAft>
              <a:buNone/>
            </a:pPr>
            <a:endParaRPr/>
          </a:p>
          <a:p>
            <a:pPr marL="0" lvl="0" indent="0" algn="l" rtl="0">
              <a:spcBef>
                <a:spcPts val="0"/>
              </a:spcBef>
              <a:spcAft>
                <a:spcPts val="0"/>
              </a:spcAft>
              <a:buNone/>
            </a:pPr>
            <a:r>
              <a:rPr lang="es-419"/>
              <a:t>Al usar DI, si definimos bien las interfaces de nuestros beans, podríamos cambiar de una forma transparente de una base de datos relacional a una NoSQL, sin tener que tocar el código de la clase Query. Solamente cambiando algunos metadatos de configuración (o puede que ni siquiera eso; solamente sustituyendo una clase por otra).</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1fa53d5c77_0_7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1fa53d5c77_0_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a:t>@Component: Estereotipo básico; los demás son derivados de él.</a:t>
            </a:r>
            <a:endParaRPr/>
          </a:p>
          <a:p>
            <a:pPr marL="457200" lvl="0" indent="-298450" algn="l" rtl="0">
              <a:spcBef>
                <a:spcPts val="0"/>
              </a:spcBef>
              <a:spcAft>
                <a:spcPts val="0"/>
              </a:spcAft>
              <a:buSzPts val="1100"/>
              <a:buChar char="●"/>
            </a:pPr>
            <a:r>
              <a:rPr lang="es-419"/>
              <a:t>@Service: orientado a las clases servicio, lógica de negocio, ...</a:t>
            </a:r>
            <a:endParaRPr/>
          </a:p>
          <a:p>
            <a:pPr marL="457200" lvl="0" indent="-298450" algn="l" rtl="0">
              <a:spcBef>
                <a:spcPts val="0"/>
              </a:spcBef>
              <a:spcAft>
                <a:spcPts val="0"/>
              </a:spcAft>
              <a:buSzPts val="1100"/>
              <a:buChar char="●"/>
            </a:pPr>
            <a:r>
              <a:rPr lang="es-419"/>
              <a:t>@Repository: clases de acceso a datos (DAO, bases de datos, ...)</a:t>
            </a:r>
            <a:endParaRPr/>
          </a:p>
          <a:p>
            <a:pPr marL="457200" lvl="0" indent="-298450" algn="l" rtl="0">
              <a:spcBef>
                <a:spcPts val="0"/>
              </a:spcBef>
              <a:spcAft>
                <a:spcPts val="0"/>
              </a:spcAft>
              <a:buSzPts val="1100"/>
              <a:buChar char="●"/>
            </a:pPr>
            <a:r>
              <a:rPr lang="es-419"/>
              <a:t>@Controller: clases que sirven para gestionar las peticiones recibidas y producir respuestas.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1fa53d5c77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1fa53d5c77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Query q es la dependencia que ha declarado el objeto ReportGen. Con la inyección automática, se buscan candidatos dentro del contenedor de inversión de control. Son candidatas todas las instancias de la clase Query, o si fuera una interfaz, todas las instancias de clases que implementen dicha interfaz.</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1fa53d5c77_0_8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1fa53d5c77_0_8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1fa53d5c77_0_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1fa53d5c77_0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a:t>@Component: Estereotipo básico; los demás son derivados de él.</a:t>
            </a:r>
            <a:endParaRPr/>
          </a:p>
          <a:p>
            <a:pPr marL="457200" lvl="0" indent="-298450" algn="l" rtl="0">
              <a:spcBef>
                <a:spcPts val="0"/>
              </a:spcBef>
              <a:spcAft>
                <a:spcPts val="0"/>
              </a:spcAft>
              <a:buSzPts val="1100"/>
              <a:buChar char="●"/>
            </a:pPr>
            <a:r>
              <a:rPr lang="es-419"/>
              <a:t>@Service: orientado a las clases servicio, lógica de negocio, ...</a:t>
            </a:r>
            <a:endParaRPr/>
          </a:p>
          <a:p>
            <a:pPr marL="457200" lvl="0" indent="-298450" algn="l" rtl="0">
              <a:spcBef>
                <a:spcPts val="0"/>
              </a:spcBef>
              <a:spcAft>
                <a:spcPts val="0"/>
              </a:spcAft>
              <a:buSzPts val="1100"/>
              <a:buChar char="●"/>
            </a:pPr>
            <a:r>
              <a:rPr lang="es-419"/>
              <a:t>@Repository: clases de acceso a datos (DAO, bases de datos, ...)</a:t>
            </a:r>
            <a:endParaRPr/>
          </a:p>
          <a:p>
            <a:pPr marL="457200" lvl="0" indent="-298450" algn="l" rtl="0">
              <a:spcBef>
                <a:spcPts val="0"/>
              </a:spcBef>
              <a:spcAft>
                <a:spcPts val="0"/>
              </a:spcAft>
              <a:buSzPts val="1100"/>
              <a:buChar char="●"/>
            </a:pPr>
            <a:r>
              <a:rPr lang="es-419"/>
              <a:t>@Controller: clases que sirven para gestionar las peticiones recibidas y producir respuestas.</a:t>
            </a:r>
            <a:endParaRPr/>
          </a:p>
          <a:p>
            <a:pPr marL="0" lvl="0" indent="0" algn="l" rtl="0">
              <a:spcBef>
                <a:spcPts val="0"/>
              </a:spcBef>
              <a:spcAft>
                <a:spcPts val="0"/>
              </a:spcAft>
              <a:buNone/>
            </a:pPr>
            <a:endParaRPr/>
          </a:p>
          <a:p>
            <a:pPr marL="0" lvl="0" indent="0" algn="l" rtl="0">
              <a:spcBef>
                <a:spcPts val="0"/>
              </a:spcBef>
              <a:spcAft>
                <a:spcPts val="0"/>
              </a:spcAft>
              <a:buNone/>
            </a:pPr>
            <a:r>
              <a:rPr lang="es-419"/>
              <a:t>@RestController es un derivado de controller, que añade @ResponseBody a todos los endpoints del controlador.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1fa53d5c77_0_8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31fa53d5c77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s-419">
                <a:solidFill>
                  <a:schemeClr val="dk1"/>
                </a:solidFill>
              </a:rPr>
              <a:t>Clase POJO: puede ser una clase cualquiera. No tiene que heredar de ninguna otra.</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1fa53d5c77_0_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1fa53d5c77_0_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s-419">
                <a:solidFill>
                  <a:schemeClr val="dk1"/>
                </a:solidFill>
              </a:rPr>
              <a:t>En el contexto de las APIs REST, un </a:t>
            </a:r>
            <a:r>
              <a:rPr lang="es-419" b="1">
                <a:solidFill>
                  <a:schemeClr val="dk1"/>
                </a:solidFill>
              </a:rPr>
              <a:t>endpoint</a:t>
            </a:r>
            <a:r>
              <a:rPr lang="es-419">
                <a:solidFill>
                  <a:schemeClr val="dk1"/>
                </a:solidFill>
              </a:rPr>
              <a:t> es una dirección única (URL) que representa un recurso o una funcionalidad específica del sistema al que un cliente puede acceder a través de una solicitud HTTP. Los endpoints son los puntos de entrada para interactuar con la API y suelen estar organizados de forma lógica para facilitar el acceso a los datos o servicios que ofrece.</a:t>
            </a:r>
            <a:endParaRPr>
              <a:solidFill>
                <a:schemeClr val="dk1"/>
              </a:solidFill>
            </a:endParaRPr>
          </a:p>
          <a:p>
            <a:pPr marL="0" lvl="0" indent="0" algn="l" rtl="0">
              <a:spcBef>
                <a:spcPts val="1200"/>
              </a:spcBef>
              <a:spcAft>
                <a:spcPts val="0"/>
              </a:spcAft>
              <a:buNone/>
            </a:pPr>
            <a:r>
              <a:rPr lang="es-419">
                <a:solidFill>
                  <a:schemeClr val="dk1"/>
                </a:solidFill>
              </a:rPr>
              <a:t>Un endpoint incluye:</a:t>
            </a:r>
            <a:endParaRPr>
              <a:solidFill>
                <a:schemeClr val="dk1"/>
              </a:solidFill>
            </a:endParaRPr>
          </a:p>
          <a:p>
            <a:pPr marL="0" lvl="0" indent="0" algn="l" rtl="0">
              <a:spcBef>
                <a:spcPts val="0"/>
              </a:spcBef>
              <a:spcAft>
                <a:spcPts val="0"/>
              </a:spcAft>
              <a:buNone/>
            </a:pPr>
            <a:endParaRPr>
              <a:solidFill>
                <a:schemeClr val="dk1"/>
              </a:solidFill>
            </a:endParaRPr>
          </a:p>
          <a:p>
            <a:pPr marL="457200" lvl="0" indent="-298450" algn="l" rtl="0">
              <a:spcBef>
                <a:spcPts val="0"/>
              </a:spcBef>
              <a:spcAft>
                <a:spcPts val="0"/>
              </a:spcAft>
              <a:buClr>
                <a:schemeClr val="dk1"/>
              </a:buClr>
              <a:buSzPts val="1100"/>
              <a:buAutoNum type="arabicPeriod"/>
            </a:pPr>
            <a:r>
              <a:rPr lang="es-419">
                <a:solidFill>
                  <a:schemeClr val="dk1"/>
                </a:solidFill>
              </a:rPr>
              <a:t>Una URL</a:t>
            </a:r>
            <a:endParaRPr>
              <a:solidFill>
                <a:schemeClr val="dk1"/>
              </a:solidFill>
            </a:endParaRPr>
          </a:p>
          <a:p>
            <a:pPr marL="457200" lvl="0" indent="-298450" algn="l" rtl="0">
              <a:spcBef>
                <a:spcPts val="0"/>
              </a:spcBef>
              <a:spcAft>
                <a:spcPts val="0"/>
              </a:spcAft>
              <a:buClr>
                <a:schemeClr val="dk1"/>
              </a:buClr>
              <a:buSzPts val="1100"/>
              <a:buAutoNum type="arabicPeriod"/>
            </a:pPr>
            <a:r>
              <a:rPr lang="es-419">
                <a:solidFill>
                  <a:schemeClr val="dk1"/>
                </a:solidFill>
              </a:rPr>
              <a:t>Un método HTTP (GET, POST, …)</a:t>
            </a:r>
            <a:endParaRPr>
              <a:solidFill>
                <a:schemeClr val="dk1"/>
              </a:solidFill>
            </a:endParaRPr>
          </a:p>
          <a:p>
            <a:pPr marL="457200" lvl="0" indent="-298450" algn="l" rtl="0">
              <a:spcBef>
                <a:spcPts val="0"/>
              </a:spcBef>
              <a:spcAft>
                <a:spcPts val="0"/>
              </a:spcAft>
              <a:buClr>
                <a:schemeClr val="dk1"/>
              </a:buClr>
              <a:buSzPts val="1100"/>
              <a:buAutoNum type="arabicPeriod"/>
            </a:pPr>
            <a:r>
              <a:rPr lang="es-419">
                <a:solidFill>
                  <a:schemeClr val="dk1"/>
                </a:solidFill>
              </a:rPr>
              <a:t>Parámetros que recibe la solicitud (en la URL, encabezado, cuerpo, …)</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0"/>
              </a:spcAft>
              <a:buNone/>
            </a:pPr>
            <a:r>
              <a:rPr lang="es-419"/>
              <a:t>En Spring Boot, los implementaremos como métodos de un controlador.</a:t>
            </a:r>
            <a:endParaRPr/>
          </a:p>
          <a:p>
            <a:pPr marL="0" lvl="0" indent="0" algn="l" rtl="0">
              <a:spcBef>
                <a:spcPts val="0"/>
              </a:spcBef>
              <a:spcAft>
                <a:spcPts val="0"/>
              </a:spcAft>
              <a:buNone/>
            </a:pPr>
            <a:endParaRPr/>
          </a:p>
          <a:p>
            <a:pPr marL="0" lvl="0" indent="0" algn="l" rtl="0">
              <a:spcBef>
                <a:spcPts val="0"/>
              </a:spcBef>
              <a:spcAft>
                <a:spcPts val="0"/>
              </a:spcAft>
              <a:buNone/>
            </a:pPr>
            <a:r>
              <a:rPr lang="es-419"/>
              <a:t>Añadir el siguiente código</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@RestController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class </a:t>
            </a:r>
            <a:r>
              <a:rPr lang="es-419" sz="1350">
                <a:solidFill>
                  <a:schemeClr val="dk1"/>
                </a:solidFill>
                <a:highlight>
                  <a:srgbClr val="FFFFFF"/>
                </a:highlight>
                <a:latin typeface="Courier New"/>
                <a:ea typeface="Courier New"/>
                <a:cs typeface="Courier New"/>
                <a:sym typeface="Courier New"/>
              </a:rPr>
              <a:t>MainController </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1fa53d5c77_0_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31fa53d5c77_0_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@RequestMapping se puede usar a nivel de clase y de método.</a:t>
            </a:r>
            <a:endParaRPr/>
          </a:p>
          <a:p>
            <a:pPr marL="0" lvl="0" indent="0" algn="l" rtl="0">
              <a:spcBef>
                <a:spcPts val="0"/>
              </a:spcBef>
              <a:spcAft>
                <a:spcPts val="0"/>
              </a:spcAft>
              <a:buNone/>
            </a:pPr>
            <a:r>
              <a:rPr lang="es-419"/>
              <a:t>Las anotaciones derivadas se usan a nivel de método.</a:t>
            </a:r>
            <a:endParaRPr/>
          </a:p>
          <a:p>
            <a:pPr marL="0" lvl="0" indent="0" algn="l" rtl="0">
              <a:spcBef>
                <a:spcPts val="0"/>
              </a:spcBef>
              <a:spcAft>
                <a:spcPts val="0"/>
              </a:spcAft>
              <a:buNone/>
            </a:pPr>
            <a:r>
              <a:rPr lang="es-419"/>
              <a:t>Permiten asociar a un método del controlador una URL y un verbo HTTP.</a:t>
            </a:r>
            <a:endParaRPr/>
          </a:p>
          <a:p>
            <a:pPr marL="0" lvl="0" indent="0" algn="l" rtl="0">
              <a:spcBef>
                <a:spcPts val="0"/>
              </a:spcBef>
              <a:spcAft>
                <a:spcPts val="0"/>
              </a:spcAft>
              <a:buNone/>
            </a:pPr>
            <a:endParaRPr/>
          </a:p>
          <a:p>
            <a:pPr marL="0" lvl="0" indent="0" algn="l" rtl="0">
              <a:spcBef>
                <a:spcPts val="0"/>
              </a:spcBef>
              <a:spcAft>
                <a:spcPts val="0"/>
              </a:spcAft>
              <a:buNone/>
            </a:pPr>
            <a:r>
              <a:rPr lang="es-419"/>
              <a:t>Añadir el siguiente código</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@RestController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class </a:t>
            </a:r>
            <a:r>
              <a:rPr lang="es-419" sz="1350">
                <a:solidFill>
                  <a:schemeClr val="dk1"/>
                </a:solidFill>
                <a:highlight>
                  <a:srgbClr val="FFFFFF"/>
                </a:highlight>
                <a:latin typeface="Courier New"/>
                <a:ea typeface="Courier New"/>
                <a:cs typeface="Courier New"/>
                <a:sym typeface="Courier New"/>
              </a:rPr>
              <a:t>MainController </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b="1">
                <a:solidFill>
                  <a:srgbClr val="080808"/>
                </a:solidFill>
                <a:highlight>
                  <a:srgbClr val="FFFFFF"/>
                </a:highlight>
                <a:latin typeface="Courier New"/>
                <a:ea typeface="Courier New"/>
                <a:cs typeface="Courier New"/>
                <a:sym typeface="Courier New"/>
              </a:rPr>
              <a:t>   </a:t>
            </a:r>
            <a:r>
              <a:rPr lang="es-419" sz="1350" b="1">
                <a:solidFill>
                  <a:srgbClr val="9E880D"/>
                </a:solidFill>
                <a:highlight>
                  <a:srgbClr val="FFFFFF"/>
                </a:highlight>
                <a:latin typeface="Courier New"/>
                <a:ea typeface="Courier New"/>
                <a:cs typeface="Courier New"/>
                <a:sym typeface="Courier New"/>
              </a:rPr>
              <a:t>@GetMapping</a:t>
            </a:r>
            <a:r>
              <a:rPr lang="es-419" sz="1350" b="1">
                <a:solidFill>
                  <a:srgbClr val="080808"/>
                </a:solidFill>
                <a:highlight>
                  <a:srgbClr val="FFFFFF"/>
                </a:highlight>
                <a:latin typeface="Courier New"/>
                <a:ea typeface="Courier New"/>
                <a:cs typeface="Courier New"/>
                <a:sym typeface="Courier New"/>
              </a:rPr>
              <a:t>(</a:t>
            </a:r>
            <a:r>
              <a:rPr lang="es-419" sz="1350" b="1">
                <a:solidFill>
                  <a:srgbClr val="067D17"/>
                </a:solidFill>
                <a:highlight>
                  <a:srgbClr val="FFFFFF"/>
                </a:highlight>
                <a:latin typeface="Courier New"/>
                <a:ea typeface="Courier New"/>
                <a:cs typeface="Courier New"/>
                <a:sym typeface="Courier New"/>
              </a:rPr>
              <a:t>"/hello"</a:t>
            </a:r>
            <a:r>
              <a:rPr lang="es-419" sz="1350" b="1">
                <a:solidFill>
                  <a:srgbClr val="080808"/>
                </a:solidFill>
                <a:highlight>
                  <a:srgbClr val="FFFFFF"/>
                </a:highlight>
                <a:latin typeface="Courier New"/>
                <a:ea typeface="Courier New"/>
                <a:cs typeface="Courier New"/>
                <a:sym typeface="Courier New"/>
              </a:rPr>
              <a:t>)</a:t>
            </a:r>
            <a:endParaRPr sz="1350" b="1">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b="1">
                <a:solidFill>
                  <a:srgbClr val="080808"/>
                </a:solidFill>
                <a:highlight>
                  <a:srgbClr val="FFFFFF"/>
                </a:highlight>
                <a:latin typeface="Courier New"/>
                <a:ea typeface="Courier New"/>
                <a:cs typeface="Courier New"/>
                <a:sym typeface="Courier New"/>
              </a:rPr>
              <a:t>   </a:t>
            </a:r>
            <a:r>
              <a:rPr lang="es-419" sz="1350" b="1">
                <a:solidFill>
                  <a:srgbClr val="0033B3"/>
                </a:solidFill>
                <a:highlight>
                  <a:srgbClr val="FFFFFF"/>
                </a:highlight>
                <a:latin typeface="Courier New"/>
                <a:ea typeface="Courier New"/>
                <a:cs typeface="Courier New"/>
                <a:sym typeface="Courier New"/>
              </a:rPr>
              <a:t>public </a:t>
            </a:r>
            <a:r>
              <a:rPr lang="es-419" sz="1350" b="1">
                <a:solidFill>
                  <a:schemeClr val="dk1"/>
                </a:solidFill>
                <a:highlight>
                  <a:srgbClr val="FFFFFF"/>
                </a:highlight>
                <a:latin typeface="Courier New"/>
                <a:ea typeface="Courier New"/>
                <a:cs typeface="Courier New"/>
                <a:sym typeface="Courier New"/>
              </a:rPr>
              <a:t>String </a:t>
            </a:r>
            <a:r>
              <a:rPr lang="es-419" sz="1350" b="1">
                <a:solidFill>
                  <a:srgbClr val="00627A"/>
                </a:solidFill>
                <a:highlight>
                  <a:srgbClr val="FFFFFF"/>
                </a:highlight>
                <a:latin typeface="Courier New"/>
                <a:ea typeface="Courier New"/>
                <a:cs typeface="Courier New"/>
                <a:sym typeface="Courier New"/>
              </a:rPr>
              <a:t>sayHello</a:t>
            </a:r>
            <a:r>
              <a:rPr lang="es-419" sz="1350" b="1">
                <a:solidFill>
                  <a:srgbClr val="080808"/>
                </a:solidFill>
                <a:highlight>
                  <a:srgbClr val="FFFFFF"/>
                </a:highlight>
                <a:latin typeface="Courier New"/>
                <a:ea typeface="Courier New"/>
                <a:cs typeface="Courier New"/>
                <a:sym typeface="Courier New"/>
              </a:rPr>
              <a:t>() {</a:t>
            </a:r>
            <a:endParaRPr sz="1350" b="1">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b="1">
                <a:solidFill>
                  <a:srgbClr val="080808"/>
                </a:solidFill>
                <a:highlight>
                  <a:srgbClr val="FFFFFF"/>
                </a:highlight>
                <a:latin typeface="Courier New"/>
                <a:ea typeface="Courier New"/>
                <a:cs typeface="Courier New"/>
                <a:sym typeface="Courier New"/>
              </a:rPr>
              <a:t>       </a:t>
            </a:r>
            <a:r>
              <a:rPr lang="es-419" sz="1350" b="1">
                <a:solidFill>
                  <a:srgbClr val="0033B3"/>
                </a:solidFill>
                <a:highlight>
                  <a:srgbClr val="FFFFFF"/>
                </a:highlight>
                <a:latin typeface="Courier New"/>
                <a:ea typeface="Courier New"/>
                <a:cs typeface="Courier New"/>
                <a:sym typeface="Courier New"/>
              </a:rPr>
              <a:t>return </a:t>
            </a:r>
            <a:r>
              <a:rPr lang="es-419" sz="1350" b="1">
                <a:solidFill>
                  <a:srgbClr val="067D17"/>
                </a:solidFill>
                <a:highlight>
                  <a:srgbClr val="FFFFFF"/>
                </a:highlight>
                <a:latin typeface="Courier New"/>
                <a:ea typeface="Courier New"/>
                <a:cs typeface="Courier New"/>
                <a:sym typeface="Courier New"/>
              </a:rPr>
              <a:t>"Hello World"</a:t>
            </a:r>
            <a:r>
              <a:rPr lang="es-419" sz="1350" b="1">
                <a:solidFill>
                  <a:srgbClr val="080808"/>
                </a:solidFill>
                <a:highlight>
                  <a:srgbClr val="FFFFFF"/>
                </a:highlight>
                <a:latin typeface="Courier New"/>
                <a:ea typeface="Courier New"/>
                <a:cs typeface="Courier New"/>
                <a:sym typeface="Courier New"/>
              </a:rPr>
              <a:t>;</a:t>
            </a:r>
            <a:endParaRPr sz="1350" b="1">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b="1">
                <a:solidFill>
                  <a:srgbClr val="080808"/>
                </a:solidFill>
                <a:highlight>
                  <a:srgbClr val="FFFFFF"/>
                </a:highlight>
                <a:latin typeface="Courier New"/>
                <a:ea typeface="Courier New"/>
                <a:cs typeface="Courier New"/>
                <a:sym typeface="Courier New"/>
              </a:rPr>
              <a:t>   }</a:t>
            </a:r>
            <a:endParaRPr sz="1350" b="1">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s-419" sz="1350">
                <a:solidFill>
                  <a:srgbClr val="080808"/>
                </a:solidFill>
              </a:rPr>
              <a:t>Probar en el navegador</a:t>
            </a:r>
            <a:endParaRPr sz="1350">
              <a:solidFill>
                <a:srgbClr val="080808"/>
              </a:solidFill>
            </a:endParaRPr>
          </a:p>
          <a:p>
            <a:pPr marL="0" lvl="0" indent="0" algn="l" rtl="0">
              <a:spcBef>
                <a:spcPts val="0"/>
              </a:spcBef>
              <a:spcAft>
                <a:spcPts val="0"/>
              </a:spcAft>
              <a:buClr>
                <a:schemeClr val="dk1"/>
              </a:buClr>
              <a:buSzPts val="1100"/>
              <a:buFont typeface="Arial"/>
              <a:buNone/>
            </a:pPr>
            <a:endParaRPr sz="1350">
              <a:solidFill>
                <a:srgbClr val="080808"/>
              </a:solidFill>
              <a:latin typeface="Courier New"/>
              <a:ea typeface="Courier New"/>
              <a:cs typeface="Courier New"/>
              <a:sym typeface="Courier New"/>
            </a:endParaRPr>
          </a:p>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1fa53d5c77_0_8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31fa53d5c77_0_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b="1"/>
              <a:t>Ruta del endpoint</a:t>
            </a:r>
            <a:r>
              <a:rPr lang="es-419"/>
              <a:t>: se añade a la ruta base, que por defecto es </a:t>
            </a:r>
            <a:r>
              <a:rPr lang="es-419" u="sng">
                <a:solidFill>
                  <a:schemeClr val="hlink"/>
                </a:solidFill>
                <a:hlinkClick r:id="rId3"/>
              </a:rPr>
              <a:t>http://localhost:8080</a:t>
            </a:r>
            <a:endParaRPr/>
          </a:p>
          <a:p>
            <a:pPr marL="457200" lvl="0" indent="-298450" algn="l" rtl="0">
              <a:spcBef>
                <a:spcPts val="0"/>
              </a:spcBef>
              <a:spcAft>
                <a:spcPts val="0"/>
              </a:spcAft>
              <a:buSzPts val="1100"/>
              <a:buChar char="-"/>
            </a:pPr>
            <a:r>
              <a:rPr lang="es-419"/>
              <a:t>El método puede tener un nombre cualquiera.</a:t>
            </a:r>
            <a:endParaRPr/>
          </a:p>
          <a:p>
            <a:pPr marL="457200" lvl="0" indent="-298450" algn="l" rtl="0">
              <a:spcBef>
                <a:spcPts val="0"/>
              </a:spcBef>
              <a:spcAft>
                <a:spcPts val="0"/>
              </a:spcAft>
              <a:buSzPts val="1100"/>
              <a:buChar char="-"/>
            </a:pPr>
            <a:r>
              <a:rPr lang="es-419" b="1"/>
              <a:t>No hay argumentos obligatorios</a:t>
            </a:r>
            <a:r>
              <a:rPr lang="es-419"/>
              <a:t>, aunque Spring es muy flexible y puede recibir diferentes tipos para manejar parámetros de entrada, de salida, el usuario autenticado, acceso a la petición realizada, …</a:t>
            </a:r>
            <a:endParaRPr/>
          </a:p>
          <a:p>
            <a:pPr marL="457200" lvl="0" indent="-298450" algn="l" rtl="0">
              <a:spcBef>
                <a:spcPts val="0"/>
              </a:spcBef>
              <a:spcAft>
                <a:spcPts val="0"/>
              </a:spcAft>
              <a:buSzPts val="1100"/>
              <a:buChar char="-"/>
            </a:pPr>
            <a:r>
              <a:rPr lang="es-419" b="1"/>
              <a:t>Valor de retorno:</a:t>
            </a:r>
            <a:r>
              <a:rPr lang="es-419"/>
              <a:t> al ser un controlador rest, lo que devuelve el método es lo que se envía al cliente (como si llevara la anotación @ResponseBody) (transformado a través del HttpMessageConverter correspondiente).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1fa53d5c77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1fa53d5c77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En </a:t>
            </a:r>
            <a:r>
              <a:rPr lang="es-419" b="1">
                <a:solidFill>
                  <a:schemeClr val="dk1"/>
                </a:solidFill>
              </a:rPr>
              <a:t>Spring Framework</a:t>
            </a:r>
            <a:r>
              <a:rPr lang="es-419">
                <a:solidFill>
                  <a:schemeClr val="dk1"/>
                </a:solidFill>
              </a:rPr>
              <a:t>, un </a:t>
            </a:r>
            <a:r>
              <a:rPr lang="es-419" b="1">
                <a:solidFill>
                  <a:srgbClr val="188038"/>
                </a:solidFill>
                <a:latin typeface="Roboto Mono"/>
                <a:ea typeface="Roboto Mono"/>
                <a:cs typeface="Roboto Mono"/>
                <a:sym typeface="Roboto Mono"/>
              </a:rPr>
              <a:t>HttpMessageConverter</a:t>
            </a:r>
            <a:r>
              <a:rPr lang="es-419">
                <a:solidFill>
                  <a:schemeClr val="dk1"/>
                </a:solidFill>
              </a:rPr>
              <a:t> es un componente que se encarga de convertir automáticamente las solicitudes y respuestas HTTP entre objetos Java y formatos de datos como JSON, XML, o texto plano. Este mecanismo es esencial para manejar datos en APIs RESTful, donde se necesita interpretar el cuerpo de las solicitudes (request body) y generar el cuerpo de las respuestas (response body) de manera transparente.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Función Principal</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El </a:t>
            </a:r>
            <a:r>
              <a:rPr lang="es-419">
                <a:solidFill>
                  <a:srgbClr val="188038"/>
                </a:solidFill>
                <a:latin typeface="Roboto Mono"/>
                <a:ea typeface="Roboto Mono"/>
                <a:cs typeface="Roboto Mono"/>
                <a:sym typeface="Roboto Mono"/>
              </a:rPr>
              <a:t>HttpMessageConverter</a:t>
            </a:r>
            <a:r>
              <a:rPr lang="es-419">
                <a:solidFill>
                  <a:schemeClr val="dk1"/>
                </a:solidFill>
              </a:rPr>
              <a:t> permite que Spring:</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Deserialice</a:t>
            </a:r>
            <a:r>
              <a:rPr lang="es-419">
                <a:solidFill>
                  <a:schemeClr val="dk1"/>
                </a:solidFill>
              </a:rPr>
              <a:t> el cuerpo de una solicitud HTTP en un objeto Java para procesarlo dentro de los controladores.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Serialice</a:t>
            </a:r>
            <a:r>
              <a:rPr lang="es-419">
                <a:solidFill>
                  <a:schemeClr val="dk1"/>
                </a:solidFill>
              </a:rPr>
              <a:t> un objeto Java en un formato específico (como JSON o XML) para enviarlo como respuesta HTTP.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Cómo Funciona</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Entrada de Datos</a:t>
            </a:r>
            <a:r>
              <a:rPr lang="es-419">
                <a:solidFill>
                  <a:schemeClr val="dk1"/>
                </a:solidFill>
              </a:rPr>
              <a:t> (Request Body):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Spring busca un </a:t>
            </a:r>
            <a:r>
              <a:rPr lang="es-419">
                <a:solidFill>
                  <a:srgbClr val="188038"/>
                </a:solidFill>
                <a:latin typeface="Roboto Mono"/>
                <a:ea typeface="Roboto Mono"/>
                <a:cs typeface="Roboto Mono"/>
                <a:sym typeface="Roboto Mono"/>
              </a:rPr>
              <a:t>HttpMessageConverter</a:t>
            </a:r>
            <a:r>
              <a:rPr lang="es-419">
                <a:solidFill>
                  <a:schemeClr val="dk1"/>
                </a:solidFill>
              </a:rPr>
              <a:t> que pueda convertir el contenido del cuerpo de la solicitud (por ejemplo, JSON) en un objeto Java.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Esto ocurre en métodos de los controladores anotados con </a:t>
            </a:r>
            <a:r>
              <a:rPr lang="es-419">
                <a:solidFill>
                  <a:srgbClr val="188038"/>
                </a:solidFill>
                <a:latin typeface="Roboto Mono"/>
                <a:ea typeface="Roboto Mono"/>
                <a:cs typeface="Roboto Mono"/>
                <a:sym typeface="Roboto Mono"/>
              </a:rPr>
              <a:t>@RequestBody</a:t>
            </a:r>
            <a:r>
              <a:rPr lang="es-419">
                <a:solidFill>
                  <a:schemeClr val="dk1"/>
                </a:solidFill>
              </a:rPr>
              <a:t>.</a:t>
            </a:r>
            <a:endParaRPr>
              <a:solidFill>
                <a:schemeClr val="dk1"/>
              </a:solidFill>
            </a:endParaRPr>
          </a:p>
          <a:p>
            <a:pPr marL="0" lvl="0" indent="0" algn="l" rtl="0">
              <a:spcBef>
                <a:spcPts val="1200"/>
              </a:spcBef>
              <a:spcAft>
                <a:spcPts val="0"/>
              </a:spcAft>
              <a:buNone/>
            </a:pPr>
            <a:r>
              <a:rPr lang="es-419">
                <a:solidFill>
                  <a:schemeClr val="dk1"/>
                </a:solidFill>
              </a:rPr>
              <a:t>Ejemplo:</a:t>
            </a:r>
            <a:br>
              <a:rPr lang="es-419">
                <a:solidFill>
                  <a:schemeClr val="dk1"/>
                </a:solidFill>
              </a:rPr>
            </a:br>
            <a:r>
              <a:rPr lang="es-419">
                <a:solidFill>
                  <a:schemeClr val="dk1"/>
                </a:solidFill>
              </a:rPr>
              <a:t>java</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@PostMapping("/users")</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void createUser(@RequestBody User user)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'user' se convierte automáticamente de JSON a un objeto User.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Salida de Datos</a:t>
            </a:r>
            <a:r>
              <a:rPr lang="es-419">
                <a:solidFill>
                  <a:schemeClr val="dk1"/>
                </a:solidFill>
              </a:rPr>
              <a:t> (Response Body):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Spring utiliza un </a:t>
            </a:r>
            <a:r>
              <a:rPr lang="es-419">
                <a:solidFill>
                  <a:srgbClr val="188038"/>
                </a:solidFill>
                <a:latin typeface="Roboto Mono"/>
                <a:ea typeface="Roboto Mono"/>
                <a:cs typeface="Roboto Mono"/>
                <a:sym typeface="Roboto Mono"/>
              </a:rPr>
              <a:t>HttpMessageConverter</a:t>
            </a:r>
            <a:r>
              <a:rPr lang="es-419">
                <a:solidFill>
                  <a:schemeClr val="dk1"/>
                </a:solidFill>
              </a:rPr>
              <a:t> para convertir un objeto Java en el formato necesario (JSON, XML, etc.) antes de enviarlo al cliente.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Esto ocurre en métodos anotados con </a:t>
            </a:r>
            <a:r>
              <a:rPr lang="es-419">
                <a:solidFill>
                  <a:srgbClr val="188038"/>
                </a:solidFill>
                <a:latin typeface="Roboto Mono"/>
                <a:ea typeface="Roboto Mono"/>
                <a:cs typeface="Roboto Mono"/>
                <a:sym typeface="Roboto Mono"/>
              </a:rPr>
              <a:t>@ResponseBody</a:t>
            </a:r>
            <a:r>
              <a:rPr lang="es-419">
                <a:solidFill>
                  <a:schemeClr val="dk1"/>
                </a:solidFill>
              </a:rPr>
              <a:t> o cuando se devuelve un objeto directamente en un </a:t>
            </a:r>
            <a:r>
              <a:rPr lang="es-419">
                <a:solidFill>
                  <a:srgbClr val="188038"/>
                </a:solidFill>
                <a:latin typeface="Roboto Mono"/>
                <a:ea typeface="Roboto Mono"/>
                <a:cs typeface="Roboto Mono"/>
                <a:sym typeface="Roboto Mono"/>
              </a:rPr>
              <a:t>@RestController</a:t>
            </a:r>
            <a:r>
              <a:rPr lang="es-419">
                <a:solidFill>
                  <a:schemeClr val="dk1"/>
                </a:solidFill>
              </a:rPr>
              <a:t>.</a:t>
            </a:r>
            <a:endParaRPr>
              <a:solidFill>
                <a:schemeClr val="dk1"/>
              </a:solidFill>
            </a:endParaRPr>
          </a:p>
          <a:p>
            <a:pPr marL="0" lvl="0" indent="0" algn="l" rtl="0">
              <a:spcBef>
                <a:spcPts val="1200"/>
              </a:spcBef>
              <a:spcAft>
                <a:spcPts val="0"/>
              </a:spcAft>
              <a:buNone/>
            </a:pPr>
            <a:r>
              <a:rPr lang="es-419">
                <a:solidFill>
                  <a:schemeClr val="dk1"/>
                </a:solidFill>
              </a:rPr>
              <a:t>Ejemplo:</a:t>
            </a:r>
            <a:br>
              <a:rPr lang="es-419">
                <a:solidFill>
                  <a:schemeClr val="dk1"/>
                </a:solidFill>
              </a:rPr>
            </a:br>
            <a:r>
              <a:rPr lang="es-419">
                <a:solidFill>
                  <a:schemeClr val="dk1"/>
                </a:solidFill>
              </a:rPr>
              <a:t>java</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@GetMapping("/users/{id}")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User getUser(@PathVariable Long id)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return userService.findById(id);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El objeto User se convierte automáticamente a JSON para la respuesta.</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Tipos de </a:t>
            </a:r>
            <a:r>
              <a:rPr lang="es-419" sz="1300" b="1">
                <a:solidFill>
                  <a:srgbClr val="188038"/>
                </a:solidFill>
                <a:latin typeface="Roboto Mono"/>
                <a:ea typeface="Roboto Mono"/>
                <a:cs typeface="Roboto Mono"/>
                <a:sym typeface="Roboto Mono"/>
              </a:rPr>
              <a:t>HttpMessageConverter</a:t>
            </a:r>
            <a:r>
              <a:rPr lang="es-419" sz="1300" b="1">
                <a:solidFill>
                  <a:schemeClr val="dk1"/>
                </a:solidFill>
              </a:rPr>
              <a:t> en Spring</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Spring Framework incluye varios convertidores integrados para manejar formatos comunes:</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JSON</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MappingJackson2HttpMessageConverter</a:t>
            </a:r>
            <a:r>
              <a:rPr lang="es-419">
                <a:solidFill>
                  <a:schemeClr val="dk1"/>
                </a:solidFill>
              </a:rPr>
              <a:t>: Utiliza la biblioteca Jackson para manejar JSON.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 el más común en aplicaciones RESTful.</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XML</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Jaxb2RootElementHttpMessageConverter</a:t>
            </a:r>
            <a:r>
              <a:rPr lang="es-419">
                <a:solidFill>
                  <a:schemeClr val="dk1"/>
                </a:solidFill>
              </a:rPr>
              <a:t>: Convierte entre objetos Java y XML utilizando JAXB.</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MappingJackson2XmlHttpMessageConverter</a:t>
            </a:r>
            <a:r>
              <a:rPr lang="es-419">
                <a:solidFill>
                  <a:schemeClr val="dk1"/>
                </a:solidFill>
              </a:rPr>
              <a:t>: Similar al anterior, pero basado en Jackson.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Texto Plano</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StringHttpMessageConverter</a:t>
            </a:r>
            <a:r>
              <a:rPr lang="es-419">
                <a:solidFill>
                  <a:schemeClr val="dk1"/>
                </a:solidFill>
              </a:rPr>
              <a:t>: Maneja conversiones entre texto plano (</a:t>
            </a:r>
            <a:r>
              <a:rPr lang="es-419">
                <a:solidFill>
                  <a:srgbClr val="188038"/>
                </a:solidFill>
                <a:latin typeface="Roboto Mono"/>
                <a:ea typeface="Roboto Mono"/>
                <a:cs typeface="Roboto Mono"/>
                <a:sym typeface="Roboto Mono"/>
              </a:rPr>
              <a:t>String</a:t>
            </a:r>
            <a:r>
              <a:rPr lang="es-419">
                <a:solidFill>
                  <a:schemeClr val="dk1"/>
                </a:solidFill>
              </a:rPr>
              <a:t>) y el cuerpo de la solicitud/respuesta.</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Formularios Codificados en URL</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FormHttpMessageConverter</a:t>
            </a:r>
            <a:r>
              <a:rPr lang="es-419">
                <a:solidFill>
                  <a:schemeClr val="dk1"/>
                </a:solidFill>
              </a:rPr>
              <a:t>: Maneja datos enviados como </a:t>
            </a:r>
            <a:r>
              <a:rPr lang="es-419">
                <a:solidFill>
                  <a:srgbClr val="188038"/>
                </a:solidFill>
                <a:latin typeface="Roboto Mono"/>
                <a:ea typeface="Roboto Mono"/>
                <a:cs typeface="Roboto Mono"/>
                <a:sym typeface="Roboto Mono"/>
              </a:rPr>
              <a:t>application/x-www-form-urlencoded</a:t>
            </a:r>
            <a:r>
              <a:rPr lang="es-419">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Binario</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ByteArrayHttpMessageConverter</a:t>
            </a:r>
            <a:r>
              <a:rPr lang="es-419">
                <a:solidFill>
                  <a:schemeClr val="dk1"/>
                </a:solidFill>
              </a:rPr>
              <a:t>: Procesa datos binarios como arreglos de bytes.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Cómo Spring Elige un HttpMessageConverter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Cuando Spring procesa una solicitud o respuesta, sigue este flujo:</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Content-Type</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Revisa el encabezado </a:t>
            </a:r>
            <a:r>
              <a:rPr lang="es-419">
                <a:solidFill>
                  <a:srgbClr val="188038"/>
                </a:solidFill>
                <a:latin typeface="Roboto Mono"/>
                <a:ea typeface="Roboto Mono"/>
                <a:cs typeface="Roboto Mono"/>
                <a:sym typeface="Roboto Mono"/>
              </a:rPr>
              <a:t>Content-Type</a:t>
            </a:r>
            <a:r>
              <a:rPr lang="es-419">
                <a:solidFill>
                  <a:schemeClr val="dk1"/>
                </a:solidFill>
              </a:rPr>
              <a:t> de la solicitud o </a:t>
            </a:r>
            <a:r>
              <a:rPr lang="es-419">
                <a:solidFill>
                  <a:srgbClr val="188038"/>
                </a:solidFill>
                <a:latin typeface="Roboto Mono"/>
                <a:ea typeface="Roboto Mono"/>
                <a:cs typeface="Roboto Mono"/>
                <a:sym typeface="Roboto Mono"/>
              </a:rPr>
              <a:t>Accept</a:t>
            </a:r>
            <a:r>
              <a:rPr lang="es-419">
                <a:solidFill>
                  <a:schemeClr val="dk1"/>
                </a:solidFill>
              </a:rPr>
              <a:t> de la respuesta.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Determina el formato de los datos (JSON, XML, etc.).</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Capacidades del Converter</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Busca un </a:t>
            </a:r>
            <a:r>
              <a:rPr lang="es-419">
                <a:solidFill>
                  <a:srgbClr val="188038"/>
                </a:solidFill>
                <a:latin typeface="Roboto Mono"/>
                <a:ea typeface="Roboto Mono"/>
                <a:cs typeface="Roboto Mono"/>
                <a:sym typeface="Roboto Mono"/>
              </a:rPr>
              <a:t>HttpMessageConverter</a:t>
            </a:r>
            <a:r>
              <a:rPr lang="es-419">
                <a:solidFill>
                  <a:schemeClr val="dk1"/>
                </a:solidFill>
              </a:rPr>
              <a:t> que pueda manejar el tipo de contenido especificado.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Si se encuentra un convertidor adecuado, lo usa; de lo contrario, lanza una excepción.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Configuración Personalizada de HttpMessageConverter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Puedes personalizar o agregar tus propios convertidores mediante configuración en Spring.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Ejemplo con </a:t>
            </a:r>
            <a:r>
              <a:rPr lang="es-419" b="1">
                <a:solidFill>
                  <a:srgbClr val="188038"/>
                </a:solidFill>
                <a:latin typeface="Roboto Mono"/>
                <a:ea typeface="Roboto Mono"/>
                <a:cs typeface="Roboto Mono"/>
                <a:sym typeface="Roboto Mono"/>
              </a:rPr>
              <a:t>WebMvcConfigurer</a:t>
            </a:r>
            <a:r>
              <a:rPr lang="es-419" b="1">
                <a:solidFill>
                  <a:schemeClr val="dk1"/>
                </a:solidFill>
              </a:rPr>
              <a:t>:</a:t>
            </a:r>
            <a:endParaRPr b="1">
              <a:solidFill>
                <a:schemeClr val="dk1"/>
              </a:solidFill>
            </a:endParaRPr>
          </a:p>
          <a:p>
            <a:pPr marL="0" lvl="0" indent="0" algn="l" rtl="0">
              <a:lnSpc>
                <a:spcPct val="115000"/>
              </a:lnSpc>
              <a:spcBef>
                <a:spcPts val="200"/>
              </a:spcBef>
              <a:spcAft>
                <a:spcPts val="0"/>
              </a:spcAft>
              <a:buClr>
                <a:schemeClr val="dk1"/>
              </a:buClr>
              <a:buSzPts val="1100"/>
              <a:buFont typeface="Arial"/>
              <a:buNone/>
            </a:pPr>
            <a:r>
              <a:rPr lang="es-419">
                <a:solidFill>
                  <a:schemeClr val="dk1"/>
                </a:solidFill>
              </a:rPr>
              <a:t>java</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@Configuration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class WebConfig implements WebMvcConfigurer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@Override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public void configureMessageConverters(List&lt;HttpMessageConverter&lt;?&gt;&gt; converters)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Agregar un nuevo HttpMessageConverter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converters.add(new MyCustomHttpMessageConverter());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Configuración de Jackson: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Si utilizas JSON con Jackson, puedes personalizar su configuración añadiendo un </a:t>
            </a:r>
            <a:r>
              <a:rPr lang="es-419">
                <a:solidFill>
                  <a:srgbClr val="188038"/>
                </a:solidFill>
                <a:latin typeface="Roboto Mono"/>
                <a:ea typeface="Roboto Mono"/>
                <a:cs typeface="Roboto Mono"/>
                <a:sym typeface="Roboto Mono"/>
              </a:rPr>
              <a:t>ObjectMapper</a:t>
            </a:r>
            <a:r>
              <a:rPr lang="es-419">
                <a:solidFill>
                  <a:schemeClr val="dk1"/>
                </a:solidFill>
              </a:rPr>
              <a:t> personalizado: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java</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@Bean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MappingJackson2HttpMessageConverter customJacksonConverter()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ObjectMapper objectMapper = new ObjectMapper();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objectMapper.enable(SerializationFeature.INDENT_OUTPUT); // Salida JSON bonita</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return new MappingJackson2HttpMessageConverter(objectMapper);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Ventajas del </a:t>
            </a:r>
            <a:r>
              <a:rPr lang="es-419" sz="1300" b="1">
                <a:solidFill>
                  <a:srgbClr val="188038"/>
                </a:solidFill>
                <a:latin typeface="Roboto Mono"/>
                <a:ea typeface="Roboto Mono"/>
                <a:cs typeface="Roboto Mono"/>
                <a:sym typeface="Roboto Mono"/>
              </a:rPr>
              <a:t>HttpMessageConverter</a:t>
            </a:r>
            <a:endParaRPr sz="1300" b="1">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Automatización</a:t>
            </a:r>
            <a:r>
              <a:rPr lang="es-419">
                <a:solidFill>
                  <a:schemeClr val="dk1"/>
                </a:solidFill>
              </a:rPr>
              <a:t>:</a:t>
            </a:r>
            <a:br>
              <a:rPr lang="es-419">
                <a:solidFill>
                  <a:schemeClr val="dk1"/>
                </a:solidFill>
              </a:rPr>
            </a:br>
            <a:r>
              <a:rPr lang="es-419">
                <a:solidFill>
                  <a:schemeClr val="dk1"/>
                </a:solidFill>
              </a:rPr>
              <a:t>Elimina la necesidad de escribir lógica manual para convertir entre objetos y formatos de datos.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Extensibilidad</a:t>
            </a:r>
            <a:r>
              <a:rPr lang="es-419">
                <a:solidFill>
                  <a:schemeClr val="dk1"/>
                </a:solidFill>
              </a:rPr>
              <a:t>:</a:t>
            </a:r>
            <a:br>
              <a:rPr lang="es-419">
                <a:solidFill>
                  <a:schemeClr val="dk1"/>
                </a:solidFill>
              </a:rPr>
            </a:br>
            <a:r>
              <a:rPr lang="es-419">
                <a:solidFill>
                  <a:schemeClr val="dk1"/>
                </a:solidFill>
              </a:rPr>
              <a:t>Permite agregar nuevos convertidores o personalizar los existentes según las necesidades de tu aplicación.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Soporte para Estándares</a:t>
            </a:r>
            <a:r>
              <a:rPr lang="es-419">
                <a:solidFill>
                  <a:schemeClr val="dk1"/>
                </a:solidFill>
              </a:rPr>
              <a:t>:</a:t>
            </a:r>
            <a:br>
              <a:rPr lang="es-419">
                <a:solidFill>
                  <a:schemeClr val="dk1"/>
                </a:solidFill>
              </a:rPr>
            </a:br>
            <a:r>
              <a:rPr lang="es-419">
                <a:solidFill>
                  <a:schemeClr val="dk1"/>
                </a:solidFill>
              </a:rPr>
              <a:t>Maneja automáticamente formatos comunes como JSON y XML, alineándose con las mejores prácticas RESTful.</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Integración Transparente</a:t>
            </a:r>
            <a:r>
              <a:rPr lang="es-419">
                <a:solidFill>
                  <a:schemeClr val="dk1"/>
                </a:solidFill>
              </a:rPr>
              <a:t>:</a:t>
            </a:r>
            <a:br>
              <a:rPr lang="es-419">
                <a:solidFill>
                  <a:schemeClr val="dk1"/>
                </a:solidFill>
              </a:rPr>
            </a:br>
            <a:r>
              <a:rPr lang="es-419">
                <a:solidFill>
                  <a:schemeClr val="dk1"/>
                </a:solidFill>
              </a:rPr>
              <a:t>Se integra directamente con anotaciones como </a:t>
            </a:r>
            <a:r>
              <a:rPr lang="es-419">
                <a:solidFill>
                  <a:srgbClr val="188038"/>
                </a:solidFill>
                <a:latin typeface="Roboto Mono"/>
                <a:ea typeface="Roboto Mono"/>
                <a:cs typeface="Roboto Mono"/>
                <a:sym typeface="Roboto Mono"/>
              </a:rPr>
              <a:t>@RequestBody</a:t>
            </a:r>
            <a:r>
              <a:rPr lang="es-419">
                <a:solidFill>
                  <a:schemeClr val="dk1"/>
                </a:solidFill>
              </a:rPr>
              <a:t> y </a:t>
            </a:r>
            <a:r>
              <a:rPr lang="es-419">
                <a:solidFill>
                  <a:srgbClr val="188038"/>
                </a:solidFill>
                <a:latin typeface="Roboto Mono"/>
                <a:ea typeface="Roboto Mono"/>
                <a:cs typeface="Roboto Mono"/>
                <a:sym typeface="Roboto Mono"/>
              </a:rPr>
              <a:t>@ResponseBody</a:t>
            </a:r>
            <a:r>
              <a:rPr lang="es-419">
                <a:solidFill>
                  <a:schemeClr val="dk1"/>
                </a:solidFill>
              </a:rPr>
              <a:t>, simplificando el desarrollo.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En resumen, los </a:t>
            </a:r>
            <a:r>
              <a:rPr lang="es-419">
                <a:solidFill>
                  <a:srgbClr val="188038"/>
                </a:solidFill>
                <a:latin typeface="Roboto Mono"/>
                <a:ea typeface="Roboto Mono"/>
                <a:cs typeface="Roboto Mono"/>
                <a:sym typeface="Roboto Mono"/>
              </a:rPr>
              <a:t>HttpMessageConverter</a:t>
            </a:r>
            <a:r>
              <a:rPr lang="es-419">
                <a:solidFill>
                  <a:schemeClr val="dk1"/>
                </a:solidFill>
              </a:rPr>
              <a:t> son una de las piezas clave que hacen que el desarrollo de APIs REST en Spring sea tan eficiente</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1fa53d5c77_0_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1fa53d5c77_0_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En </a:t>
            </a:r>
            <a:r>
              <a:rPr lang="es-419" b="1">
                <a:solidFill>
                  <a:schemeClr val="dk1"/>
                </a:solidFill>
              </a:rPr>
              <a:t>Spring Framework</a:t>
            </a:r>
            <a:r>
              <a:rPr lang="es-419">
                <a:solidFill>
                  <a:schemeClr val="dk1"/>
                </a:solidFill>
              </a:rPr>
              <a:t>, un </a:t>
            </a:r>
            <a:r>
              <a:rPr lang="es-419" b="1">
                <a:solidFill>
                  <a:srgbClr val="188038"/>
                </a:solidFill>
                <a:latin typeface="Roboto Mono"/>
                <a:ea typeface="Roboto Mono"/>
                <a:cs typeface="Roboto Mono"/>
                <a:sym typeface="Roboto Mono"/>
              </a:rPr>
              <a:t>HttpMessageConverter</a:t>
            </a:r>
            <a:r>
              <a:rPr lang="es-419">
                <a:solidFill>
                  <a:schemeClr val="dk1"/>
                </a:solidFill>
              </a:rPr>
              <a:t> es un componente que se encarga de convertir automáticamente las solicitudes y respuestas HTTP entre objetos Java y formatos de datos como JSON, XML, o texto plano. Este mecanismo es esencial para manejar datos en APIs RESTful, donde se necesita interpretar el cuerpo de las solicitudes (request body) y generar el cuerpo de las respuestas (response body) de manera transparente.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Función Principal</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El </a:t>
            </a:r>
            <a:r>
              <a:rPr lang="es-419">
                <a:solidFill>
                  <a:srgbClr val="188038"/>
                </a:solidFill>
                <a:latin typeface="Roboto Mono"/>
                <a:ea typeface="Roboto Mono"/>
                <a:cs typeface="Roboto Mono"/>
                <a:sym typeface="Roboto Mono"/>
              </a:rPr>
              <a:t>HttpMessageConverter</a:t>
            </a:r>
            <a:r>
              <a:rPr lang="es-419">
                <a:solidFill>
                  <a:schemeClr val="dk1"/>
                </a:solidFill>
              </a:rPr>
              <a:t> permite que Spring:</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Deserialice</a:t>
            </a:r>
            <a:r>
              <a:rPr lang="es-419">
                <a:solidFill>
                  <a:schemeClr val="dk1"/>
                </a:solidFill>
              </a:rPr>
              <a:t> el cuerpo de una solicitud HTTP en un objeto Java para procesarlo dentro de los controladores.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Serialice</a:t>
            </a:r>
            <a:r>
              <a:rPr lang="es-419">
                <a:solidFill>
                  <a:schemeClr val="dk1"/>
                </a:solidFill>
              </a:rPr>
              <a:t> un objeto Java en un formato específico (como JSON o XML) para enviarlo como respuesta HTTP.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Cómo Funciona</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Entrada de Datos</a:t>
            </a:r>
            <a:r>
              <a:rPr lang="es-419">
                <a:solidFill>
                  <a:schemeClr val="dk1"/>
                </a:solidFill>
              </a:rPr>
              <a:t> (Request Body):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Spring busca un </a:t>
            </a:r>
            <a:r>
              <a:rPr lang="es-419">
                <a:solidFill>
                  <a:srgbClr val="188038"/>
                </a:solidFill>
                <a:latin typeface="Roboto Mono"/>
                <a:ea typeface="Roboto Mono"/>
                <a:cs typeface="Roboto Mono"/>
                <a:sym typeface="Roboto Mono"/>
              </a:rPr>
              <a:t>HttpMessageConverter</a:t>
            </a:r>
            <a:r>
              <a:rPr lang="es-419">
                <a:solidFill>
                  <a:schemeClr val="dk1"/>
                </a:solidFill>
              </a:rPr>
              <a:t> que pueda convertir el contenido del cuerpo de la solicitud (por ejemplo, JSON) en un objeto Java.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Esto ocurre en métodos de los controladores anotados con </a:t>
            </a:r>
            <a:r>
              <a:rPr lang="es-419">
                <a:solidFill>
                  <a:srgbClr val="188038"/>
                </a:solidFill>
                <a:latin typeface="Roboto Mono"/>
                <a:ea typeface="Roboto Mono"/>
                <a:cs typeface="Roboto Mono"/>
                <a:sym typeface="Roboto Mono"/>
              </a:rPr>
              <a:t>@RequestBody</a:t>
            </a:r>
            <a:r>
              <a:rPr lang="es-419">
                <a:solidFill>
                  <a:schemeClr val="dk1"/>
                </a:solidFill>
              </a:rPr>
              <a:t>.</a:t>
            </a:r>
            <a:endParaRPr>
              <a:solidFill>
                <a:schemeClr val="dk1"/>
              </a:solidFill>
            </a:endParaRPr>
          </a:p>
          <a:p>
            <a:pPr marL="0" lvl="0" indent="0" algn="l" rtl="0">
              <a:spcBef>
                <a:spcPts val="1200"/>
              </a:spcBef>
              <a:spcAft>
                <a:spcPts val="0"/>
              </a:spcAft>
              <a:buNone/>
            </a:pPr>
            <a:r>
              <a:rPr lang="es-419">
                <a:solidFill>
                  <a:schemeClr val="dk1"/>
                </a:solidFill>
              </a:rPr>
              <a:t>Ejemplo:</a:t>
            </a:r>
            <a:br>
              <a:rPr lang="es-419">
                <a:solidFill>
                  <a:schemeClr val="dk1"/>
                </a:solidFill>
              </a:rPr>
            </a:br>
            <a:r>
              <a:rPr lang="es-419">
                <a:solidFill>
                  <a:schemeClr val="dk1"/>
                </a:solidFill>
              </a:rPr>
              <a:t>java</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@PostMapping("/users")</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void createUser(@RequestBody User user)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'user' se convierte automáticamente de JSON a un objeto User.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Salida de Datos</a:t>
            </a:r>
            <a:r>
              <a:rPr lang="es-419">
                <a:solidFill>
                  <a:schemeClr val="dk1"/>
                </a:solidFill>
              </a:rPr>
              <a:t> (Response Body):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Spring utiliza un </a:t>
            </a:r>
            <a:r>
              <a:rPr lang="es-419">
                <a:solidFill>
                  <a:srgbClr val="188038"/>
                </a:solidFill>
                <a:latin typeface="Roboto Mono"/>
                <a:ea typeface="Roboto Mono"/>
                <a:cs typeface="Roboto Mono"/>
                <a:sym typeface="Roboto Mono"/>
              </a:rPr>
              <a:t>HttpMessageConverter</a:t>
            </a:r>
            <a:r>
              <a:rPr lang="es-419">
                <a:solidFill>
                  <a:schemeClr val="dk1"/>
                </a:solidFill>
              </a:rPr>
              <a:t> para convertir un objeto Java en el formato necesario (JSON, XML, etc.) antes de enviarlo al cliente.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Esto ocurre en métodos anotados con </a:t>
            </a:r>
            <a:r>
              <a:rPr lang="es-419">
                <a:solidFill>
                  <a:srgbClr val="188038"/>
                </a:solidFill>
                <a:latin typeface="Roboto Mono"/>
                <a:ea typeface="Roboto Mono"/>
                <a:cs typeface="Roboto Mono"/>
                <a:sym typeface="Roboto Mono"/>
              </a:rPr>
              <a:t>@ResponseBody</a:t>
            </a:r>
            <a:r>
              <a:rPr lang="es-419">
                <a:solidFill>
                  <a:schemeClr val="dk1"/>
                </a:solidFill>
              </a:rPr>
              <a:t> o cuando se devuelve un objeto directamente en un </a:t>
            </a:r>
            <a:r>
              <a:rPr lang="es-419">
                <a:solidFill>
                  <a:srgbClr val="188038"/>
                </a:solidFill>
                <a:latin typeface="Roboto Mono"/>
                <a:ea typeface="Roboto Mono"/>
                <a:cs typeface="Roboto Mono"/>
                <a:sym typeface="Roboto Mono"/>
              </a:rPr>
              <a:t>@RestController</a:t>
            </a:r>
            <a:r>
              <a:rPr lang="es-419">
                <a:solidFill>
                  <a:schemeClr val="dk1"/>
                </a:solidFill>
              </a:rPr>
              <a:t>.</a:t>
            </a:r>
            <a:endParaRPr>
              <a:solidFill>
                <a:schemeClr val="dk1"/>
              </a:solidFill>
            </a:endParaRPr>
          </a:p>
          <a:p>
            <a:pPr marL="0" lvl="0" indent="0" algn="l" rtl="0">
              <a:spcBef>
                <a:spcPts val="1200"/>
              </a:spcBef>
              <a:spcAft>
                <a:spcPts val="0"/>
              </a:spcAft>
              <a:buNone/>
            </a:pPr>
            <a:r>
              <a:rPr lang="es-419">
                <a:solidFill>
                  <a:schemeClr val="dk1"/>
                </a:solidFill>
              </a:rPr>
              <a:t>Ejemplo:</a:t>
            </a:r>
            <a:br>
              <a:rPr lang="es-419">
                <a:solidFill>
                  <a:schemeClr val="dk1"/>
                </a:solidFill>
              </a:rPr>
            </a:br>
            <a:r>
              <a:rPr lang="es-419">
                <a:solidFill>
                  <a:schemeClr val="dk1"/>
                </a:solidFill>
              </a:rPr>
              <a:t>java</a:t>
            </a:r>
            <a:br>
              <a:rPr lang="es-419">
                <a:solidFill>
                  <a:schemeClr val="dk1"/>
                </a:solidFill>
              </a:rPr>
            </a:br>
            <a:r>
              <a:rPr lang="es-419">
                <a:solidFill>
                  <a:schemeClr val="dk1"/>
                </a:solidFill>
              </a:rPr>
              <a:t>Copiar código</a:t>
            </a:r>
            <a:br>
              <a:rPr lang="es-419">
                <a:solidFill>
                  <a:schemeClr val="dk1"/>
                </a:solidFill>
              </a:rPr>
            </a:br>
            <a:r>
              <a:rPr lang="es-419">
                <a:solidFill>
                  <a:srgbClr val="188038"/>
                </a:solidFill>
                <a:latin typeface="Roboto Mono"/>
                <a:ea typeface="Roboto Mono"/>
                <a:cs typeface="Roboto Mono"/>
                <a:sym typeface="Roboto Mono"/>
              </a:rPr>
              <a:t>@GetMapping("/users/{id}")</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User getUser(@PathVariable Long id)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return userService.findById(id);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El objeto User se convierte automáticamente a JSON para la respuesta.</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Tipos de </a:t>
            </a:r>
            <a:r>
              <a:rPr lang="es-419" sz="1300" b="1">
                <a:solidFill>
                  <a:srgbClr val="188038"/>
                </a:solidFill>
                <a:latin typeface="Roboto Mono"/>
                <a:ea typeface="Roboto Mono"/>
                <a:cs typeface="Roboto Mono"/>
                <a:sym typeface="Roboto Mono"/>
              </a:rPr>
              <a:t>HttpMessageConverter</a:t>
            </a:r>
            <a:r>
              <a:rPr lang="es-419" sz="1300" b="1">
                <a:solidFill>
                  <a:schemeClr val="dk1"/>
                </a:solidFill>
              </a:rPr>
              <a:t> en Spring</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Spring Framework incluye varios convertidores integrados para manejar formatos comunes:</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JSON</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MappingJackson2HttpMessageConverter</a:t>
            </a:r>
            <a:r>
              <a:rPr lang="es-419">
                <a:solidFill>
                  <a:schemeClr val="dk1"/>
                </a:solidFill>
              </a:rPr>
              <a:t>: Utiliza la biblioteca Jackson para manejar JSON.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Es el más común en aplicaciones RESTful.</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XML</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Jaxb2RootElementHttpMessageConverter</a:t>
            </a:r>
            <a:r>
              <a:rPr lang="es-419">
                <a:solidFill>
                  <a:schemeClr val="dk1"/>
                </a:solidFill>
              </a:rPr>
              <a:t>: Convierte entre objetos Java y XML utilizando JAXB.</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MappingJackson2XmlHttpMessageConverter</a:t>
            </a:r>
            <a:r>
              <a:rPr lang="es-419">
                <a:solidFill>
                  <a:schemeClr val="dk1"/>
                </a:solidFill>
              </a:rPr>
              <a:t>: Similar al anterior, pero basado en Jackson.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Texto Plano</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StringHttpMessageConverter</a:t>
            </a:r>
            <a:r>
              <a:rPr lang="es-419">
                <a:solidFill>
                  <a:schemeClr val="dk1"/>
                </a:solidFill>
              </a:rPr>
              <a:t>: Maneja conversiones entre texto plano (</a:t>
            </a:r>
            <a:r>
              <a:rPr lang="es-419">
                <a:solidFill>
                  <a:srgbClr val="188038"/>
                </a:solidFill>
                <a:latin typeface="Roboto Mono"/>
                <a:ea typeface="Roboto Mono"/>
                <a:cs typeface="Roboto Mono"/>
                <a:sym typeface="Roboto Mono"/>
              </a:rPr>
              <a:t>String</a:t>
            </a:r>
            <a:r>
              <a:rPr lang="es-419">
                <a:solidFill>
                  <a:schemeClr val="dk1"/>
                </a:solidFill>
              </a:rPr>
              <a:t>) y el cuerpo de la solicitud/respuesta.</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Formularios Codificados en URL</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FormHttpMessageConverter</a:t>
            </a:r>
            <a:r>
              <a:rPr lang="es-419">
                <a:solidFill>
                  <a:schemeClr val="dk1"/>
                </a:solidFill>
              </a:rPr>
              <a:t>: Maneja datos enviados como </a:t>
            </a:r>
            <a:r>
              <a:rPr lang="es-419">
                <a:solidFill>
                  <a:srgbClr val="188038"/>
                </a:solidFill>
                <a:latin typeface="Roboto Mono"/>
                <a:ea typeface="Roboto Mono"/>
                <a:cs typeface="Roboto Mono"/>
                <a:sym typeface="Roboto Mono"/>
              </a:rPr>
              <a:t>application/x-www-form-urlencoded</a:t>
            </a:r>
            <a:r>
              <a:rPr lang="es-419">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Binario</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b="1">
                <a:solidFill>
                  <a:srgbClr val="188038"/>
                </a:solidFill>
                <a:latin typeface="Roboto Mono"/>
                <a:ea typeface="Roboto Mono"/>
                <a:cs typeface="Roboto Mono"/>
                <a:sym typeface="Roboto Mono"/>
              </a:rPr>
              <a:t>ByteArrayHttpMessageConverter</a:t>
            </a:r>
            <a:r>
              <a:rPr lang="es-419">
                <a:solidFill>
                  <a:schemeClr val="dk1"/>
                </a:solidFill>
              </a:rPr>
              <a:t>: Procesa datos binarios como arreglos de bytes.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Cómo Spring Elige un HttpMessageConverter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Cuando Spring procesa una solicitud o respuesta, sigue este flujo:</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Content-Type</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Revisa el encabezado </a:t>
            </a:r>
            <a:r>
              <a:rPr lang="es-419">
                <a:solidFill>
                  <a:srgbClr val="188038"/>
                </a:solidFill>
                <a:latin typeface="Roboto Mono"/>
                <a:ea typeface="Roboto Mono"/>
                <a:cs typeface="Roboto Mono"/>
                <a:sym typeface="Roboto Mono"/>
              </a:rPr>
              <a:t>Content-Type</a:t>
            </a:r>
            <a:r>
              <a:rPr lang="es-419">
                <a:solidFill>
                  <a:schemeClr val="dk1"/>
                </a:solidFill>
              </a:rPr>
              <a:t> de la solicitud o </a:t>
            </a:r>
            <a:r>
              <a:rPr lang="es-419">
                <a:solidFill>
                  <a:srgbClr val="188038"/>
                </a:solidFill>
                <a:latin typeface="Roboto Mono"/>
                <a:ea typeface="Roboto Mono"/>
                <a:cs typeface="Roboto Mono"/>
                <a:sym typeface="Roboto Mono"/>
              </a:rPr>
              <a:t>Accept</a:t>
            </a:r>
            <a:r>
              <a:rPr lang="es-419">
                <a:solidFill>
                  <a:schemeClr val="dk1"/>
                </a:solidFill>
              </a:rPr>
              <a:t> de la respuesta.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Determina el formato de los datos (JSON, XML, etc.).</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Capacidades del Converter</a:t>
            </a:r>
            <a:r>
              <a:rPr lang="es-419">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Busca un </a:t>
            </a:r>
            <a:r>
              <a:rPr lang="es-419">
                <a:solidFill>
                  <a:srgbClr val="188038"/>
                </a:solidFill>
                <a:latin typeface="Roboto Mono"/>
                <a:ea typeface="Roboto Mono"/>
                <a:cs typeface="Roboto Mono"/>
                <a:sym typeface="Roboto Mono"/>
              </a:rPr>
              <a:t>HttpMessageConverter</a:t>
            </a:r>
            <a:r>
              <a:rPr lang="es-419">
                <a:solidFill>
                  <a:schemeClr val="dk1"/>
                </a:solidFill>
              </a:rPr>
              <a:t> que pueda manejar el tipo de contenido especificado.</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s-419">
                <a:solidFill>
                  <a:schemeClr val="dk1"/>
                </a:solidFill>
              </a:rPr>
              <a:t>Si se encuentra un convertidor adecuado, lo usa; de lo contrario, lanza una excepción.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Configuración Personalizada de HttpMessageConverter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Puedes personalizar o agregar tus propios convertidores mediante configuración en Spring.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Ejemplo con </a:t>
            </a:r>
            <a:r>
              <a:rPr lang="es-419" b="1">
                <a:solidFill>
                  <a:srgbClr val="188038"/>
                </a:solidFill>
                <a:latin typeface="Roboto Mono"/>
                <a:ea typeface="Roboto Mono"/>
                <a:cs typeface="Roboto Mono"/>
                <a:sym typeface="Roboto Mono"/>
              </a:rPr>
              <a:t>WebMvcConfigurer</a:t>
            </a:r>
            <a:r>
              <a:rPr lang="es-419" b="1">
                <a:solidFill>
                  <a:schemeClr val="dk1"/>
                </a:solidFill>
              </a:rPr>
              <a:t>:</a:t>
            </a:r>
            <a:endParaRPr b="1">
              <a:solidFill>
                <a:schemeClr val="dk1"/>
              </a:solidFill>
            </a:endParaRPr>
          </a:p>
          <a:p>
            <a:pPr marL="0" lvl="0" indent="0" algn="l" rtl="0">
              <a:lnSpc>
                <a:spcPct val="115000"/>
              </a:lnSpc>
              <a:spcBef>
                <a:spcPts val="200"/>
              </a:spcBef>
              <a:spcAft>
                <a:spcPts val="0"/>
              </a:spcAft>
              <a:buClr>
                <a:schemeClr val="dk1"/>
              </a:buClr>
              <a:buSzPts val="1100"/>
              <a:buFont typeface="Arial"/>
              <a:buNone/>
            </a:pPr>
            <a:r>
              <a:rPr lang="es-419">
                <a:solidFill>
                  <a:schemeClr val="dk1"/>
                </a:solidFill>
              </a:rPr>
              <a:t>java</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@Configuration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class WebConfig implements WebMvcConfigurer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@Override</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public void configureMessageConverters(List&lt;HttpMessageConverter&lt;?&gt;&gt; converters)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 Agregar un nuevo HttpMessageConverter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converters.add(new MyCustomHttpMessageConverter());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b="1">
                <a:solidFill>
                  <a:schemeClr val="dk1"/>
                </a:solidFill>
              </a:rPr>
              <a:t>Configuración de Jackson: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Si utilizas JSON con Jackson, puedes personalizar su configuración añadiendo un </a:t>
            </a:r>
            <a:r>
              <a:rPr lang="es-419">
                <a:solidFill>
                  <a:srgbClr val="188038"/>
                </a:solidFill>
                <a:latin typeface="Roboto Mono"/>
                <a:ea typeface="Roboto Mono"/>
                <a:cs typeface="Roboto Mono"/>
                <a:sym typeface="Roboto Mono"/>
              </a:rPr>
              <a:t>ObjectMapper</a:t>
            </a:r>
            <a:r>
              <a:rPr lang="es-419">
                <a:solidFill>
                  <a:schemeClr val="dk1"/>
                </a:solidFill>
              </a:rPr>
              <a:t> personalizado: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java</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chemeClr val="dk1"/>
                </a:solidFill>
              </a:rPr>
              <a:t>Copiar código</a:t>
            </a:r>
            <a:endParaRPr>
              <a:solidFill>
                <a:schemeClr val="dk1"/>
              </a:solidFill>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@Bean</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public MappingJackson2HttpMessageConverter customJacksonConverter() {</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ObjectMapper objectMapper = new ObjectMapper();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objectMapper.enable(SerializationFeature.INDENT_OUTPUT); // Salida JSON bonita</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    return new MappingJackson2HttpMessageConverter(objectMapper);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r>
              <a:rPr lang="es-419">
                <a:solidFill>
                  <a:srgbClr val="188038"/>
                </a:solidFill>
                <a:latin typeface="Roboto Mono"/>
                <a:ea typeface="Roboto Mono"/>
                <a:cs typeface="Roboto Mono"/>
                <a:sym typeface="Roboto Mono"/>
              </a:rPr>
              <a:t>}</a:t>
            </a:r>
            <a:endParaRPr>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419" sz="1300" b="1">
                <a:solidFill>
                  <a:schemeClr val="dk1"/>
                </a:solidFill>
              </a:rPr>
              <a:t>Ventajas del </a:t>
            </a:r>
            <a:r>
              <a:rPr lang="es-419" sz="1300" b="1">
                <a:solidFill>
                  <a:srgbClr val="188038"/>
                </a:solidFill>
                <a:latin typeface="Roboto Mono"/>
                <a:ea typeface="Roboto Mono"/>
                <a:cs typeface="Roboto Mono"/>
                <a:sym typeface="Roboto Mono"/>
              </a:rPr>
              <a:t>HttpMessageConverter</a:t>
            </a:r>
            <a:endParaRPr sz="1300" b="1">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chemeClr val="dk1"/>
              </a:buClr>
              <a:buSzPts val="1100"/>
              <a:buAutoNum type="arabicPeriod"/>
            </a:pPr>
            <a:r>
              <a:rPr lang="es-419" b="1">
                <a:solidFill>
                  <a:schemeClr val="dk1"/>
                </a:solidFill>
              </a:rPr>
              <a:t>Automatización</a:t>
            </a:r>
            <a:r>
              <a:rPr lang="es-419">
                <a:solidFill>
                  <a:schemeClr val="dk1"/>
                </a:solidFill>
              </a:rPr>
              <a:t>:</a:t>
            </a:r>
            <a:br>
              <a:rPr lang="es-419">
                <a:solidFill>
                  <a:schemeClr val="dk1"/>
                </a:solidFill>
              </a:rPr>
            </a:br>
            <a:r>
              <a:rPr lang="es-419">
                <a:solidFill>
                  <a:schemeClr val="dk1"/>
                </a:solidFill>
              </a:rPr>
              <a:t>Elimina la necesidad de escribir lógica manual para convertir entre objetos y formatos de datos.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Extensibilidad</a:t>
            </a:r>
            <a:r>
              <a:rPr lang="es-419">
                <a:solidFill>
                  <a:schemeClr val="dk1"/>
                </a:solidFill>
              </a:rPr>
              <a:t>:</a:t>
            </a:r>
            <a:br>
              <a:rPr lang="es-419">
                <a:solidFill>
                  <a:schemeClr val="dk1"/>
                </a:solidFill>
              </a:rPr>
            </a:br>
            <a:r>
              <a:rPr lang="es-419">
                <a:solidFill>
                  <a:schemeClr val="dk1"/>
                </a:solidFill>
              </a:rPr>
              <a:t>Permite agregar nuevos convertidores o personalizar los existentes según las necesidades de tu aplicación.</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Soporte para Estándares</a:t>
            </a:r>
            <a:r>
              <a:rPr lang="es-419">
                <a:solidFill>
                  <a:schemeClr val="dk1"/>
                </a:solidFill>
              </a:rPr>
              <a:t>:</a:t>
            </a:r>
            <a:br>
              <a:rPr lang="es-419">
                <a:solidFill>
                  <a:schemeClr val="dk1"/>
                </a:solidFill>
              </a:rPr>
            </a:br>
            <a:r>
              <a:rPr lang="es-419">
                <a:solidFill>
                  <a:schemeClr val="dk1"/>
                </a:solidFill>
              </a:rPr>
              <a:t>Maneja automáticamente formatos comunes como JSON y XML, alineándose con las mejores prácticas RESTful.</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s-419" b="1">
                <a:solidFill>
                  <a:schemeClr val="dk1"/>
                </a:solidFill>
              </a:rPr>
              <a:t>Integración Transparente</a:t>
            </a:r>
            <a:r>
              <a:rPr lang="es-419">
                <a:solidFill>
                  <a:schemeClr val="dk1"/>
                </a:solidFill>
              </a:rPr>
              <a:t>:</a:t>
            </a:r>
            <a:br>
              <a:rPr lang="es-419">
                <a:solidFill>
                  <a:schemeClr val="dk1"/>
                </a:solidFill>
              </a:rPr>
            </a:br>
            <a:r>
              <a:rPr lang="es-419">
                <a:solidFill>
                  <a:schemeClr val="dk1"/>
                </a:solidFill>
              </a:rPr>
              <a:t>Se integra directamente con anotaciones como </a:t>
            </a:r>
            <a:r>
              <a:rPr lang="es-419">
                <a:solidFill>
                  <a:srgbClr val="188038"/>
                </a:solidFill>
                <a:latin typeface="Roboto Mono"/>
                <a:ea typeface="Roboto Mono"/>
                <a:cs typeface="Roboto Mono"/>
                <a:sym typeface="Roboto Mono"/>
              </a:rPr>
              <a:t>@RequestBody</a:t>
            </a:r>
            <a:r>
              <a:rPr lang="es-419">
                <a:solidFill>
                  <a:schemeClr val="dk1"/>
                </a:solidFill>
              </a:rPr>
              <a:t> y </a:t>
            </a:r>
            <a:r>
              <a:rPr lang="es-419">
                <a:solidFill>
                  <a:srgbClr val="188038"/>
                </a:solidFill>
                <a:latin typeface="Roboto Mono"/>
                <a:ea typeface="Roboto Mono"/>
                <a:cs typeface="Roboto Mono"/>
                <a:sym typeface="Roboto Mono"/>
              </a:rPr>
              <a:t>@ResponseBody</a:t>
            </a:r>
            <a:r>
              <a:rPr lang="es-419">
                <a:solidFill>
                  <a:schemeClr val="dk1"/>
                </a:solidFill>
              </a:rPr>
              <a:t>, simplificando el desarrollo.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419">
                <a:solidFill>
                  <a:schemeClr val="dk1"/>
                </a:solidFill>
              </a:rPr>
              <a:t>En resumen, los </a:t>
            </a:r>
            <a:r>
              <a:rPr lang="es-419">
                <a:solidFill>
                  <a:srgbClr val="188038"/>
                </a:solidFill>
                <a:latin typeface="Roboto Mono"/>
                <a:ea typeface="Roboto Mono"/>
                <a:cs typeface="Roboto Mono"/>
                <a:sym typeface="Roboto Mono"/>
              </a:rPr>
              <a:t>HttpMessageConverter</a:t>
            </a:r>
            <a:r>
              <a:rPr lang="es-419">
                <a:solidFill>
                  <a:schemeClr val="dk1"/>
                </a:solidFill>
              </a:rPr>
              <a:t> son una de las piezas clave que hacen que el desarrollo de APIs REST en Spring sea tan eficiente</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1fa53d5c77_0_9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31fa53d5c77_0_9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b="1"/>
              <a:t>Valor de retorno:</a:t>
            </a:r>
            <a:r>
              <a:rPr lang="es-419"/>
              <a:t> al ser un objeto (record) Java, por defecto se transforma en una cadena JSON</a:t>
            </a:r>
            <a:endParaRPr/>
          </a:p>
          <a:p>
            <a:pPr marL="0" lvl="0" indent="0" algn="l" rtl="0">
              <a:spcBef>
                <a:spcPts val="0"/>
              </a:spcBef>
              <a:spcAft>
                <a:spcPts val="0"/>
              </a:spcAft>
              <a:buNone/>
            </a:pPr>
            <a:endParaRPr/>
          </a:p>
          <a:p>
            <a:pPr marL="0" lvl="0" indent="0" algn="l" rtl="0">
              <a:spcBef>
                <a:spcPts val="0"/>
              </a:spcBef>
              <a:spcAft>
                <a:spcPts val="0"/>
              </a:spcAft>
              <a:buNone/>
            </a:pPr>
            <a:r>
              <a:rPr lang="es-419"/>
              <a:t>Añadir este código</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@GetMapping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"/producto"</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Producto </a:t>
            </a:r>
            <a:r>
              <a:rPr lang="es-419" sz="1350">
                <a:solidFill>
                  <a:srgbClr val="00627A"/>
                </a:solidFill>
                <a:highlight>
                  <a:srgbClr val="FFFFFF"/>
                </a:highlight>
                <a:latin typeface="Courier New"/>
                <a:ea typeface="Courier New"/>
                <a:cs typeface="Courier New"/>
                <a:sym typeface="Courier New"/>
              </a:rPr>
              <a:t>obtenerProducto</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new </a:t>
            </a:r>
            <a:r>
              <a:rPr lang="es-419" sz="1350">
                <a:solidFill>
                  <a:srgbClr val="080808"/>
                </a:solidFill>
                <a:highlight>
                  <a:srgbClr val="FFFFFF"/>
                </a:highlight>
                <a:latin typeface="Courier New"/>
                <a:ea typeface="Courier New"/>
                <a:cs typeface="Courier New"/>
                <a:sym typeface="Courier New"/>
              </a:rPr>
              <a:t>Producto(</a:t>
            </a:r>
            <a:r>
              <a:rPr lang="es-419" sz="1350">
                <a:solidFill>
                  <a:srgbClr val="1750EB"/>
                </a:solidFill>
                <a:highlight>
                  <a:srgbClr val="FFFFFF"/>
                </a:highlight>
                <a:latin typeface="Courier New"/>
                <a:ea typeface="Courier New"/>
                <a:cs typeface="Courier New"/>
                <a:sym typeface="Courier New"/>
              </a:rPr>
              <a:t>1L</a:t>
            </a:r>
            <a:r>
              <a:rPr lang="es-419" sz="1350">
                <a:solidFill>
                  <a:srgbClr val="080808"/>
                </a:solidFill>
                <a:highlight>
                  <a:srgbClr val="FFFFFF"/>
                </a:highlight>
                <a:latin typeface="Courier New"/>
                <a:ea typeface="Courier New"/>
                <a:cs typeface="Courier New"/>
                <a:sym typeface="Courier New"/>
              </a:rPr>
              <a:t>, </a:t>
            </a:r>
            <a:r>
              <a:rPr lang="es-419" sz="1350">
                <a:solidFill>
                  <a:srgbClr val="067D17"/>
                </a:solidFill>
                <a:highlight>
                  <a:srgbClr val="FFFFFF"/>
                </a:highlight>
                <a:latin typeface="Courier New"/>
                <a:ea typeface="Courier New"/>
                <a:cs typeface="Courier New"/>
                <a:sym typeface="Courier New"/>
              </a:rPr>
              <a:t>"Nombre del producto"</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record </a:t>
            </a:r>
            <a:r>
              <a:rPr lang="es-419" sz="1350">
                <a:solidFill>
                  <a:schemeClr val="dk1"/>
                </a:solidFill>
                <a:highlight>
                  <a:srgbClr val="FFFFFF"/>
                </a:highlight>
                <a:latin typeface="Courier New"/>
                <a:ea typeface="Courier New"/>
                <a:cs typeface="Courier New"/>
                <a:sym typeface="Courier New"/>
              </a:rPr>
              <a:t>Producto</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Long </a:t>
            </a:r>
            <a:r>
              <a:rPr lang="es-419" sz="1350">
                <a:solidFill>
                  <a:srgbClr val="080808"/>
                </a:solidFill>
                <a:highlight>
                  <a:srgbClr val="FFFFFF"/>
                </a:highlight>
                <a:latin typeface="Courier New"/>
                <a:ea typeface="Courier New"/>
                <a:cs typeface="Courier New"/>
                <a:sym typeface="Courier New"/>
              </a:rPr>
              <a:t>id, </a:t>
            </a:r>
            <a:r>
              <a:rPr lang="es-419" sz="1350">
                <a:solidFill>
                  <a:schemeClr val="dk1"/>
                </a:solidFill>
                <a:highlight>
                  <a:srgbClr val="FFFFFF"/>
                </a:highlight>
                <a:latin typeface="Courier New"/>
                <a:ea typeface="Courier New"/>
                <a:cs typeface="Courier New"/>
                <a:sym typeface="Courier New"/>
              </a:rPr>
              <a:t>String </a:t>
            </a:r>
            <a:r>
              <a:rPr lang="es-419" sz="1350">
                <a:solidFill>
                  <a:srgbClr val="080808"/>
                </a:solidFill>
                <a:highlight>
                  <a:srgbClr val="FFFFFF"/>
                </a:highlight>
                <a:latin typeface="Courier New"/>
                <a:ea typeface="Courier New"/>
                <a:cs typeface="Courier New"/>
                <a:sym typeface="Courier New"/>
              </a:rPr>
              <a:t>nombre)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a:solidFill>
                  <a:schemeClr val="dk1"/>
                </a:solidFill>
              </a:rPr>
              <a:t>Probar de nuevo en el navegador</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1fa53d5c77_0_9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1fa53d5c77_0_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Explicar qué es postman.</a:t>
            </a:r>
            <a:endParaRPr/>
          </a:p>
          <a:p>
            <a:pPr marL="0" lvl="0" indent="0" algn="l" rtl="0">
              <a:spcBef>
                <a:spcPts val="0"/>
              </a:spcBef>
              <a:spcAft>
                <a:spcPts val="0"/>
              </a:spcAft>
              <a:buNone/>
            </a:pPr>
            <a:endParaRPr/>
          </a:p>
          <a:p>
            <a:pPr marL="0" lvl="0" indent="0" algn="l" rtl="0">
              <a:spcBef>
                <a:spcPts val="0"/>
              </a:spcBef>
              <a:spcAft>
                <a:spcPts val="0"/>
              </a:spcAft>
              <a:buNone/>
            </a:pPr>
            <a:r>
              <a:rPr lang="es-419"/>
              <a:t>Se puede descargar en </a:t>
            </a:r>
            <a:r>
              <a:rPr lang="es-419" u="sng">
                <a:solidFill>
                  <a:schemeClr val="hlink"/>
                </a:solidFill>
                <a:hlinkClick r:id="rId3"/>
              </a:rPr>
              <a:t>https://www.postman.com/downloads/</a:t>
            </a:r>
            <a:r>
              <a:rPr lang="es-419"/>
              <a:t> </a:t>
            </a:r>
            <a:endParaRPr/>
          </a:p>
          <a:p>
            <a:pPr marL="0" lvl="0" indent="0" algn="l" rtl="0">
              <a:spcBef>
                <a:spcPts val="0"/>
              </a:spcBef>
              <a:spcAft>
                <a:spcPts val="0"/>
              </a:spcAft>
              <a:buNone/>
            </a:pPr>
            <a:endParaRPr/>
          </a:p>
          <a:p>
            <a:pPr marL="0" lvl="0" indent="0" algn="l" rtl="0">
              <a:spcBef>
                <a:spcPts val="0"/>
              </a:spcBef>
              <a:spcAft>
                <a:spcPts val="0"/>
              </a:spcAft>
              <a:buNone/>
            </a:pPr>
            <a:r>
              <a:rPr lang="es-419"/>
              <a:t>También se puede usar otro cliente REST, como curl o HTTPie</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1fa53d5c77_0_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1fa53d5c77_0_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1fa53d5c77_0_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1fa53d5c77_0_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Añadir el siguiente código</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@PostMapping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"/producto"</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Producto </a:t>
            </a:r>
            <a:r>
              <a:rPr lang="es-419" sz="1350">
                <a:solidFill>
                  <a:srgbClr val="00627A"/>
                </a:solidFill>
                <a:highlight>
                  <a:srgbClr val="FFFFFF"/>
                </a:highlight>
                <a:latin typeface="Courier New"/>
                <a:ea typeface="Courier New"/>
                <a:cs typeface="Courier New"/>
                <a:sym typeface="Courier New"/>
              </a:rPr>
              <a:t>nuevoProducto</a:t>
            </a:r>
            <a:r>
              <a:rPr lang="es-419" sz="1350">
                <a:solidFill>
                  <a:srgbClr val="080808"/>
                </a:solidFill>
                <a:highlight>
                  <a:srgbClr val="FFFFFF"/>
                </a:highlight>
                <a:latin typeface="Courier New"/>
                <a:ea typeface="Courier New"/>
                <a:cs typeface="Courier New"/>
                <a:sym typeface="Courier New"/>
              </a:rPr>
              <a:t>(</a:t>
            </a:r>
            <a:r>
              <a:rPr lang="es-419" sz="1350">
                <a:solidFill>
                  <a:srgbClr val="9E880D"/>
                </a:solidFill>
                <a:highlight>
                  <a:srgbClr val="FFFFFF"/>
                </a:highlight>
                <a:latin typeface="Courier New"/>
                <a:ea typeface="Courier New"/>
                <a:cs typeface="Courier New"/>
                <a:sym typeface="Courier New"/>
              </a:rPr>
              <a:t>@RequestBody </a:t>
            </a:r>
            <a:r>
              <a:rPr lang="es-419" sz="1350">
                <a:solidFill>
                  <a:schemeClr val="dk1"/>
                </a:solidFill>
                <a:highlight>
                  <a:srgbClr val="FFFFFF"/>
                </a:highlight>
                <a:latin typeface="Courier New"/>
                <a:ea typeface="Courier New"/>
                <a:cs typeface="Courier New"/>
                <a:sym typeface="Courier New"/>
              </a:rPr>
              <a:t>Producto producto</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producto</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r>
              <a:rPr lang="es-419"/>
              <a:t>El HttpMessageConverter correspondiente se encarga de traducir la cadena JSON que hemos enviado a través de Postman en un objeto (record) Java.</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1fa53d5c77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1fa53d5c77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1fa53d5c77_0_1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1fa53d5c77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rgbClr val="188038"/>
                </a:solidFill>
                <a:latin typeface="Roboto Mono"/>
                <a:ea typeface="Roboto Mono"/>
                <a:cs typeface="Roboto Mono"/>
                <a:sym typeface="Roboto Mono"/>
              </a:rPr>
              <a:t>@RestController</a:t>
            </a:r>
            <a:r>
              <a:rPr lang="es-419">
                <a:solidFill>
                  <a:schemeClr val="dk1"/>
                </a:solidFill>
              </a:rPr>
              <a:t>: Indica que la clase es un controlador REST.</a:t>
            </a:r>
            <a:endParaRPr>
              <a:solidFill>
                <a:schemeClr val="dk1"/>
              </a:solidFill>
            </a:endParaRPr>
          </a:p>
          <a:p>
            <a:pPr marL="0" lvl="0" indent="0" algn="l" rtl="0">
              <a:spcBef>
                <a:spcPts val="0"/>
              </a:spcBef>
              <a:spcAft>
                <a:spcPts val="0"/>
              </a:spcAft>
              <a:buClr>
                <a:schemeClr val="dk1"/>
              </a:buClr>
              <a:buSzPts val="1100"/>
              <a:buFont typeface="Arial"/>
              <a:buNone/>
            </a:pPr>
            <a:r>
              <a:rPr lang="es-419">
                <a:solidFill>
                  <a:srgbClr val="188038"/>
                </a:solidFill>
                <a:latin typeface="Roboto Mono"/>
                <a:ea typeface="Roboto Mono"/>
                <a:cs typeface="Roboto Mono"/>
                <a:sym typeface="Roboto Mono"/>
              </a:rPr>
              <a:t>@RequestMapping</a:t>
            </a:r>
            <a:r>
              <a:rPr lang="es-419">
                <a:solidFill>
                  <a:schemeClr val="dk1"/>
                </a:solidFill>
              </a:rPr>
              <a:t>: Define el prefijo común para los endpoints del controlador (opcional).</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1fa53d5c77_0_10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1fa53d5c77_0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2900"/>
              </a:spcBef>
              <a:spcAft>
                <a:spcPts val="0"/>
              </a:spcAft>
              <a:buNone/>
            </a:pPr>
            <a:r>
              <a:rPr lang="es-419" sz="1800" b="1">
                <a:solidFill>
                  <a:srgbClr val="242424"/>
                </a:solidFill>
              </a:rPr>
              <a:t>1.Uso de Sustantivos</a:t>
            </a:r>
            <a:endParaRPr sz="1800" b="1">
              <a:solidFill>
                <a:srgbClr val="242424"/>
              </a:solidFill>
            </a:endParaRPr>
          </a:p>
          <a:p>
            <a:pPr marL="0" lvl="0" indent="0" algn="l" rtl="0">
              <a:lnSpc>
                <a:spcPct val="100000"/>
              </a:lnSpc>
              <a:spcBef>
                <a:spcPts val="1400"/>
              </a:spcBef>
              <a:spcAft>
                <a:spcPts val="0"/>
              </a:spcAft>
              <a:buNone/>
            </a:pPr>
            <a:r>
              <a:rPr lang="es-419" sz="1500">
                <a:solidFill>
                  <a:srgbClr val="242424"/>
                </a:solidFill>
                <a:latin typeface="Georgia"/>
                <a:ea typeface="Georgia"/>
                <a:cs typeface="Georgia"/>
                <a:sym typeface="Georgia"/>
              </a:rPr>
              <a:t>Cuando nombras URIs, es recomendable usar sustantivos en lugar de verbos o adjetivos. Los métodos HTTP son técnicamente verbos, Por tanto GET, POST, DELETE, PATCH, UPDATE, etc. Además el nombre representa el contenido del recurso o en sí mismos los recursos. Es por ello que, tiene más sentido usar sustantivos realmente.</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Los URLs que normalmente has encontrado tienen la siguiente “sintaxis”:</a:t>
            </a:r>
            <a:endParaRPr sz="1500">
              <a:solidFill>
                <a:srgbClr val="242424"/>
              </a:solidFill>
              <a:latin typeface="Georgia"/>
              <a:ea typeface="Georgia"/>
              <a:cs typeface="Georgia"/>
              <a:sym typeface="Georgia"/>
            </a:endParaRPr>
          </a:p>
          <a:p>
            <a:pPr marL="190500" marR="190500" lvl="0" indent="0" algn="l" rtl="0">
              <a:lnSpc>
                <a:spcPct val="100000"/>
              </a:lnSpc>
              <a:spcBef>
                <a:spcPts val="4100"/>
              </a:spcBef>
              <a:spcAft>
                <a:spcPts val="0"/>
              </a:spcAft>
              <a:buNone/>
            </a:pPr>
            <a:r>
              <a:rPr lang="es-419" sz="1200" b="1">
                <a:solidFill>
                  <a:srgbClr val="242424"/>
                </a:solidFill>
                <a:latin typeface="Courier New"/>
                <a:ea typeface="Courier New"/>
                <a:cs typeface="Courier New"/>
                <a:sym typeface="Courier New"/>
              </a:rPr>
              <a:t>https://api.example.com/[resource]</a:t>
            </a:r>
            <a:endParaRPr sz="1200" b="1">
              <a:solidFill>
                <a:srgbClr val="242424"/>
              </a:solidFill>
              <a:latin typeface="Courier New"/>
              <a:ea typeface="Courier New"/>
              <a:cs typeface="Courier New"/>
              <a:sym typeface="Courier New"/>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Por ejemplo:</a:t>
            </a:r>
            <a:endParaRPr sz="1500">
              <a:solidFill>
                <a:srgbClr val="242424"/>
              </a:solidFill>
              <a:latin typeface="Georgia"/>
              <a:ea typeface="Georgia"/>
              <a:cs typeface="Georgia"/>
              <a:sym typeface="Georgia"/>
            </a:endParaRPr>
          </a:p>
          <a:p>
            <a:pPr marL="190500" marR="190500" lvl="0" indent="0" algn="l" rtl="0">
              <a:lnSpc>
                <a:spcPct val="100000"/>
              </a:lnSpc>
              <a:spcBef>
                <a:spcPts val="4100"/>
              </a:spcBef>
              <a:spcAft>
                <a:spcPts val="0"/>
              </a:spcAft>
              <a:buNone/>
            </a:pPr>
            <a:r>
              <a:rPr lang="es-419" sz="1200" b="1">
                <a:solidFill>
                  <a:srgbClr val="242424"/>
                </a:solidFill>
                <a:latin typeface="Courier New"/>
                <a:ea typeface="Courier New"/>
                <a:cs typeface="Courier New"/>
                <a:sym typeface="Courier New"/>
              </a:rPr>
              <a:t>https://api.example.com/users/abcd-efgh-ijkl</a:t>
            </a:r>
            <a:endParaRPr sz="1200" b="1">
              <a:solidFill>
                <a:srgbClr val="242424"/>
              </a:solidFill>
              <a:latin typeface="Courier New"/>
              <a:ea typeface="Courier New"/>
              <a:cs typeface="Courier New"/>
              <a:sym typeface="Courier New"/>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De acuerdo a lo anterior, básicamente, cuando tu miras el URL, puedes decir que está accediendo al recurso USERS con un ID específico, de acuerdo al ejemplo.</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Ahora, si el URL luce así:</a:t>
            </a:r>
            <a:endParaRPr sz="1500">
              <a:solidFill>
                <a:srgbClr val="242424"/>
              </a:solidFill>
              <a:latin typeface="Georgia"/>
              <a:ea typeface="Georgia"/>
              <a:cs typeface="Georgia"/>
              <a:sym typeface="Georgia"/>
            </a:endParaRPr>
          </a:p>
          <a:p>
            <a:pPr marL="190500" marR="190500" lvl="0" indent="0" algn="l" rtl="0">
              <a:lnSpc>
                <a:spcPct val="100000"/>
              </a:lnSpc>
              <a:spcBef>
                <a:spcPts val="4100"/>
              </a:spcBef>
              <a:spcAft>
                <a:spcPts val="0"/>
              </a:spcAft>
              <a:buNone/>
            </a:pPr>
            <a:r>
              <a:rPr lang="es-419" sz="1200" b="1">
                <a:solidFill>
                  <a:srgbClr val="242424"/>
                </a:solidFill>
                <a:latin typeface="Courier New"/>
                <a:ea typeface="Courier New"/>
                <a:cs typeface="Courier New"/>
                <a:sym typeface="Courier New"/>
              </a:rPr>
              <a:t>https://api.example.com/getUsers/abcd-efgh-ijk</a:t>
            </a:r>
            <a:endParaRPr sz="1200" b="1">
              <a:solidFill>
                <a:srgbClr val="242424"/>
              </a:solidFill>
              <a:latin typeface="Courier New"/>
              <a:ea typeface="Courier New"/>
              <a:cs typeface="Courier New"/>
              <a:sym typeface="Courier New"/>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Simplemente parece divertido. También, el navegador diría que el URL está usando el método GET si inspeccionas, entonces no hay necesidad de agregar la palabra de acción a tu URI. Adicionalmente, también especificará qué método HTTP sera usado para la API en particular.</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La siguiente cuestión es si usar sustantivos singulares o plurales. De manera general, son preferidos los plurales, ya que representan en cierto sentido algo más genérico (a menos que tu recurso sea un concepto singular como “admin” o “config”).</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Verás una explicación más profunda en un punto más adelante de cómo los sustantivos plurales hacen más sentido sobre la jerarquía.</a:t>
            </a:r>
            <a:endParaRPr sz="1500">
              <a:solidFill>
                <a:srgbClr val="242424"/>
              </a:solidFill>
              <a:latin typeface="Georgia"/>
              <a:ea typeface="Georgia"/>
              <a:cs typeface="Georgia"/>
              <a:sym typeface="Georgia"/>
            </a:endParaRPr>
          </a:p>
          <a:p>
            <a:pPr marL="0" lvl="0" indent="0" algn="l" rtl="0">
              <a:lnSpc>
                <a:spcPct val="100000"/>
              </a:lnSpc>
              <a:spcBef>
                <a:spcPts val="4500"/>
              </a:spcBef>
              <a:spcAft>
                <a:spcPts val="0"/>
              </a:spcAft>
              <a:buNone/>
            </a:pPr>
            <a:r>
              <a:rPr lang="es-419" sz="1800" b="1">
                <a:solidFill>
                  <a:srgbClr val="242424"/>
                </a:solidFill>
              </a:rPr>
              <a:t>2. Uso de nombres claros e intuitivos.</a:t>
            </a:r>
            <a:endParaRPr sz="1800" b="1">
              <a:solidFill>
                <a:srgbClr val="242424"/>
              </a:solidFill>
            </a:endParaRPr>
          </a:p>
          <a:p>
            <a:pPr marL="0" lvl="0" indent="0" algn="l" rtl="0">
              <a:lnSpc>
                <a:spcPct val="100000"/>
              </a:lnSpc>
              <a:spcBef>
                <a:spcPts val="1400"/>
              </a:spcBef>
              <a:spcAft>
                <a:spcPts val="0"/>
              </a:spcAft>
              <a:buNone/>
            </a:pPr>
            <a:r>
              <a:rPr lang="es-419" sz="1500">
                <a:solidFill>
                  <a:srgbClr val="242424"/>
                </a:solidFill>
                <a:latin typeface="Georgia"/>
                <a:ea typeface="Georgia"/>
                <a:cs typeface="Georgia"/>
                <a:sym typeface="Georgia"/>
              </a:rPr>
              <a:t>Cuando pensamos en esto, es más a utilizar nombres de sentido común. Pongámonos en la posición del mismo consumidor. Como alguien quién no sabe nada sobre los servicios de la API, espero poder entender el uso básico de su API simplemente leyendo el nombre del endponit de la API. Si quisiera entender completamente cómo usarlo, entonces leería más profundo.</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Entonces, en ese sentido, es importante para cumplir el qué a primera vista. Por lo tanto, si usa algo extraño o poco claro (es decir, nombres vagos), sus consumidores definitivamente no podrán entenderlo desde el principio y estaría en problemas.</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Idealmente, el nombre tiene que ser algo que represente un todo. Además, deberías evitar causar confusión al evitar el uso de abreviaturas o nombres más cortos sin sentido. No solo debe ser intuitivo, sino que también debe ser claro (lo que generalmente significa simplemente deletrear el sustantivo).</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Por ejemplo,</a:t>
            </a:r>
            <a:endParaRPr sz="1500">
              <a:solidFill>
                <a:srgbClr val="242424"/>
              </a:solidFill>
              <a:latin typeface="Georgia"/>
              <a:ea typeface="Georgia"/>
              <a:cs typeface="Georgia"/>
              <a:sym typeface="Georgia"/>
            </a:endParaRPr>
          </a:p>
          <a:p>
            <a:pPr marL="304800" marR="304800" lvl="0" indent="0" algn="l" rtl="0">
              <a:lnSpc>
                <a:spcPct val="100000"/>
              </a:lnSpc>
              <a:spcBef>
                <a:spcPts val="4000"/>
              </a:spcBef>
              <a:spcAft>
                <a:spcPts val="0"/>
              </a:spcAft>
              <a:buNone/>
            </a:pPr>
            <a:r>
              <a:rPr lang="es-419" sz="1050">
                <a:solidFill>
                  <a:srgbClr val="242424"/>
                </a:solidFill>
                <a:latin typeface="Courier New"/>
                <a:ea typeface="Courier New"/>
                <a:cs typeface="Courier New"/>
                <a:sym typeface="Courier New"/>
              </a:rPr>
              <a:t>GET https://api.example.com/users</a:t>
            </a:r>
            <a:endParaRPr sz="1050">
              <a:solidFill>
                <a:srgbClr val="242424"/>
              </a:solidFill>
              <a:latin typeface="Courier New"/>
              <a:ea typeface="Courier New"/>
              <a:cs typeface="Courier New"/>
              <a:sym typeface="Courier New"/>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De acuerdo al ejemplo, deberías ser capaz de entender que al usar esta API, serás capaz de acceder al recurso User y obtener su información.</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Ahora, un recurso puede tener muchos datos, entonces los sustantivos plurales haces más sentido. También un sustantivo directo como users es comprensible y claro.</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Aquí hay otro ejemplo de un nombre poco claro cuando trato de obtener el first-name de un user.</a:t>
            </a:r>
            <a:endParaRPr sz="1500">
              <a:solidFill>
                <a:srgbClr val="242424"/>
              </a:solidFill>
              <a:latin typeface="Georgia"/>
              <a:ea typeface="Georgia"/>
              <a:cs typeface="Georgia"/>
              <a:sym typeface="Georgia"/>
            </a:endParaRPr>
          </a:p>
          <a:p>
            <a:pPr marL="304800" marR="304800" lvl="0" indent="0" algn="l" rtl="0">
              <a:lnSpc>
                <a:spcPct val="100000"/>
              </a:lnSpc>
              <a:spcBef>
                <a:spcPts val="4000"/>
              </a:spcBef>
              <a:spcAft>
                <a:spcPts val="0"/>
              </a:spcAft>
              <a:buNone/>
            </a:pPr>
            <a:r>
              <a:rPr lang="es-419" sz="1050">
                <a:solidFill>
                  <a:srgbClr val="242424"/>
                </a:solidFill>
                <a:latin typeface="Courier New"/>
                <a:ea typeface="Courier New"/>
                <a:cs typeface="Courier New"/>
                <a:sym typeface="Courier New"/>
              </a:rPr>
              <a:t>GET https://api.example.com/users/1234/fn</a:t>
            </a:r>
            <a:endParaRPr sz="1050">
              <a:solidFill>
                <a:srgbClr val="242424"/>
              </a:solidFill>
              <a:latin typeface="Courier New"/>
              <a:ea typeface="Courier New"/>
              <a:cs typeface="Courier New"/>
              <a:sym typeface="Courier New"/>
            </a:endParaRPr>
          </a:p>
          <a:p>
            <a:pPr marL="0" lvl="0" indent="0" algn="l" rtl="0">
              <a:lnSpc>
                <a:spcPct val="100000"/>
              </a:lnSpc>
              <a:spcBef>
                <a:spcPts val="3200"/>
              </a:spcBef>
              <a:spcAft>
                <a:spcPts val="0"/>
              </a:spcAft>
              <a:buNone/>
            </a:pPr>
            <a:r>
              <a:rPr lang="es-419" sz="1500" b="1" i="1">
                <a:solidFill>
                  <a:srgbClr val="242424"/>
                </a:solidFill>
                <a:latin typeface="Georgia"/>
                <a:ea typeface="Georgia"/>
                <a:cs typeface="Georgia"/>
                <a:sym typeface="Georgia"/>
              </a:rPr>
              <a:t>fn</a:t>
            </a:r>
            <a:r>
              <a:rPr lang="es-419" sz="1500" b="1">
                <a:solidFill>
                  <a:srgbClr val="242424"/>
                </a:solidFill>
                <a:latin typeface="Georgia"/>
                <a:ea typeface="Georgia"/>
                <a:cs typeface="Georgia"/>
                <a:sym typeface="Georgia"/>
              </a:rPr>
              <a:t> </a:t>
            </a:r>
            <a:r>
              <a:rPr lang="es-419" sz="1500">
                <a:solidFill>
                  <a:srgbClr val="242424"/>
                </a:solidFill>
                <a:latin typeface="Georgia"/>
                <a:ea typeface="Georgia"/>
                <a:cs typeface="Georgia"/>
                <a:sym typeface="Georgia"/>
              </a:rPr>
              <a:t>luce raro y no es ni claro ni intuitivo del todo, porque puede ser malinterpretado como “function” si tu eres un nerd como yo.</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Por lo tanto, apéguese a su sentido común y elija nombres intuitivos y claros.</a:t>
            </a:r>
            <a:endParaRPr sz="1500">
              <a:solidFill>
                <a:srgbClr val="242424"/>
              </a:solidFill>
              <a:latin typeface="Georgia"/>
              <a:ea typeface="Georgia"/>
              <a:cs typeface="Georgia"/>
              <a:sym typeface="Georgia"/>
            </a:endParaRPr>
          </a:p>
          <a:p>
            <a:pPr marL="0" lvl="0" indent="0" algn="l" rtl="0">
              <a:lnSpc>
                <a:spcPct val="100000"/>
              </a:lnSpc>
              <a:spcBef>
                <a:spcPts val="4500"/>
              </a:spcBef>
              <a:spcAft>
                <a:spcPts val="0"/>
              </a:spcAft>
              <a:buNone/>
            </a:pPr>
            <a:r>
              <a:rPr lang="es-419" sz="1800" b="1">
                <a:solidFill>
                  <a:srgbClr val="242424"/>
                </a:solidFill>
              </a:rPr>
              <a:t>3.Uso de letras minúscula.</a:t>
            </a:r>
            <a:endParaRPr sz="1800" b="1">
              <a:solidFill>
                <a:srgbClr val="242424"/>
              </a:solidFill>
            </a:endParaRPr>
          </a:p>
          <a:p>
            <a:pPr marL="0" lvl="0" indent="0" algn="l" rtl="0">
              <a:lnSpc>
                <a:spcPct val="100000"/>
              </a:lnSpc>
              <a:spcBef>
                <a:spcPts val="1400"/>
              </a:spcBef>
              <a:spcAft>
                <a:spcPts val="0"/>
              </a:spcAft>
              <a:buNone/>
            </a:pPr>
            <a:r>
              <a:rPr lang="es-419" sz="1500">
                <a:solidFill>
                  <a:srgbClr val="242424"/>
                </a:solidFill>
                <a:latin typeface="Georgia"/>
                <a:ea typeface="Georgia"/>
                <a:cs typeface="Georgia"/>
                <a:sym typeface="Georgia"/>
              </a:rPr>
              <a:t>Basándome en mi experiencia, casi todos (por no decir que todos) los que he conocido (incluso en cursos que he tomado) siempre usan minúsculas en vez de minúsculas. Quizá subconcientemente se ha aceptado como una norma debido a que los sitios web que vemos a diario sus URL usan minusculas.</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La especificación para el standard de URIs (</a:t>
            </a:r>
            <a:r>
              <a:rPr lang="es-419" sz="1500" b="1" i="1" u="sng">
                <a:solidFill>
                  <a:schemeClr val="hlink"/>
                </a:solidFill>
                <a:latin typeface="Georgia"/>
                <a:ea typeface="Georgia"/>
                <a:cs typeface="Georgia"/>
                <a:sym typeface="Georgia"/>
                <a:hlinkClick r:id="rId3"/>
              </a:rPr>
              <a:t>RFC 3986</a:t>
            </a:r>
            <a:r>
              <a:rPr lang="es-419" sz="1500">
                <a:solidFill>
                  <a:srgbClr val="242424"/>
                </a:solidFill>
                <a:latin typeface="Georgia"/>
                <a:ea typeface="Georgia"/>
                <a:cs typeface="Georgia"/>
                <a:sym typeface="Georgia"/>
              </a:rPr>
              <a:t> apartado </a:t>
            </a:r>
            <a:r>
              <a:rPr lang="es-419" sz="1500" b="1" i="1" u="sng">
                <a:solidFill>
                  <a:schemeClr val="hlink"/>
                </a:solidFill>
                <a:latin typeface="Georgia"/>
                <a:ea typeface="Georgia"/>
                <a:cs typeface="Georgia"/>
                <a:sym typeface="Georgia"/>
                <a:hlinkClick r:id="rId4"/>
              </a:rPr>
              <a:t>6.2.2.1</a:t>
            </a:r>
            <a:r>
              <a:rPr lang="es-419" sz="1500" b="1" i="1">
                <a:solidFill>
                  <a:srgbClr val="242424"/>
                </a:solidFill>
                <a:latin typeface="Georgia"/>
                <a:ea typeface="Georgia"/>
                <a:cs typeface="Georgia"/>
                <a:sym typeface="Georgia"/>
              </a:rPr>
              <a:t>. Case Normalization</a:t>
            </a:r>
            <a:r>
              <a:rPr lang="es-419" sz="1500">
                <a:solidFill>
                  <a:srgbClr val="242424"/>
                </a:solidFill>
                <a:latin typeface="Georgia"/>
                <a:ea typeface="Georgia"/>
                <a:cs typeface="Georgia"/>
                <a:sym typeface="Georgia"/>
              </a:rPr>
              <a:t>) también denota que los URIs son case sensitive (a excepción del esquema y de los componentes del host del URL). en dicho apartado se menciona la siguiente frase “… therefore should be normalized to lowercase”. Por ello es mejor y creo que para la mayoría de desarrolladores evitar alguna confusión innecesaria debido a inconsitencias de mayúsculas.</a:t>
            </a:r>
            <a:endParaRPr sz="1500">
              <a:solidFill>
                <a:srgbClr val="242424"/>
              </a:solidFill>
              <a:latin typeface="Georgia"/>
              <a:ea typeface="Georgia"/>
              <a:cs typeface="Georgia"/>
              <a:sym typeface="Georgia"/>
            </a:endParaRPr>
          </a:p>
          <a:p>
            <a:pPr marL="0" lvl="0" indent="0" algn="l" rtl="0">
              <a:lnSpc>
                <a:spcPct val="100000"/>
              </a:lnSpc>
              <a:spcBef>
                <a:spcPts val="4500"/>
              </a:spcBef>
              <a:spcAft>
                <a:spcPts val="0"/>
              </a:spcAft>
              <a:buNone/>
            </a:pPr>
            <a:r>
              <a:rPr lang="es-419" sz="1800" b="1">
                <a:solidFill>
                  <a:srgbClr val="242424"/>
                </a:solidFill>
              </a:rPr>
              <a:t>4. Evitar uso de caracteres especiales</a:t>
            </a:r>
            <a:endParaRPr sz="1800" b="1">
              <a:solidFill>
                <a:srgbClr val="242424"/>
              </a:solidFill>
            </a:endParaRPr>
          </a:p>
          <a:p>
            <a:pPr marL="0" lvl="0" indent="0" algn="l" rtl="0">
              <a:lnSpc>
                <a:spcPct val="100000"/>
              </a:lnSpc>
              <a:spcBef>
                <a:spcPts val="1400"/>
              </a:spcBef>
              <a:spcAft>
                <a:spcPts val="0"/>
              </a:spcAft>
              <a:buNone/>
            </a:pPr>
            <a:r>
              <a:rPr lang="es-419" sz="1500">
                <a:solidFill>
                  <a:srgbClr val="242424"/>
                </a:solidFill>
                <a:latin typeface="Georgia"/>
                <a:ea typeface="Georgia"/>
                <a:cs typeface="Georgia"/>
                <a:sym typeface="Georgia"/>
              </a:rPr>
              <a:t>Tanto tú como yo nunca hemos visto caracteres especiales usados en la nomenclatura de las URLs. Quiero decir que, esto completamente va contra la intuición, las directrices de nomenclatura clara que hablamos anteriormente. Imagine que introduces esos caracteres especiales en tu nomenclatura. Eso será confuso para el o los usuarios y técnicamente complejo. Es por ello que son innecesarios.</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Además, debido a que las URLs pueden solamente ser enviadas y recibidas usando el caracter ASCII, las URLs de sus APIs deben contener solo caracteres ASCII. Sin embargo, eso no significa que solo puedas usar todos esos caracteres. Elementos como </a:t>
            </a:r>
            <a:r>
              <a:rPr lang="es-419" sz="1150">
                <a:solidFill>
                  <a:srgbClr val="242424"/>
                </a:solidFill>
                <a:latin typeface="Courier New"/>
                <a:ea typeface="Courier New"/>
                <a:cs typeface="Courier New"/>
                <a:sym typeface="Courier New"/>
              </a:rPr>
              <a:t>%20</a:t>
            </a:r>
            <a:r>
              <a:rPr lang="es-419" sz="1500">
                <a:solidFill>
                  <a:srgbClr val="242424"/>
                </a:solidFill>
                <a:latin typeface="Georgia"/>
                <a:ea typeface="Georgia"/>
                <a:cs typeface="Georgia"/>
                <a:sym typeface="Georgia"/>
              </a:rPr>
              <a:t> , el cual representa el espacio en blanco, no debería utilizarse.</a:t>
            </a:r>
            <a:endParaRPr sz="1500">
              <a:solidFill>
                <a:srgbClr val="242424"/>
              </a:solidFill>
              <a:latin typeface="Georgia"/>
              <a:ea typeface="Georgia"/>
              <a:cs typeface="Georgia"/>
              <a:sym typeface="Georgia"/>
            </a:endParaRPr>
          </a:p>
          <a:p>
            <a:pPr marL="0" lvl="0" indent="0" algn="l" rtl="0">
              <a:lnSpc>
                <a:spcPct val="100000"/>
              </a:lnSpc>
              <a:spcBef>
                <a:spcPts val="3200"/>
              </a:spcBef>
              <a:spcAft>
                <a:spcPts val="0"/>
              </a:spcAft>
              <a:buNone/>
            </a:pPr>
            <a:r>
              <a:rPr lang="es-419" sz="1500">
                <a:solidFill>
                  <a:srgbClr val="242424"/>
                </a:solidFill>
                <a:latin typeface="Georgia"/>
                <a:ea typeface="Georgia"/>
                <a:cs typeface="Georgia"/>
                <a:sym typeface="Georgia"/>
              </a:rPr>
              <a:t>Por otra parte, eso en simismo ya va en contra de convenciones intuitivas de nomenclatura. Por tanto, esos caracteres están típicamente en las versiones codificadas de caracteres inseguros como: el espacio parentesis,etc. PAra evitar problemas de confusión y seguridad trata de evitar el uso de caracteres como </a:t>
            </a:r>
            <a:r>
              <a:rPr lang="es-419" sz="1150">
                <a:solidFill>
                  <a:srgbClr val="242424"/>
                </a:solidFill>
                <a:latin typeface="Courier New"/>
                <a:ea typeface="Courier New"/>
                <a:cs typeface="Courier New"/>
                <a:sym typeface="Courier New"/>
              </a:rPr>
              <a:t>%20</a:t>
            </a:r>
            <a:r>
              <a:rPr lang="es-419" sz="1500">
                <a:solidFill>
                  <a:srgbClr val="242424"/>
                </a:solidFill>
                <a:latin typeface="Georgia"/>
                <a:ea typeface="Georgia"/>
                <a:cs typeface="Georgia"/>
                <a:sym typeface="Georgia"/>
              </a:rPr>
              <a:t> en la nomenclaura, ya que tienen otros significados.</a:t>
            </a:r>
            <a:endParaRPr sz="1500">
              <a:solidFill>
                <a:srgbClr val="242424"/>
              </a:solidFill>
              <a:latin typeface="Georgia"/>
              <a:ea typeface="Georgia"/>
              <a:cs typeface="Georgia"/>
              <a:sym typeface="Georgia"/>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endParaRPr>
              <a:solidFill>
                <a:srgbClr val="188038"/>
              </a:solidFill>
              <a:latin typeface="Roboto Mono"/>
              <a:ea typeface="Roboto Mono"/>
              <a:cs typeface="Roboto Mono"/>
              <a:sym typeface="Roboto Mono"/>
            </a:endParaRPr>
          </a:p>
          <a:p>
            <a:pPr marL="0" lvl="0" indent="0" algn="l" rtl="0">
              <a:lnSpc>
                <a:spcPct val="100000"/>
              </a:lnSpc>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1fa53d5c77_0_10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31fa53d5c77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1fa53d5c77_0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1fa53d5c77_0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1fa53d5c77_0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31fa53d5c77_0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1fa53d5c77_0_1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1fa53d5c77_0_1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Otros posibles errores pueden ser:</a:t>
            </a:r>
            <a:endParaRPr/>
          </a:p>
          <a:p>
            <a:pPr marL="0" lvl="0" indent="0" algn="l" rtl="0">
              <a:spcBef>
                <a:spcPts val="0"/>
              </a:spcBef>
              <a:spcAft>
                <a:spcPts val="0"/>
              </a:spcAft>
              <a:buNone/>
            </a:pPr>
            <a:endParaRPr/>
          </a:p>
          <a:p>
            <a:pPr marL="0" lvl="0" indent="0" algn="l" rtl="0">
              <a:spcBef>
                <a:spcPts val="0"/>
              </a:spcBef>
              <a:spcAft>
                <a:spcPts val="0"/>
              </a:spcAft>
              <a:buNone/>
            </a:pPr>
            <a:r>
              <a:rPr lang="es-419"/>
              <a:t>409: conflicto por algún motivo, 422: entidad no procesable</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1fa53d5c77_0_1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31fa53d5c77_0_1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1fa53d5c77_0_1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1fa53d5c77_0_1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1fa53d5c77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1fa53d5c77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a:t>405: la URL existe, pero el tipo de verbo HTTP que estamos usando con ella no es adecuado. Por ejemplo, existe para petición POST pero no para GET.</a:t>
            </a:r>
            <a:endParaRPr/>
          </a:p>
          <a:p>
            <a:pPr marL="457200" lvl="0" indent="-298450" algn="l" rtl="0">
              <a:spcBef>
                <a:spcPts val="0"/>
              </a:spcBef>
              <a:spcAft>
                <a:spcPts val="0"/>
              </a:spcAft>
              <a:buSzPts val="1100"/>
              <a:buChar char="-"/>
            </a:pPr>
            <a:r>
              <a:rPr lang="es-419"/>
              <a:t>415: tipo no soportado. El formato del contenido de la petición no es compatible. Puede que el encabezado content-type no esté presente en la petición, o tenga un valor incorrecto.</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1fa53d5c77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1fa53d5c77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Estos son los métodos CRUD. Pueden existir más métodos asociados a la lógica de negocio.</a:t>
            </a:r>
            <a:endParaRPr/>
          </a:p>
          <a:p>
            <a:pPr marL="0" lvl="0" indent="0" algn="l" rtl="0">
              <a:spcBef>
                <a:spcPts val="0"/>
              </a:spcBef>
              <a:spcAft>
                <a:spcPts val="0"/>
              </a:spcAft>
              <a:buNone/>
            </a:pPr>
            <a:endParaRPr/>
          </a:p>
          <a:p>
            <a:pPr marL="0" lvl="0" indent="0" algn="l" rtl="0">
              <a:spcBef>
                <a:spcPts val="0"/>
              </a:spcBef>
              <a:spcAft>
                <a:spcPts val="0"/>
              </a:spcAft>
              <a:buNone/>
            </a:pPr>
            <a:r>
              <a:rPr lang="es-419"/>
              <a:t>Los señalados en amarillo los vamos a implementar en esta lección. Los demás en la siguiente, ya que necesitamos conocer algunas anotaciones más.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s-419"/>
              <a:t>Se añade el siguiente código en el proyecto:</a:t>
            </a:r>
            <a:endParaRPr/>
          </a:p>
          <a:p>
            <a:pPr marL="0" lvl="0" indent="0" algn="l" rtl="0">
              <a:spcBef>
                <a:spcPts val="0"/>
              </a:spcBef>
              <a:spcAft>
                <a:spcPts val="0"/>
              </a:spcAft>
              <a:buNone/>
            </a:pPr>
            <a:endParaRPr/>
          </a:p>
          <a:p>
            <a:pPr marL="0" lvl="0" indent="0" algn="l" rtl="0">
              <a:spcBef>
                <a:spcPts val="0"/>
              </a:spcBef>
              <a:spcAft>
                <a:spcPts val="0"/>
              </a:spcAft>
              <a:buNone/>
            </a:pPr>
            <a:r>
              <a:rPr lang="es-419"/>
              <a:t>Se crea la </a:t>
            </a:r>
            <a:r>
              <a:rPr lang="es-419" b="1"/>
              <a:t>carpeta model</a:t>
            </a:r>
            <a:endParaRPr b="1"/>
          </a:p>
          <a:p>
            <a:pPr marL="0" lvl="0" indent="0" algn="l" rtl="0">
              <a:spcBef>
                <a:spcPts val="0"/>
              </a:spcBef>
              <a:spcAft>
                <a:spcPts val="0"/>
              </a:spcAft>
              <a:buNone/>
            </a:pPr>
            <a:endParaRPr/>
          </a:p>
          <a:p>
            <a:pPr marL="0" lvl="0" indent="0" algn="l" rtl="0">
              <a:spcBef>
                <a:spcPts val="0"/>
              </a:spcBef>
              <a:spcAft>
                <a:spcPts val="0"/>
              </a:spcAft>
              <a:buNone/>
            </a:pPr>
            <a:r>
              <a:rPr lang="es-419"/>
              <a:t>Clase </a:t>
            </a:r>
            <a:r>
              <a:rPr lang="es-419" b="1"/>
              <a:t>Product</a:t>
            </a:r>
            <a:endParaRPr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@Data</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@NoArgsConstructor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@AllArgsConstructor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@Builder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class </a:t>
            </a:r>
            <a:r>
              <a:rPr lang="es-419" sz="1350">
                <a:solidFill>
                  <a:schemeClr val="dk1"/>
                </a:solidFill>
                <a:highlight>
                  <a:srgbClr val="FFFFFF"/>
                </a:highlight>
                <a:latin typeface="Courier New"/>
                <a:ea typeface="Courier New"/>
                <a:cs typeface="Courier New"/>
                <a:sym typeface="Courier New"/>
              </a:rPr>
              <a:t>Product </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private </a:t>
            </a:r>
            <a:r>
              <a:rPr lang="es-419" sz="1350">
                <a:solidFill>
                  <a:schemeClr val="dk1"/>
                </a:solidFill>
                <a:highlight>
                  <a:srgbClr val="FFFFFF"/>
                </a:highlight>
                <a:latin typeface="Courier New"/>
                <a:ea typeface="Courier New"/>
                <a:cs typeface="Courier New"/>
                <a:sym typeface="Courier New"/>
              </a:rPr>
              <a:t>Long </a:t>
            </a:r>
            <a:r>
              <a:rPr lang="es-419" sz="1350">
                <a:solidFill>
                  <a:srgbClr val="871094"/>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private </a:t>
            </a:r>
            <a:r>
              <a:rPr lang="es-419" sz="1350">
                <a:solidFill>
                  <a:schemeClr val="dk1"/>
                </a:solidFill>
                <a:highlight>
                  <a:srgbClr val="FFFFFF"/>
                </a:highlight>
                <a:latin typeface="Courier New"/>
                <a:ea typeface="Courier New"/>
                <a:cs typeface="Courier New"/>
                <a:sym typeface="Courier New"/>
              </a:rPr>
              <a:t>String </a:t>
            </a:r>
            <a:r>
              <a:rPr lang="es-419" sz="1350">
                <a:solidFill>
                  <a:srgbClr val="871094"/>
                </a:solidFill>
                <a:highlight>
                  <a:srgbClr val="FFFFFF"/>
                </a:highlight>
                <a:latin typeface="Courier New"/>
                <a:ea typeface="Courier New"/>
                <a:cs typeface="Courier New"/>
                <a:sym typeface="Courier New"/>
              </a:rPr>
              <a:t>name</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private double </a:t>
            </a:r>
            <a:r>
              <a:rPr lang="es-419" sz="1350">
                <a:solidFill>
                  <a:srgbClr val="871094"/>
                </a:solidFill>
                <a:highlight>
                  <a:srgbClr val="FFFFFF"/>
                </a:highlight>
                <a:latin typeface="Courier New"/>
                <a:ea typeface="Courier New"/>
                <a:cs typeface="Courier New"/>
                <a:sym typeface="Courier New"/>
              </a:rPr>
              <a:t>price</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r>
              <a:rPr lang="es-419"/>
              <a:t>Clase </a:t>
            </a:r>
            <a:r>
              <a:rPr lang="es-419" b="1"/>
              <a:t>ProductRepository</a:t>
            </a:r>
            <a:endParaRPr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@Repository</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class </a:t>
            </a:r>
            <a:r>
              <a:rPr lang="es-419" sz="1350">
                <a:solidFill>
                  <a:schemeClr val="dk1"/>
                </a:solidFill>
                <a:highlight>
                  <a:srgbClr val="FFFFFF"/>
                </a:highlight>
                <a:latin typeface="Courier New"/>
                <a:ea typeface="Courier New"/>
                <a:cs typeface="Courier New"/>
                <a:sym typeface="Courier New"/>
              </a:rPr>
              <a:t>ProductRepository </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private </a:t>
            </a:r>
            <a:r>
              <a:rPr lang="es-419" sz="1350">
                <a:solidFill>
                  <a:schemeClr val="dk1"/>
                </a:solidFill>
                <a:highlight>
                  <a:srgbClr val="FFFFFF"/>
                </a:highlight>
                <a:latin typeface="Courier New"/>
                <a:ea typeface="Courier New"/>
                <a:cs typeface="Courier New"/>
                <a:sym typeface="Courier New"/>
              </a:rPr>
              <a:t>HashMap</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Long</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871094"/>
                </a:solidFill>
                <a:highlight>
                  <a:srgbClr val="FFFFFF"/>
                </a:highlight>
                <a:latin typeface="Courier New"/>
                <a:ea typeface="Courier New"/>
                <a:cs typeface="Courier New"/>
                <a:sym typeface="Courier New"/>
              </a:rPr>
              <a:t>products </a:t>
            </a: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new </a:t>
            </a:r>
            <a:r>
              <a:rPr lang="es-419" sz="1350">
                <a:solidFill>
                  <a:srgbClr val="080808"/>
                </a:solidFill>
                <a:highlight>
                  <a:srgbClr val="FFFFFF"/>
                </a:highlight>
                <a:latin typeface="Courier New"/>
                <a:ea typeface="Courier New"/>
                <a:cs typeface="Courier New"/>
                <a:sym typeface="Courier New"/>
              </a:rPr>
              <a:t>HashMap&lt;&gt;();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@PostConstruct</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void </a:t>
            </a:r>
            <a:r>
              <a:rPr lang="es-419" sz="1350">
                <a:solidFill>
                  <a:srgbClr val="00627A"/>
                </a:solidFill>
                <a:highlight>
                  <a:srgbClr val="FFFFFF"/>
                </a:highlight>
                <a:latin typeface="Courier New"/>
                <a:ea typeface="Courier New"/>
                <a:cs typeface="Courier New"/>
                <a:sym typeface="Courier New"/>
              </a:rPr>
              <a:t>init</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add(</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builder</a:t>
            </a:r>
            <a:r>
              <a:rPr lang="es-419" sz="1350">
                <a:solidFill>
                  <a:srgbClr val="080808"/>
                </a:solidFill>
                <a:highlight>
                  <a:srgbClr val="FFFFFF"/>
                </a:highlight>
                <a:latin typeface="Courier New"/>
                <a:ea typeface="Courier New"/>
                <a:cs typeface="Courier New"/>
                <a:sym typeface="Courier New"/>
              </a:rPr>
              <a:t>().id(</a:t>
            </a:r>
            <a:r>
              <a:rPr lang="es-419" sz="1350">
                <a:solidFill>
                  <a:srgbClr val="1750EB"/>
                </a:solidFill>
                <a:highlight>
                  <a:srgbClr val="FFFFFF"/>
                </a:highlight>
                <a:latin typeface="Courier New"/>
                <a:ea typeface="Courier New"/>
                <a:cs typeface="Courier New"/>
                <a:sym typeface="Courier New"/>
              </a:rPr>
              <a:t>1L</a:t>
            </a:r>
            <a:r>
              <a:rPr lang="es-419" sz="1350">
                <a:solidFill>
                  <a:srgbClr val="080808"/>
                </a:solidFill>
                <a:highlight>
                  <a:srgbClr val="FFFFFF"/>
                </a:highlight>
                <a:latin typeface="Courier New"/>
                <a:ea typeface="Courier New"/>
                <a:cs typeface="Courier New"/>
                <a:sym typeface="Courier New"/>
              </a:rPr>
              <a:t>).name(</a:t>
            </a:r>
            <a:r>
              <a:rPr lang="es-419" sz="1350">
                <a:solidFill>
                  <a:srgbClr val="067D17"/>
                </a:solidFill>
                <a:highlight>
                  <a:srgbClr val="FFFFFF"/>
                </a:highlight>
                <a:latin typeface="Courier New"/>
                <a:ea typeface="Courier New"/>
                <a:cs typeface="Courier New"/>
                <a:sym typeface="Courier New"/>
              </a:rPr>
              <a:t>"Laptop"</a:t>
            </a:r>
            <a:r>
              <a:rPr lang="es-419" sz="1350">
                <a:solidFill>
                  <a:srgbClr val="080808"/>
                </a:solidFill>
                <a:highlight>
                  <a:srgbClr val="FFFFFF"/>
                </a:highlight>
                <a:latin typeface="Courier New"/>
                <a:ea typeface="Courier New"/>
                <a:cs typeface="Courier New"/>
                <a:sym typeface="Courier New"/>
              </a:rPr>
              <a:t>).price(</a:t>
            </a:r>
            <a:r>
              <a:rPr lang="es-419" sz="1350">
                <a:solidFill>
                  <a:srgbClr val="1750EB"/>
                </a:solidFill>
                <a:highlight>
                  <a:srgbClr val="FFFFFF"/>
                </a:highlight>
                <a:latin typeface="Courier New"/>
                <a:ea typeface="Courier New"/>
                <a:cs typeface="Courier New"/>
                <a:sym typeface="Courier New"/>
              </a:rPr>
              <a:t>1200.0</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add(</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builder</a:t>
            </a:r>
            <a:r>
              <a:rPr lang="es-419" sz="1350">
                <a:solidFill>
                  <a:srgbClr val="080808"/>
                </a:solidFill>
                <a:highlight>
                  <a:srgbClr val="FFFFFF"/>
                </a:highlight>
                <a:latin typeface="Courier New"/>
                <a:ea typeface="Courier New"/>
                <a:cs typeface="Courier New"/>
                <a:sym typeface="Courier New"/>
              </a:rPr>
              <a:t>().id(</a:t>
            </a:r>
            <a:r>
              <a:rPr lang="es-419" sz="1350">
                <a:solidFill>
                  <a:srgbClr val="1750EB"/>
                </a:solidFill>
                <a:highlight>
                  <a:srgbClr val="FFFFFF"/>
                </a:highlight>
                <a:latin typeface="Courier New"/>
                <a:ea typeface="Courier New"/>
                <a:cs typeface="Courier New"/>
                <a:sym typeface="Courier New"/>
              </a:rPr>
              <a:t>2L</a:t>
            </a:r>
            <a:r>
              <a:rPr lang="es-419" sz="1350">
                <a:solidFill>
                  <a:srgbClr val="080808"/>
                </a:solidFill>
                <a:highlight>
                  <a:srgbClr val="FFFFFF"/>
                </a:highlight>
                <a:latin typeface="Courier New"/>
                <a:ea typeface="Courier New"/>
                <a:cs typeface="Courier New"/>
                <a:sym typeface="Courier New"/>
              </a:rPr>
              <a:t>).name(</a:t>
            </a:r>
            <a:r>
              <a:rPr lang="es-419" sz="1350">
                <a:solidFill>
                  <a:srgbClr val="067D17"/>
                </a:solidFill>
                <a:highlight>
                  <a:srgbClr val="FFFFFF"/>
                </a:highlight>
                <a:latin typeface="Courier New"/>
                <a:ea typeface="Courier New"/>
                <a:cs typeface="Courier New"/>
                <a:sym typeface="Courier New"/>
              </a:rPr>
              <a:t>"Smartphone"</a:t>
            </a:r>
            <a:r>
              <a:rPr lang="es-419" sz="1350">
                <a:solidFill>
                  <a:srgbClr val="080808"/>
                </a:solidFill>
                <a:highlight>
                  <a:srgbClr val="FFFFFF"/>
                </a:highlight>
                <a:latin typeface="Courier New"/>
                <a:ea typeface="Courier New"/>
                <a:cs typeface="Courier New"/>
                <a:sym typeface="Courier New"/>
              </a:rPr>
              <a:t>).price(</a:t>
            </a:r>
            <a:r>
              <a:rPr lang="es-419" sz="1350">
                <a:solidFill>
                  <a:srgbClr val="1750EB"/>
                </a:solidFill>
                <a:highlight>
                  <a:srgbClr val="FFFFFF"/>
                </a:highlight>
                <a:latin typeface="Courier New"/>
                <a:ea typeface="Courier New"/>
                <a:cs typeface="Courier New"/>
                <a:sym typeface="Courier New"/>
              </a:rPr>
              <a:t>800.0</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add(</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builder</a:t>
            </a:r>
            <a:r>
              <a:rPr lang="es-419" sz="1350">
                <a:solidFill>
                  <a:srgbClr val="080808"/>
                </a:solidFill>
                <a:highlight>
                  <a:srgbClr val="FFFFFF"/>
                </a:highlight>
                <a:latin typeface="Courier New"/>
                <a:ea typeface="Courier New"/>
                <a:cs typeface="Courier New"/>
                <a:sym typeface="Courier New"/>
              </a:rPr>
              <a:t>().id(</a:t>
            </a:r>
            <a:r>
              <a:rPr lang="es-419" sz="1350">
                <a:solidFill>
                  <a:srgbClr val="1750EB"/>
                </a:solidFill>
                <a:highlight>
                  <a:srgbClr val="FFFFFF"/>
                </a:highlight>
                <a:latin typeface="Courier New"/>
                <a:ea typeface="Courier New"/>
                <a:cs typeface="Courier New"/>
                <a:sym typeface="Courier New"/>
              </a:rPr>
              <a:t>3L</a:t>
            </a:r>
            <a:r>
              <a:rPr lang="es-419" sz="1350">
                <a:solidFill>
                  <a:srgbClr val="080808"/>
                </a:solidFill>
                <a:highlight>
                  <a:srgbClr val="FFFFFF"/>
                </a:highlight>
                <a:latin typeface="Courier New"/>
                <a:ea typeface="Courier New"/>
                <a:cs typeface="Courier New"/>
                <a:sym typeface="Courier New"/>
              </a:rPr>
              <a:t>).name(</a:t>
            </a:r>
            <a:r>
              <a:rPr lang="es-419" sz="1350">
                <a:solidFill>
                  <a:srgbClr val="067D17"/>
                </a:solidFill>
                <a:highlight>
                  <a:srgbClr val="FFFFFF"/>
                </a:highlight>
                <a:latin typeface="Courier New"/>
                <a:ea typeface="Courier New"/>
                <a:cs typeface="Courier New"/>
                <a:sym typeface="Courier New"/>
              </a:rPr>
              <a:t>"Headphones"</a:t>
            </a:r>
            <a:r>
              <a:rPr lang="es-419" sz="1350">
                <a:solidFill>
                  <a:srgbClr val="080808"/>
                </a:solidFill>
                <a:highlight>
                  <a:srgbClr val="FFFFFF"/>
                </a:highlight>
                <a:latin typeface="Courier New"/>
                <a:ea typeface="Courier New"/>
                <a:cs typeface="Courier New"/>
                <a:sym typeface="Courier New"/>
              </a:rPr>
              <a:t>).price(</a:t>
            </a:r>
            <a:r>
              <a:rPr lang="es-419" sz="1350">
                <a:solidFill>
                  <a:srgbClr val="1750EB"/>
                </a:solidFill>
                <a:highlight>
                  <a:srgbClr val="FFFFFF"/>
                </a:highlight>
                <a:latin typeface="Courier New"/>
                <a:ea typeface="Courier New"/>
                <a:cs typeface="Courier New"/>
                <a:sym typeface="Courier New"/>
              </a:rPr>
              <a:t>150.0</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add(</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builder</a:t>
            </a:r>
            <a:r>
              <a:rPr lang="es-419" sz="1350">
                <a:solidFill>
                  <a:srgbClr val="080808"/>
                </a:solidFill>
                <a:highlight>
                  <a:srgbClr val="FFFFFF"/>
                </a:highlight>
                <a:latin typeface="Courier New"/>
                <a:ea typeface="Courier New"/>
                <a:cs typeface="Courier New"/>
                <a:sym typeface="Courier New"/>
              </a:rPr>
              <a:t>().id(</a:t>
            </a:r>
            <a:r>
              <a:rPr lang="es-419" sz="1350">
                <a:solidFill>
                  <a:srgbClr val="1750EB"/>
                </a:solidFill>
                <a:highlight>
                  <a:srgbClr val="FFFFFF"/>
                </a:highlight>
                <a:latin typeface="Courier New"/>
                <a:ea typeface="Courier New"/>
                <a:cs typeface="Courier New"/>
                <a:sym typeface="Courier New"/>
              </a:rPr>
              <a:t>4L</a:t>
            </a:r>
            <a:r>
              <a:rPr lang="es-419" sz="1350">
                <a:solidFill>
                  <a:srgbClr val="080808"/>
                </a:solidFill>
                <a:highlight>
                  <a:srgbClr val="FFFFFF"/>
                </a:highlight>
                <a:latin typeface="Courier New"/>
                <a:ea typeface="Courier New"/>
                <a:cs typeface="Courier New"/>
                <a:sym typeface="Courier New"/>
              </a:rPr>
              <a:t>).name(</a:t>
            </a:r>
            <a:r>
              <a:rPr lang="es-419" sz="1350">
                <a:solidFill>
                  <a:srgbClr val="067D17"/>
                </a:solidFill>
                <a:highlight>
                  <a:srgbClr val="FFFFFF"/>
                </a:highlight>
                <a:latin typeface="Courier New"/>
                <a:ea typeface="Courier New"/>
                <a:cs typeface="Courier New"/>
                <a:sym typeface="Courier New"/>
              </a:rPr>
              <a:t>"Monitor"</a:t>
            </a:r>
            <a:r>
              <a:rPr lang="es-419" sz="1350">
                <a:solidFill>
                  <a:srgbClr val="080808"/>
                </a:solidFill>
                <a:highlight>
                  <a:srgbClr val="FFFFFF"/>
                </a:highlight>
                <a:latin typeface="Courier New"/>
                <a:ea typeface="Courier New"/>
                <a:cs typeface="Courier New"/>
                <a:sym typeface="Courier New"/>
              </a:rPr>
              <a:t>).price(</a:t>
            </a:r>
            <a:r>
              <a:rPr lang="es-419" sz="1350">
                <a:solidFill>
                  <a:srgbClr val="1750EB"/>
                </a:solidFill>
                <a:highlight>
                  <a:srgbClr val="FFFFFF"/>
                </a:highlight>
                <a:latin typeface="Courier New"/>
                <a:ea typeface="Courier New"/>
                <a:cs typeface="Courier New"/>
                <a:sym typeface="Courier New"/>
              </a:rPr>
              <a:t>300.0</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add(</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builder</a:t>
            </a:r>
            <a:r>
              <a:rPr lang="es-419" sz="1350">
                <a:solidFill>
                  <a:srgbClr val="080808"/>
                </a:solidFill>
                <a:highlight>
                  <a:srgbClr val="FFFFFF"/>
                </a:highlight>
                <a:latin typeface="Courier New"/>
                <a:ea typeface="Courier New"/>
                <a:cs typeface="Courier New"/>
                <a:sym typeface="Courier New"/>
              </a:rPr>
              <a:t>().id(</a:t>
            </a:r>
            <a:r>
              <a:rPr lang="es-419" sz="1350">
                <a:solidFill>
                  <a:srgbClr val="1750EB"/>
                </a:solidFill>
                <a:highlight>
                  <a:srgbClr val="FFFFFF"/>
                </a:highlight>
                <a:latin typeface="Courier New"/>
                <a:ea typeface="Courier New"/>
                <a:cs typeface="Courier New"/>
                <a:sym typeface="Courier New"/>
              </a:rPr>
              <a:t>5L</a:t>
            </a:r>
            <a:r>
              <a:rPr lang="es-419" sz="1350">
                <a:solidFill>
                  <a:srgbClr val="080808"/>
                </a:solidFill>
                <a:highlight>
                  <a:srgbClr val="FFFFFF"/>
                </a:highlight>
                <a:latin typeface="Courier New"/>
                <a:ea typeface="Courier New"/>
                <a:cs typeface="Courier New"/>
                <a:sym typeface="Courier New"/>
              </a:rPr>
              <a:t>).name(</a:t>
            </a:r>
            <a:r>
              <a:rPr lang="es-419" sz="1350">
                <a:solidFill>
                  <a:srgbClr val="067D17"/>
                </a:solidFill>
                <a:highlight>
                  <a:srgbClr val="FFFFFF"/>
                </a:highlight>
                <a:latin typeface="Courier New"/>
                <a:ea typeface="Courier New"/>
                <a:cs typeface="Courier New"/>
                <a:sym typeface="Courier New"/>
              </a:rPr>
              <a:t>"Keyboard"</a:t>
            </a:r>
            <a:r>
              <a:rPr lang="es-419" sz="1350">
                <a:solidFill>
                  <a:srgbClr val="080808"/>
                </a:solidFill>
                <a:highlight>
                  <a:srgbClr val="FFFFFF"/>
                </a:highlight>
                <a:latin typeface="Courier New"/>
                <a:ea typeface="Courier New"/>
                <a:cs typeface="Courier New"/>
                <a:sym typeface="Courier New"/>
              </a:rPr>
              <a:t>).price(</a:t>
            </a:r>
            <a:r>
              <a:rPr lang="es-419" sz="1350">
                <a:solidFill>
                  <a:srgbClr val="1750EB"/>
                </a:solidFill>
                <a:highlight>
                  <a:srgbClr val="FFFFFF"/>
                </a:highlight>
                <a:latin typeface="Courier New"/>
                <a:ea typeface="Courier New"/>
                <a:cs typeface="Courier New"/>
                <a:sym typeface="Courier New"/>
              </a:rPr>
              <a:t>50.0</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Product </a:t>
            </a:r>
            <a:r>
              <a:rPr lang="es-419" sz="1350">
                <a:solidFill>
                  <a:srgbClr val="00627A"/>
                </a:solidFill>
                <a:highlight>
                  <a:srgbClr val="FFFFFF"/>
                </a:highlight>
                <a:latin typeface="Courier New"/>
                <a:ea typeface="Courier New"/>
                <a:cs typeface="Courier New"/>
                <a:sym typeface="Courier New"/>
              </a:rPr>
              <a:t>add</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Product product</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products</a:t>
            </a:r>
            <a:r>
              <a:rPr lang="es-419" sz="1350">
                <a:solidFill>
                  <a:srgbClr val="080808"/>
                </a:solidFill>
                <a:highlight>
                  <a:srgbClr val="FFFFFF"/>
                </a:highlight>
                <a:latin typeface="Courier New"/>
                <a:ea typeface="Courier New"/>
                <a:cs typeface="Courier New"/>
                <a:sym typeface="Courier New"/>
              </a:rPr>
              <a:t>.put(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.getId(), </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Optional</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get</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Long id</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Optional</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ofNullable</a:t>
            </a:r>
            <a:r>
              <a:rPr lang="es-419" sz="1350">
                <a:solidFill>
                  <a:srgbClr val="080808"/>
                </a:solidFill>
                <a:highlight>
                  <a:srgbClr val="FFFFFF"/>
                </a:highlight>
                <a:latin typeface="Courier New"/>
                <a:ea typeface="Courier New"/>
                <a:cs typeface="Courier New"/>
                <a:sym typeface="Courier New"/>
              </a:rPr>
              <a:t>(</a:t>
            </a:r>
            <a:r>
              <a:rPr lang="es-419" sz="1350">
                <a:solidFill>
                  <a:srgbClr val="871094"/>
                </a:solidFill>
                <a:highlight>
                  <a:srgbClr val="FFFFFF"/>
                </a:highlight>
                <a:latin typeface="Courier New"/>
                <a:ea typeface="Courier New"/>
                <a:cs typeface="Courier New"/>
                <a:sym typeface="Courier New"/>
              </a:rPr>
              <a:t>products</a:t>
            </a:r>
            <a:r>
              <a:rPr lang="es-419" sz="1350">
                <a:solidFill>
                  <a:srgbClr val="080808"/>
                </a:solidFill>
                <a:highlight>
                  <a:srgbClr val="FFFFFF"/>
                </a:highlight>
                <a:latin typeface="Courier New"/>
                <a:ea typeface="Courier New"/>
                <a:cs typeface="Courier New"/>
                <a:sym typeface="Courier New"/>
              </a:rPr>
              <a:t>.get(</a:t>
            </a:r>
            <a:r>
              <a:rPr lang="es-419" sz="1350">
                <a:solidFill>
                  <a:schemeClr val="dk1"/>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getAll</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copyOf</a:t>
            </a:r>
            <a:r>
              <a:rPr lang="es-419" sz="1350">
                <a:solidFill>
                  <a:srgbClr val="080808"/>
                </a:solidFill>
                <a:highlight>
                  <a:srgbClr val="FFFFFF"/>
                </a:highlight>
                <a:latin typeface="Courier New"/>
                <a:ea typeface="Courier New"/>
                <a:cs typeface="Courier New"/>
                <a:sym typeface="Courier New"/>
              </a:rPr>
              <a:t>(</a:t>
            </a:r>
            <a:r>
              <a:rPr lang="es-419" sz="1350">
                <a:solidFill>
                  <a:srgbClr val="871094"/>
                </a:solidFill>
                <a:highlight>
                  <a:srgbClr val="FFFFFF"/>
                </a:highlight>
                <a:latin typeface="Courier New"/>
                <a:ea typeface="Courier New"/>
                <a:cs typeface="Courier New"/>
                <a:sym typeface="Courier New"/>
              </a:rPr>
              <a:t>products</a:t>
            </a:r>
            <a:r>
              <a:rPr lang="es-419" sz="1350">
                <a:solidFill>
                  <a:srgbClr val="080808"/>
                </a:solidFill>
                <a:highlight>
                  <a:srgbClr val="FFFFFF"/>
                </a:highlight>
                <a:latin typeface="Courier New"/>
                <a:ea typeface="Courier New"/>
                <a:cs typeface="Courier New"/>
                <a:sym typeface="Courier New"/>
              </a:rPr>
              <a:t>.values());</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Optional</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edit</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Long id</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Product newValue</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Optional</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ofNullable</a:t>
            </a:r>
            <a:r>
              <a:rPr lang="es-419" sz="1350">
                <a:solidFill>
                  <a:srgbClr val="080808"/>
                </a:solidFill>
                <a:highlight>
                  <a:srgbClr val="FFFFFF"/>
                </a:highlight>
                <a:latin typeface="Courier New"/>
                <a:ea typeface="Courier New"/>
                <a:cs typeface="Courier New"/>
                <a:sym typeface="Courier New"/>
              </a:rPr>
              <a:t>(</a:t>
            </a:r>
            <a:r>
              <a:rPr lang="es-419" sz="1350">
                <a:solidFill>
                  <a:srgbClr val="871094"/>
                </a:solidFill>
                <a:highlight>
                  <a:srgbClr val="FFFFFF"/>
                </a:highlight>
                <a:latin typeface="Courier New"/>
                <a:ea typeface="Courier New"/>
                <a:cs typeface="Courier New"/>
                <a:sym typeface="Courier New"/>
              </a:rPr>
              <a:t>products</a:t>
            </a:r>
            <a:r>
              <a:rPr lang="es-419" sz="1350">
                <a:solidFill>
                  <a:srgbClr val="080808"/>
                </a:solidFill>
                <a:highlight>
                  <a:srgbClr val="FFFFFF"/>
                </a:highlight>
                <a:latin typeface="Courier New"/>
                <a:ea typeface="Courier New"/>
                <a:cs typeface="Courier New"/>
                <a:sym typeface="Courier New"/>
              </a:rPr>
              <a:t>.computeIfPresent(</a:t>
            </a:r>
            <a:r>
              <a:rPr lang="es-419" sz="1350">
                <a:solidFill>
                  <a:schemeClr val="dk1"/>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k</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v</a:t>
            </a:r>
            <a:r>
              <a:rPr lang="es-419" sz="1350">
                <a:solidFill>
                  <a:srgbClr val="080808"/>
                </a:solidFill>
                <a:highlight>
                  <a:srgbClr val="FFFFFF"/>
                </a:highlight>
                <a:latin typeface="Courier New"/>
                <a:ea typeface="Courier New"/>
                <a:cs typeface="Courier New"/>
                <a:sym typeface="Courier New"/>
              </a:rPr>
              <a:t>) -&gt;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v</a:t>
            </a:r>
            <a:r>
              <a:rPr lang="es-419" sz="1350">
                <a:solidFill>
                  <a:srgbClr val="080808"/>
                </a:solidFill>
                <a:highlight>
                  <a:srgbClr val="FFFFFF"/>
                </a:highlight>
                <a:latin typeface="Courier New"/>
                <a:ea typeface="Courier New"/>
                <a:cs typeface="Courier New"/>
                <a:sym typeface="Courier New"/>
              </a:rPr>
              <a:t>.setName(</a:t>
            </a:r>
            <a:r>
              <a:rPr lang="es-419" sz="1350">
                <a:solidFill>
                  <a:srgbClr val="851691"/>
                </a:solidFill>
                <a:highlight>
                  <a:srgbClr val="FFFFFF"/>
                </a:highlight>
                <a:latin typeface="Courier New"/>
                <a:ea typeface="Courier New"/>
                <a:cs typeface="Courier New"/>
                <a:sym typeface="Courier New"/>
              </a:rPr>
              <a:t>newValue</a:t>
            </a:r>
            <a:r>
              <a:rPr lang="es-419" sz="1350">
                <a:solidFill>
                  <a:srgbClr val="080808"/>
                </a:solidFill>
                <a:highlight>
                  <a:srgbClr val="FFFFFF"/>
                </a:highlight>
                <a:latin typeface="Courier New"/>
                <a:ea typeface="Courier New"/>
                <a:cs typeface="Courier New"/>
                <a:sym typeface="Courier New"/>
              </a:rPr>
              <a:t>.getName());</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v</a:t>
            </a:r>
            <a:r>
              <a:rPr lang="es-419" sz="1350">
                <a:solidFill>
                  <a:srgbClr val="080808"/>
                </a:solidFill>
                <a:highlight>
                  <a:srgbClr val="FFFFFF"/>
                </a:highlight>
                <a:latin typeface="Courier New"/>
                <a:ea typeface="Courier New"/>
                <a:cs typeface="Courier New"/>
                <a:sym typeface="Courier New"/>
              </a:rPr>
              <a:t>.setPrice(</a:t>
            </a:r>
            <a:r>
              <a:rPr lang="es-419" sz="1350">
                <a:solidFill>
                  <a:srgbClr val="851691"/>
                </a:solidFill>
                <a:highlight>
                  <a:srgbClr val="FFFFFF"/>
                </a:highlight>
                <a:latin typeface="Courier New"/>
                <a:ea typeface="Courier New"/>
                <a:cs typeface="Courier New"/>
                <a:sym typeface="Courier New"/>
              </a:rPr>
              <a:t>newValue</a:t>
            </a:r>
            <a:r>
              <a:rPr lang="es-419" sz="1350">
                <a:solidFill>
                  <a:srgbClr val="080808"/>
                </a:solidFill>
                <a:highlight>
                  <a:srgbClr val="FFFFFF"/>
                </a:highlight>
                <a:latin typeface="Courier New"/>
                <a:ea typeface="Courier New"/>
                <a:cs typeface="Courier New"/>
                <a:sym typeface="Courier New"/>
              </a:rPr>
              <a:t>.getPrice());</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v</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void </a:t>
            </a:r>
            <a:r>
              <a:rPr lang="es-419" sz="1350">
                <a:solidFill>
                  <a:srgbClr val="00627A"/>
                </a:solidFill>
                <a:highlight>
                  <a:srgbClr val="FFFFFF"/>
                </a:highlight>
                <a:latin typeface="Courier New"/>
                <a:ea typeface="Courier New"/>
                <a:cs typeface="Courier New"/>
                <a:sym typeface="Courier New"/>
              </a:rPr>
              <a:t>delete</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Long id</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products</a:t>
            </a:r>
            <a:r>
              <a:rPr lang="es-419" sz="1350">
                <a:solidFill>
                  <a:srgbClr val="080808"/>
                </a:solidFill>
                <a:highlight>
                  <a:srgbClr val="FFFFFF"/>
                </a:highlight>
                <a:latin typeface="Courier New"/>
                <a:ea typeface="Courier New"/>
                <a:cs typeface="Courier New"/>
                <a:sym typeface="Courier New"/>
              </a:rPr>
              <a:t>.remove(</a:t>
            </a:r>
            <a:r>
              <a:rPr lang="es-419" sz="1350">
                <a:solidFill>
                  <a:schemeClr val="dk1"/>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r>
              <a:rPr lang="es-419"/>
              <a:t>Se añade lo siguiente en la carpeta </a:t>
            </a:r>
            <a:r>
              <a:rPr lang="es-419" b="1"/>
              <a:t>controller</a:t>
            </a:r>
            <a:endParaRPr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@RestController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@RequestMapping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@RequiredArgsConstructor</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class </a:t>
            </a:r>
            <a:r>
              <a:rPr lang="es-419" sz="1350">
                <a:solidFill>
                  <a:schemeClr val="dk1"/>
                </a:solidFill>
                <a:highlight>
                  <a:srgbClr val="FFFFFF"/>
                </a:highlight>
                <a:latin typeface="Courier New"/>
                <a:ea typeface="Courier New"/>
                <a:cs typeface="Courier New"/>
                <a:sym typeface="Courier New"/>
              </a:rPr>
              <a:t>ProductController </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private final </a:t>
            </a:r>
            <a:r>
              <a:rPr lang="es-419" sz="1350">
                <a:solidFill>
                  <a:schemeClr val="dk1"/>
                </a:solidFill>
                <a:highlight>
                  <a:srgbClr val="FFFFFF"/>
                </a:highlight>
                <a:latin typeface="Courier New"/>
                <a:ea typeface="Courier New"/>
                <a:cs typeface="Courier New"/>
                <a:sym typeface="Courier New"/>
              </a:rPr>
              <a:t>ProductRepository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@GetMapping</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&gt;&gt; </a:t>
            </a:r>
            <a:r>
              <a:rPr lang="es-419" sz="1350">
                <a:solidFill>
                  <a:srgbClr val="00627A"/>
                </a:solidFill>
                <a:highlight>
                  <a:srgbClr val="FFFFFF"/>
                </a:highlight>
                <a:latin typeface="Courier New"/>
                <a:ea typeface="Courier New"/>
                <a:cs typeface="Courier New"/>
                <a:sym typeface="Courier New"/>
              </a:rPr>
              <a:t>getAll</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result </a:t>
            </a: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.getAll();</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if </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.isEmpty())</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notFound</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ok</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@PostMapping</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create</a:t>
            </a:r>
            <a:r>
              <a:rPr lang="es-419" sz="1350">
                <a:solidFill>
                  <a:srgbClr val="080808"/>
                </a:solidFill>
                <a:highlight>
                  <a:srgbClr val="FFFFFF"/>
                </a:highlight>
                <a:latin typeface="Courier New"/>
                <a:ea typeface="Courier New"/>
                <a:cs typeface="Courier New"/>
                <a:sym typeface="Courier New"/>
              </a:rPr>
              <a:t>(</a:t>
            </a:r>
            <a:r>
              <a:rPr lang="es-419" sz="1350">
                <a:solidFill>
                  <a:srgbClr val="9E880D"/>
                </a:solidFill>
                <a:highlight>
                  <a:srgbClr val="FFFFFF"/>
                </a:highlight>
                <a:latin typeface="Courier New"/>
                <a:ea typeface="Courier New"/>
                <a:cs typeface="Courier New"/>
                <a:sym typeface="Courier New"/>
              </a:rPr>
              <a:t>@RequestBody </a:t>
            </a:r>
            <a:r>
              <a:rPr lang="es-419" sz="1350">
                <a:solidFill>
                  <a:schemeClr val="dk1"/>
                </a:solidFill>
                <a:highlight>
                  <a:srgbClr val="FFFFFF"/>
                </a:highlight>
                <a:latin typeface="Courier New"/>
                <a:ea typeface="Courier New"/>
                <a:cs typeface="Courier New"/>
                <a:sym typeface="Courier New"/>
              </a:rPr>
              <a:t>Product product</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status</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HttpStatus</a:t>
            </a:r>
            <a:r>
              <a:rPr lang="es-419" sz="1350">
                <a:solidFill>
                  <a:srgbClr val="080808"/>
                </a:solidFill>
                <a:highlight>
                  <a:srgbClr val="FFFFFF"/>
                </a:highlight>
                <a:latin typeface="Courier New"/>
                <a:ea typeface="Courier New"/>
                <a:cs typeface="Courier New"/>
                <a:sym typeface="Courier New"/>
              </a:rPr>
              <a:t>.</a:t>
            </a:r>
            <a:r>
              <a:rPr lang="es-419" sz="1350" i="1">
                <a:solidFill>
                  <a:srgbClr val="871094"/>
                </a:solidFill>
                <a:highlight>
                  <a:srgbClr val="FFFFFF"/>
                </a:highlight>
                <a:latin typeface="Courier New"/>
                <a:ea typeface="Courier New"/>
                <a:cs typeface="Courier New"/>
                <a:sym typeface="Courier New"/>
              </a:rPr>
              <a:t>CREATED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.body(</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.add(</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r>
              <a:rPr lang="es-419"/>
              <a:t>Se prueba con la colección de Postman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1fa53d5c77_0_1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1fa53d5c77_0_1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1fa53d5c77_0_1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1fa53d5c77_0_1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1fa53d5c77_0_1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31fa53d5c77_0_1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1fa53d5c77_0_1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31fa53d5c77_0_1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31fa53d5c77_0_1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31fa53d5c77_0_1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s-419"/>
              <a:t>La variable en el path va entre llaves, para diferenciarla de los tramos estáticos.</a:t>
            </a:r>
            <a:endParaRPr/>
          </a:p>
          <a:p>
            <a:pPr marL="457200" lvl="0" indent="-298450" algn="l" rtl="0">
              <a:spcBef>
                <a:spcPts val="0"/>
              </a:spcBef>
              <a:spcAft>
                <a:spcPts val="0"/>
              </a:spcAft>
              <a:buSzPts val="1100"/>
              <a:buChar char="-"/>
            </a:pPr>
            <a:r>
              <a:rPr lang="es-419"/>
              <a:t>Si el argumento del método no tiene el mismo nombre que la variable, se puede adaptar pasando el nombre de la variable del path como argumento de la anotación.</a:t>
            </a:r>
            <a:endParaRPr/>
          </a:p>
          <a:p>
            <a:pPr marL="457200" lvl="0" indent="-298450" algn="l" rtl="0">
              <a:spcBef>
                <a:spcPts val="0"/>
              </a:spcBef>
              <a:spcAft>
                <a:spcPts val="0"/>
              </a:spcAft>
              <a:buSzPts val="1100"/>
              <a:buChar char="-"/>
            </a:pPr>
            <a:r>
              <a:rPr lang="es-419"/>
              <a:t>Los tipos de datos deben ser compatibles, o dará error.</a:t>
            </a:r>
            <a:endParaRPr/>
          </a:p>
          <a:p>
            <a:pPr marL="0" lvl="0" indent="0" algn="l" rtl="0">
              <a:spcBef>
                <a:spcPts val="0"/>
              </a:spcBef>
              <a:spcAft>
                <a:spcPts val="0"/>
              </a:spcAft>
              <a:buNone/>
            </a:pPr>
            <a:endParaRPr/>
          </a:p>
          <a:p>
            <a:pPr marL="0" lvl="0" indent="0" algn="l" rtl="0">
              <a:spcBef>
                <a:spcPts val="0"/>
              </a:spcBef>
              <a:spcAft>
                <a:spcPts val="0"/>
              </a:spcAft>
              <a:buNone/>
            </a:pPr>
            <a:r>
              <a:rPr lang="es-419"/>
              <a:t>Añadir el siguiente código a </a:t>
            </a:r>
            <a:r>
              <a:rPr lang="es-419" b="1"/>
              <a:t>ProductController</a:t>
            </a:r>
            <a:endParaRPr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@GetMapping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getById</a:t>
            </a:r>
            <a:r>
              <a:rPr lang="es-419" sz="1350">
                <a:solidFill>
                  <a:srgbClr val="080808"/>
                </a:solidFill>
                <a:highlight>
                  <a:srgbClr val="FFFFFF"/>
                </a:highlight>
                <a:latin typeface="Courier New"/>
                <a:ea typeface="Courier New"/>
                <a:cs typeface="Courier New"/>
                <a:sym typeface="Courier New"/>
              </a:rPr>
              <a:t>(</a:t>
            </a:r>
            <a:r>
              <a:rPr lang="es-419" sz="1350">
                <a:solidFill>
                  <a:srgbClr val="9E880D"/>
                </a:solidFill>
                <a:highlight>
                  <a:srgbClr val="FFFFFF"/>
                </a:highlight>
                <a:latin typeface="Courier New"/>
                <a:ea typeface="Courier New"/>
                <a:cs typeface="Courier New"/>
                <a:sym typeface="Courier New"/>
              </a:rPr>
              <a:t>@PathVariable </a:t>
            </a:r>
            <a:r>
              <a:rPr lang="es-419" sz="1350">
                <a:solidFill>
                  <a:schemeClr val="dk1"/>
                </a:solidFill>
                <a:highlight>
                  <a:srgbClr val="FFFFFF"/>
                </a:highlight>
                <a:latin typeface="Courier New"/>
                <a:ea typeface="Courier New"/>
                <a:cs typeface="Courier New"/>
                <a:sym typeface="Courier New"/>
              </a:rPr>
              <a:t>Long id</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of</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.get(</a:t>
            </a:r>
            <a:r>
              <a:rPr lang="es-419" sz="1350">
                <a:solidFill>
                  <a:schemeClr val="dk1"/>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@PutMapping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edit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@RequestBody </a:t>
            </a:r>
            <a:r>
              <a:rPr lang="es-419" sz="1350">
                <a:solidFill>
                  <a:schemeClr val="dk1"/>
                </a:solidFill>
                <a:highlight>
                  <a:srgbClr val="FFFFFF"/>
                </a:highlight>
                <a:latin typeface="Courier New"/>
                <a:ea typeface="Courier New"/>
                <a:cs typeface="Courier New"/>
                <a:sym typeface="Courier New"/>
              </a:rPr>
              <a:t>Product product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@PathVariable</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Long productId</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of</a:t>
            </a:r>
            <a:r>
              <a:rPr lang="es-419" sz="1350">
                <a:solidFill>
                  <a:srgbClr val="080808"/>
                </a:solidFill>
                <a:highlight>
                  <a:srgbClr val="FFFFFF"/>
                </a:highlight>
                <a:latin typeface="Courier New"/>
                <a:ea typeface="Courier New"/>
                <a:cs typeface="Courier New"/>
                <a:sym typeface="Courier New"/>
              </a:rPr>
              <a:t>(</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.edit(</a:t>
            </a:r>
            <a:r>
              <a:rPr lang="es-419" sz="1350">
                <a:solidFill>
                  <a:schemeClr val="dk1"/>
                </a:solidFill>
                <a:highlight>
                  <a:srgbClr val="FFFFFF"/>
                </a:highlight>
                <a:latin typeface="Courier New"/>
                <a:ea typeface="Courier New"/>
                <a:cs typeface="Courier New"/>
                <a:sym typeface="Courier New"/>
              </a:rPr>
              <a:t>productId</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@DeleteMapping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&lt;?&gt; </a:t>
            </a:r>
            <a:r>
              <a:rPr lang="es-419" sz="1350">
                <a:solidFill>
                  <a:srgbClr val="00627A"/>
                </a:solidFill>
                <a:highlight>
                  <a:srgbClr val="FFFFFF"/>
                </a:highlight>
                <a:latin typeface="Courier New"/>
                <a:ea typeface="Courier New"/>
                <a:cs typeface="Courier New"/>
                <a:sym typeface="Courier New"/>
              </a:rPr>
              <a:t>delete</a:t>
            </a:r>
            <a:r>
              <a:rPr lang="es-419" sz="1350">
                <a:solidFill>
                  <a:srgbClr val="080808"/>
                </a:solidFill>
                <a:highlight>
                  <a:srgbClr val="FFFFFF"/>
                </a:highlight>
                <a:latin typeface="Courier New"/>
                <a:ea typeface="Courier New"/>
                <a:cs typeface="Courier New"/>
                <a:sym typeface="Courier New"/>
              </a:rPr>
              <a:t>(</a:t>
            </a:r>
            <a:r>
              <a:rPr lang="es-419" sz="1350">
                <a:solidFill>
                  <a:srgbClr val="9E880D"/>
                </a:solidFill>
                <a:highlight>
                  <a:srgbClr val="FFFFFF"/>
                </a:highlight>
                <a:latin typeface="Courier New"/>
                <a:ea typeface="Courier New"/>
                <a:cs typeface="Courier New"/>
                <a:sym typeface="Courier New"/>
              </a:rPr>
              <a:t>@PathVariable </a:t>
            </a:r>
            <a:r>
              <a:rPr lang="es-419" sz="1350">
                <a:solidFill>
                  <a:schemeClr val="dk1"/>
                </a:solidFill>
                <a:highlight>
                  <a:srgbClr val="FFFFFF"/>
                </a:highlight>
                <a:latin typeface="Courier New"/>
                <a:ea typeface="Courier New"/>
                <a:cs typeface="Courier New"/>
                <a:sym typeface="Courier New"/>
              </a:rPr>
              <a:t>Long id</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.delete(</a:t>
            </a:r>
            <a:r>
              <a:rPr lang="es-419" sz="1350">
                <a:solidFill>
                  <a:schemeClr val="dk1"/>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noContent</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1fa53d5c77_0_1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1fa53d5c77_0_1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Cambiar el código siguiente</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@GetMapping</a:t>
            </a:r>
            <a:r>
              <a:rPr lang="es-419" sz="1350">
                <a:solidFill>
                  <a:srgbClr val="080808"/>
                </a:solidFill>
                <a:highlight>
                  <a:srgbClr val="FFFFFF"/>
                </a:highlight>
                <a:latin typeface="Courier New"/>
                <a:ea typeface="Courier New"/>
                <a:cs typeface="Courier New"/>
                <a:sym typeface="Courier New"/>
              </a:rPr>
              <a:t>(</a:t>
            </a:r>
            <a:r>
              <a:rPr lang="es-419" sz="1350">
                <a:solidFill>
                  <a:srgbClr val="067D17"/>
                </a:solidFill>
                <a:highlight>
                  <a:srgbClr val="FFFFFF"/>
                </a:highlight>
                <a:latin typeface="Courier New"/>
                <a:ea typeface="Courier New"/>
                <a:cs typeface="Courier New"/>
                <a:sym typeface="Courier New"/>
              </a:rPr>
              <a:t>"/{id:[0-9]+}"</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getById</a:t>
            </a:r>
            <a:r>
              <a:rPr lang="es-419" sz="1350">
                <a:solidFill>
                  <a:srgbClr val="080808"/>
                </a:solidFill>
                <a:highlight>
                  <a:srgbClr val="FFFFFF"/>
                </a:highlight>
                <a:latin typeface="Courier New"/>
                <a:ea typeface="Courier New"/>
                <a:cs typeface="Courier New"/>
                <a:sym typeface="Courier New"/>
              </a:rPr>
              <a:t>(</a:t>
            </a:r>
            <a:r>
              <a:rPr lang="es-419" sz="1350">
                <a:solidFill>
                  <a:srgbClr val="9E880D"/>
                </a:solidFill>
                <a:highlight>
                  <a:srgbClr val="FFFFFF"/>
                </a:highlight>
                <a:latin typeface="Courier New"/>
                <a:ea typeface="Courier New"/>
                <a:cs typeface="Courier New"/>
                <a:sym typeface="Courier New"/>
              </a:rPr>
              <a:t>@PathVariable </a:t>
            </a:r>
            <a:r>
              <a:rPr lang="es-419" sz="1350">
                <a:solidFill>
                  <a:schemeClr val="dk1"/>
                </a:solidFill>
                <a:highlight>
                  <a:srgbClr val="FFFFFF"/>
                </a:highlight>
                <a:latin typeface="Courier New"/>
                <a:ea typeface="Courier New"/>
                <a:cs typeface="Courier New"/>
                <a:sym typeface="Courier New"/>
              </a:rPr>
              <a:t>Long id</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of</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.get(</a:t>
            </a:r>
            <a:r>
              <a:rPr lang="es-419" sz="1350">
                <a:solidFill>
                  <a:schemeClr val="dk1"/>
                </a:solidFill>
                <a:highlight>
                  <a:srgbClr val="FFFFFF"/>
                </a:highlight>
                <a:latin typeface="Courier New"/>
                <a:ea typeface="Courier New"/>
                <a:cs typeface="Courier New"/>
                <a:sym typeface="Courier New"/>
              </a:rPr>
              <a:t>id</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r>
              <a:rPr lang="es-419"/>
              <a:t>Probar con las URLs</a:t>
            </a:r>
            <a:endParaRPr/>
          </a:p>
          <a:p>
            <a:pPr marL="0" lvl="0" indent="0" algn="l" rtl="0">
              <a:spcBef>
                <a:spcPts val="0"/>
              </a:spcBef>
              <a:spcAft>
                <a:spcPts val="0"/>
              </a:spcAft>
              <a:buNone/>
            </a:pPr>
            <a:endParaRPr/>
          </a:p>
          <a:p>
            <a:pPr marL="0" lvl="0" indent="0" algn="l" rtl="0">
              <a:spcBef>
                <a:spcPts val="0"/>
              </a:spcBef>
              <a:spcAft>
                <a:spcPts val="0"/>
              </a:spcAft>
              <a:buNone/>
            </a:pPr>
            <a:r>
              <a:rPr lang="es-419"/>
              <a:t>/product/1</a:t>
            </a:r>
            <a:endParaRPr/>
          </a:p>
          <a:p>
            <a:pPr marL="0" lvl="0" indent="0" algn="l" rtl="0">
              <a:spcBef>
                <a:spcPts val="0"/>
              </a:spcBef>
              <a:spcAft>
                <a:spcPts val="0"/>
              </a:spcAft>
              <a:buNone/>
            </a:pPr>
            <a:r>
              <a:rPr lang="es-419"/>
              <a:t>/product/a</a:t>
            </a:r>
            <a:endParaRPr/>
          </a:p>
          <a:p>
            <a:pPr marL="0" lvl="0" indent="0" algn="l" rtl="0">
              <a:spcBef>
                <a:spcPts val="0"/>
              </a:spcBef>
              <a:spcAft>
                <a:spcPts val="0"/>
              </a:spcAft>
              <a:buNone/>
            </a:pPr>
            <a:endParaRPr/>
          </a:p>
          <a:p>
            <a:pPr marL="0" lvl="0" indent="0" algn="l" rtl="0">
              <a:spcBef>
                <a:spcPts val="0"/>
              </a:spcBef>
              <a:spcAft>
                <a:spcPts val="0"/>
              </a:spcAft>
              <a:buNone/>
            </a:pPr>
            <a:r>
              <a:rPr lang="es-419"/>
              <a:t>La segunda da error 405 porque no tenemos un endpoint GET con ruta /product/ y después una cadena de caracteres</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31fa53d5c77_0_1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31fa53d5c77_0_1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1fa53d5c77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31fa53d5c77_0_1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Se añade el siguiente código a </a:t>
            </a:r>
            <a:r>
              <a:rPr lang="es-419" b="1"/>
              <a:t>ProductRepository</a:t>
            </a:r>
            <a:endParaRPr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rgbClr val="00627A"/>
                </a:solidFill>
                <a:highlight>
                  <a:srgbClr val="FFFFFF"/>
                </a:highlight>
                <a:latin typeface="Courier New"/>
                <a:ea typeface="Courier New"/>
                <a:cs typeface="Courier New"/>
                <a:sym typeface="Courier New"/>
              </a:rPr>
              <a:t>query</a:t>
            </a:r>
            <a:r>
              <a:rPr lang="es-419" sz="1350">
                <a:solidFill>
                  <a:srgbClr val="080808"/>
                </a:solidFill>
                <a:highlight>
                  <a:srgbClr val="FFFFFF"/>
                </a:highlight>
                <a:latin typeface="Courier New"/>
                <a:ea typeface="Courier New"/>
                <a:cs typeface="Courier New"/>
                <a:sym typeface="Courier New"/>
              </a:rPr>
              <a:t>(</a:t>
            </a:r>
            <a:r>
              <a:rPr lang="es-419" sz="1350">
                <a:solidFill>
                  <a:srgbClr val="0033B3"/>
                </a:solidFill>
                <a:highlight>
                  <a:srgbClr val="FFFFFF"/>
                </a:highlight>
                <a:latin typeface="Courier New"/>
                <a:ea typeface="Courier New"/>
                <a:cs typeface="Courier New"/>
                <a:sym typeface="Courier New"/>
              </a:rPr>
              <a:t>double </a:t>
            </a:r>
            <a:r>
              <a:rPr lang="es-419" sz="1350">
                <a:solidFill>
                  <a:schemeClr val="dk1"/>
                </a:solidFill>
                <a:highlight>
                  <a:srgbClr val="FFFFFF"/>
                </a:highlight>
                <a:latin typeface="Courier New"/>
                <a:ea typeface="Courier New"/>
                <a:cs typeface="Courier New"/>
                <a:sym typeface="Courier New"/>
              </a:rPr>
              <a:t>maxPrice</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String sortDirection</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data </a:t>
            </a: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new </a:t>
            </a:r>
            <a:r>
              <a:rPr lang="es-419" sz="1350">
                <a:solidFill>
                  <a:srgbClr val="080808"/>
                </a:solidFill>
                <a:highlight>
                  <a:srgbClr val="FFFFFF"/>
                </a:highlight>
                <a:latin typeface="Courier New"/>
                <a:ea typeface="Courier New"/>
                <a:cs typeface="Courier New"/>
                <a:sym typeface="Courier New"/>
              </a:rPr>
              <a:t>ArrayList&lt;&gt;(</a:t>
            </a:r>
            <a:r>
              <a:rPr lang="es-419" sz="1350">
                <a:solidFill>
                  <a:srgbClr val="871094"/>
                </a:solidFill>
                <a:highlight>
                  <a:srgbClr val="FFFFFF"/>
                </a:highlight>
                <a:latin typeface="Courier New"/>
                <a:ea typeface="Courier New"/>
                <a:cs typeface="Courier New"/>
                <a:sym typeface="Courier New"/>
              </a:rPr>
              <a:t>products</a:t>
            </a:r>
            <a:r>
              <a:rPr lang="es-419" sz="1350">
                <a:solidFill>
                  <a:srgbClr val="080808"/>
                </a:solidFill>
                <a:highlight>
                  <a:srgbClr val="FFFFFF"/>
                </a:highlight>
                <a:latin typeface="Courier New"/>
                <a:ea typeface="Courier New"/>
                <a:cs typeface="Courier New"/>
                <a:sym typeface="Courier New"/>
              </a:rPr>
              <a:t>.values());</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if </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maxPrice </a:t>
            </a:r>
            <a:r>
              <a:rPr lang="es-419" sz="1350">
                <a:solidFill>
                  <a:srgbClr val="080808"/>
                </a:solidFill>
                <a:highlight>
                  <a:srgbClr val="FFFFFF"/>
                </a:highlight>
                <a:latin typeface="Courier New"/>
                <a:ea typeface="Courier New"/>
                <a:cs typeface="Courier New"/>
                <a:sym typeface="Courier New"/>
              </a:rPr>
              <a:t>&lt; </a:t>
            </a:r>
            <a:r>
              <a:rPr lang="es-419" sz="1350">
                <a:solidFill>
                  <a:srgbClr val="1750EB"/>
                </a:solidFill>
                <a:highlight>
                  <a:srgbClr val="FFFFFF"/>
                </a:highlight>
                <a:latin typeface="Courier New"/>
                <a:ea typeface="Courier New"/>
                <a:cs typeface="Courier New"/>
                <a:sym typeface="Courier New"/>
              </a:rPr>
              <a:t>0</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result </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data</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 </a:t>
            </a:r>
            <a:r>
              <a:rPr lang="es-419" sz="1350">
                <a:solidFill>
                  <a:srgbClr val="0033B3"/>
                </a:solidFill>
                <a:highlight>
                  <a:srgbClr val="FFFFFF"/>
                </a:highlight>
                <a:latin typeface="Courier New"/>
                <a:ea typeface="Courier New"/>
                <a:cs typeface="Courier New"/>
                <a:sym typeface="Courier New"/>
              </a:rPr>
              <a:t>else </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result </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data</a:t>
            </a:r>
            <a:endParaRPr sz="135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chemeClr val="dk1"/>
                </a:solidFill>
                <a:highlight>
                  <a:srgbClr val="FFFFFF"/>
                </a:highlight>
                <a:latin typeface="Courier New"/>
                <a:ea typeface="Courier New"/>
                <a:cs typeface="Courier New"/>
                <a:sym typeface="Courier New"/>
              </a:rPr>
              <a:t>               </a:t>
            </a:r>
            <a:r>
              <a:rPr lang="es-419" sz="1350">
                <a:solidFill>
                  <a:srgbClr val="080808"/>
                </a:solidFill>
                <a:highlight>
                  <a:srgbClr val="FFFFFF"/>
                </a:highlight>
                <a:latin typeface="Courier New"/>
                <a:ea typeface="Courier New"/>
                <a:cs typeface="Courier New"/>
                <a:sym typeface="Courier New"/>
              </a:rPr>
              <a:t>.stream()</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.filter(</a:t>
            </a:r>
            <a:r>
              <a:rPr lang="es-419" sz="1350">
                <a:solidFill>
                  <a:schemeClr val="dk1"/>
                </a:solidFill>
                <a:highlight>
                  <a:srgbClr val="FFFFFF"/>
                </a:highlight>
                <a:latin typeface="Courier New"/>
                <a:ea typeface="Courier New"/>
                <a:cs typeface="Courier New"/>
                <a:sym typeface="Courier New"/>
              </a:rPr>
              <a:t>p </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p</a:t>
            </a:r>
            <a:r>
              <a:rPr lang="es-419" sz="1350">
                <a:solidFill>
                  <a:srgbClr val="080808"/>
                </a:solidFill>
                <a:highlight>
                  <a:srgbClr val="FFFFFF"/>
                </a:highlight>
                <a:latin typeface="Courier New"/>
                <a:ea typeface="Courier New"/>
                <a:cs typeface="Courier New"/>
                <a:sym typeface="Courier New"/>
              </a:rPr>
              <a:t>.getPrice() &lt;= </a:t>
            </a:r>
            <a:r>
              <a:rPr lang="es-419" sz="1350">
                <a:solidFill>
                  <a:srgbClr val="851691"/>
                </a:solidFill>
                <a:highlight>
                  <a:srgbClr val="FFFFFF"/>
                </a:highlight>
                <a:latin typeface="Courier New"/>
                <a:ea typeface="Courier New"/>
                <a:cs typeface="Courier New"/>
                <a:sym typeface="Courier New"/>
              </a:rPr>
              <a:t>maxPrice</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.collect(</a:t>
            </a:r>
            <a:r>
              <a:rPr lang="es-419" sz="1350">
                <a:solidFill>
                  <a:schemeClr val="dk1"/>
                </a:solidFill>
                <a:highlight>
                  <a:srgbClr val="FFFFFF"/>
                </a:highlight>
                <a:latin typeface="Courier New"/>
                <a:ea typeface="Courier New"/>
                <a:cs typeface="Courier New"/>
                <a:sym typeface="Courier New"/>
              </a:rPr>
              <a:t>Collectors</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toCollection</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ArrayList</a:t>
            </a:r>
            <a:r>
              <a:rPr lang="es-419" sz="1350">
                <a:solidFill>
                  <a:srgbClr val="080808"/>
                </a:solidFill>
                <a:highlight>
                  <a:srgbClr val="FFFFFF"/>
                </a:highlight>
                <a:latin typeface="Courier New"/>
                <a:ea typeface="Courier New"/>
                <a:cs typeface="Courier New"/>
                <a:sym typeface="Courier New"/>
              </a:rPr>
              <a:t>::</a:t>
            </a:r>
            <a:r>
              <a:rPr lang="es-419" sz="1350">
                <a:solidFill>
                  <a:srgbClr val="0033B3"/>
                </a:solidFill>
                <a:highlight>
                  <a:srgbClr val="FFFFFF"/>
                </a:highlight>
                <a:latin typeface="Courier New"/>
                <a:ea typeface="Courier New"/>
                <a:cs typeface="Courier New"/>
                <a:sym typeface="Courier New"/>
              </a:rPr>
              <a:t>new</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if </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sortDirection</a:t>
            </a:r>
            <a:r>
              <a:rPr lang="es-419" sz="1350">
                <a:solidFill>
                  <a:srgbClr val="080808"/>
                </a:solidFill>
                <a:highlight>
                  <a:srgbClr val="FFFFFF"/>
                </a:highlight>
                <a:latin typeface="Courier New"/>
                <a:ea typeface="Courier New"/>
                <a:cs typeface="Courier New"/>
                <a:sym typeface="Courier New"/>
              </a:rPr>
              <a:t>.equalsIgnoreCase(</a:t>
            </a:r>
            <a:r>
              <a:rPr lang="es-419" sz="1350">
                <a:solidFill>
                  <a:srgbClr val="067D17"/>
                </a:solidFill>
                <a:highlight>
                  <a:srgbClr val="FFFFFF"/>
                </a:highlight>
                <a:latin typeface="Courier New"/>
                <a:ea typeface="Courier New"/>
                <a:cs typeface="Courier New"/>
                <a:sym typeface="Courier New"/>
              </a:rPr>
              <a:t>"asc"</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.sort(</a:t>
            </a:r>
            <a:r>
              <a:rPr lang="es-419" sz="1350">
                <a:solidFill>
                  <a:schemeClr val="dk1"/>
                </a:solidFill>
                <a:highlight>
                  <a:srgbClr val="FFFFFF"/>
                </a:highlight>
                <a:latin typeface="Courier New"/>
                <a:ea typeface="Courier New"/>
                <a:cs typeface="Courier New"/>
                <a:sym typeface="Courier New"/>
              </a:rPr>
              <a:t>Comparator</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comparing</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::getName));</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else if </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sortDirection</a:t>
            </a:r>
            <a:r>
              <a:rPr lang="es-419" sz="1350">
                <a:solidFill>
                  <a:srgbClr val="080808"/>
                </a:solidFill>
                <a:highlight>
                  <a:srgbClr val="FFFFFF"/>
                </a:highlight>
                <a:latin typeface="Courier New"/>
                <a:ea typeface="Courier New"/>
                <a:cs typeface="Courier New"/>
                <a:sym typeface="Courier New"/>
              </a:rPr>
              <a:t>.equalsIgnoreCase(</a:t>
            </a:r>
            <a:r>
              <a:rPr lang="es-419" sz="1350">
                <a:solidFill>
                  <a:srgbClr val="067D17"/>
                </a:solidFill>
                <a:highlight>
                  <a:srgbClr val="FFFFFF"/>
                </a:highlight>
                <a:latin typeface="Courier New"/>
                <a:ea typeface="Courier New"/>
                <a:cs typeface="Courier New"/>
                <a:sym typeface="Courier New"/>
              </a:rPr>
              <a:t>"desc"</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.sort(</a:t>
            </a:r>
            <a:r>
              <a:rPr lang="es-419" sz="1350">
                <a:solidFill>
                  <a:schemeClr val="dk1"/>
                </a:solidFill>
                <a:highlight>
                  <a:srgbClr val="FFFFFF"/>
                </a:highlight>
                <a:latin typeface="Courier New"/>
                <a:ea typeface="Courier New"/>
                <a:cs typeface="Courier New"/>
                <a:sym typeface="Courier New"/>
              </a:rPr>
              <a:t>Comparator</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comparing</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::getName).reversed());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Collections</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unmodifiableList</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s-419"/>
              <a:t>Se </a:t>
            </a:r>
            <a:r>
              <a:rPr lang="es-419" b="1"/>
              <a:t>modifica</a:t>
            </a:r>
            <a:r>
              <a:rPr lang="es-419"/>
              <a:t> el siguiente código en el controlador</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@GetMapping</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&gt;&gt; </a:t>
            </a:r>
            <a:r>
              <a:rPr lang="es-419" sz="1350">
                <a:solidFill>
                  <a:srgbClr val="00627A"/>
                </a:solidFill>
                <a:highlight>
                  <a:srgbClr val="FFFFFF"/>
                </a:highlight>
                <a:latin typeface="Courier New"/>
                <a:ea typeface="Courier New"/>
                <a:cs typeface="Courier New"/>
                <a:sym typeface="Courier New"/>
              </a:rPr>
              <a:t>getAll</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@RequestParam</a:t>
            </a:r>
            <a:r>
              <a:rPr lang="es-419" sz="1350">
                <a:solidFill>
                  <a:srgbClr val="080808"/>
                </a:solidFill>
                <a:highlight>
                  <a:srgbClr val="FFFFFF"/>
                </a:highlight>
                <a:latin typeface="Courier New"/>
                <a:ea typeface="Courier New"/>
                <a:cs typeface="Courier New"/>
                <a:sym typeface="Courier New"/>
              </a:rPr>
              <a:t>(required = </a:t>
            </a:r>
            <a:r>
              <a:rPr lang="es-419" sz="1350">
                <a:solidFill>
                  <a:srgbClr val="0033B3"/>
                </a:solidFill>
                <a:highlight>
                  <a:srgbClr val="FFFFFF"/>
                </a:highlight>
                <a:latin typeface="Courier New"/>
                <a:ea typeface="Courier New"/>
                <a:cs typeface="Courier New"/>
                <a:sym typeface="Courier New"/>
              </a:rPr>
              <a:t>false</a:t>
            </a:r>
            <a:r>
              <a:rPr lang="es-419" sz="1350">
                <a:solidFill>
                  <a:srgbClr val="080808"/>
                </a:solidFill>
                <a:highlight>
                  <a:srgbClr val="FFFFFF"/>
                </a:highlight>
                <a:latin typeface="Courier New"/>
                <a:ea typeface="Courier New"/>
                <a:cs typeface="Courier New"/>
                <a:sym typeface="Courier New"/>
              </a:rPr>
              <a:t>, value = </a:t>
            </a:r>
            <a:r>
              <a:rPr lang="es-419" sz="1350">
                <a:solidFill>
                  <a:srgbClr val="067D17"/>
                </a:solidFill>
                <a:highlight>
                  <a:srgbClr val="FFFFFF"/>
                </a:highlight>
                <a:latin typeface="Courier New"/>
                <a:ea typeface="Courier New"/>
                <a:cs typeface="Courier New"/>
                <a:sym typeface="Courier New"/>
              </a:rPr>
              <a:t>"maxPrice"</a:t>
            </a:r>
            <a:r>
              <a:rPr lang="es-419" sz="1350">
                <a:solidFill>
                  <a:srgbClr val="080808"/>
                </a:solidFill>
                <a:highlight>
                  <a:srgbClr val="FFFFFF"/>
                </a:highlight>
                <a:latin typeface="Courier New"/>
                <a:ea typeface="Courier New"/>
                <a:cs typeface="Courier New"/>
                <a:sym typeface="Courier New"/>
              </a:rPr>
              <a:t>, defaultValue = </a:t>
            </a:r>
            <a:r>
              <a:rPr lang="es-419" sz="1350">
                <a:solidFill>
                  <a:srgbClr val="067D17"/>
                </a:solidFill>
                <a:highlight>
                  <a:srgbClr val="FFFFFF"/>
                </a:highlight>
                <a:latin typeface="Courier New"/>
                <a:ea typeface="Courier New"/>
                <a:cs typeface="Courier New"/>
                <a:sym typeface="Courier New"/>
              </a:rPr>
              <a:t>"-1"</a:t>
            </a: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double </a:t>
            </a:r>
            <a:r>
              <a:rPr lang="es-419" sz="1350">
                <a:solidFill>
                  <a:schemeClr val="dk1"/>
                </a:solidFill>
                <a:highlight>
                  <a:srgbClr val="FFFFFF"/>
                </a:highlight>
                <a:latin typeface="Courier New"/>
                <a:ea typeface="Courier New"/>
                <a:cs typeface="Courier New"/>
                <a:sym typeface="Courier New"/>
              </a:rPr>
              <a:t>max</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@RequestParam</a:t>
            </a:r>
            <a:r>
              <a:rPr lang="es-419" sz="1350">
                <a:solidFill>
                  <a:srgbClr val="080808"/>
                </a:solidFill>
                <a:highlight>
                  <a:srgbClr val="FFFFFF"/>
                </a:highlight>
                <a:latin typeface="Courier New"/>
                <a:ea typeface="Courier New"/>
                <a:cs typeface="Courier New"/>
                <a:sym typeface="Courier New"/>
              </a:rPr>
              <a:t>(required = </a:t>
            </a:r>
            <a:r>
              <a:rPr lang="es-419" sz="1350">
                <a:solidFill>
                  <a:srgbClr val="0033B3"/>
                </a:solidFill>
                <a:highlight>
                  <a:srgbClr val="FFFFFF"/>
                </a:highlight>
                <a:latin typeface="Courier New"/>
                <a:ea typeface="Courier New"/>
                <a:cs typeface="Courier New"/>
                <a:sym typeface="Courier New"/>
              </a:rPr>
              <a:t>false</a:t>
            </a:r>
            <a:r>
              <a:rPr lang="es-419" sz="1350">
                <a:solidFill>
                  <a:srgbClr val="080808"/>
                </a:solidFill>
                <a:highlight>
                  <a:srgbClr val="FFFFFF"/>
                </a:highlight>
                <a:latin typeface="Courier New"/>
                <a:ea typeface="Courier New"/>
                <a:cs typeface="Courier New"/>
                <a:sym typeface="Courier New"/>
              </a:rPr>
              <a:t>, value = </a:t>
            </a:r>
            <a:r>
              <a:rPr lang="es-419" sz="1350">
                <a:solidFill>
                  <a:srgbClr val="067D17"/>
                </a:solidFill>
                <a:highlight>
                  <a:srgbClr val="FFFFFF"/>
                </a:highlight>
                <a:latin typeface="Courier New"/>
                <a:ea typeface="Courier New"/>
                <a:cs typeface="Courier New"/>
                <a:sym typeface="Courier New"/>
              </a:rPr>
              <a:t>"sort"</a:t>
            </a:r>
            <a:r>
              <a:rPr lang="es-419" sz="1350">
                <a:solidFill>
                  <a:srgbClr val="080808"/>
                </a:solidFill>
                <a:highlight>
                  <a:srgbClr val="FFFFFF"/>
                </a:highlight>
                <a:latin typeface="Courier New"/>
                <a:ea typeface="Courier New"/>
                <a:cs typeface="Courier New"/>
                <a:sym typeface="Courier New"/>
              </a:rPr>
              <a:t>, defaultValue = </a:t>
            </a:r>
            <a:r>
              <a:rPr lang="es-419" sz="1350">
                <a:solidFill>
                  <a:srgbClr val="067D17"/>
                </a:solidFill>
                <a:highlight>
                  <a:srgbClr val="FFFFFF"/>
                </a:highlight>
                <a:latin typeface="Courier New"/>
                <a:ea typeface="Courier New"/>
                <a:cs typeface="Courier New"/>
                <a:sym typeface="Courier New"/>
              </a:rPr>
              <a:t>"no"</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String sortDirection</a:t>
            </a:r>
            <a:endParaRPr sz="135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result </a:t>
            </a: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.query(</a:t>
            </a:r>
            <a:r>
              <a:rPr lang="es-419" sz="1350">
                <a:solidFill>
                  <a:schemeClr val="dk1"/>
                </a:solidFill>
                <a:highlight>
                  <a:srgbClr val="FFFFFF"/>
                </a:highlight>
                <a:latin typeface="Courier New"/>
                <a:ea typeface="Courier New"/>
                <a:cs typeface="Courier New"/>
                <a:sym typeface="Courier New"/>
              </a:rPr>
              <a:t>max</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sortDirection</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if </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.isEmpty())</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notFound</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ok</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1fa53d5c77_0_1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1fa53d5c77_0_1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Se comenta el método getAll</a:t>
            </a:r>
            <a:endParaRPr/>
          </a:p>
          <a:p>
            <a:pPr marL="0" lvl="0" indent="0" algn="l" rtl="0">
              <a:spcBef>
                <a:spcPts val="0"/>
              </a:spcBef>
              <a:spcAft>
                <a:spcPts val="0"/>
              </a:spcAft>
              <a:buNone/>
            </a:pPr>
            <a:endParaRPr/>
          </a:p>
          <a:p>
            <a:pPr marL="0" lvl="0" indent="0" algn="l" rtl="0">
              <a:spcBef>
                <a:spcPts val="0"/>
              </a:spcBef>
              <a:spcAft>
                <a:spcPts val="0"/>
              </a:spcAft>
              <a:buNone/>
            </a:pPr>
            <a:r>
              <a:rPr lang="es-419"/>
              <a:t>Se añade el siguiente código</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/*@GetMapping</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public ResponseEntity&lt;List&lt;Product&gt;&gt; getAll(</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@RequestParam(required = false, value = "maxPrice", defaultValue = "-1") double max,</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@RequestParam(required = false, value = "sort", defaultValue = "no") String sortDirection</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List&lt;Product&gt; result = productRepository.query(max, sortDirection);</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if (result.isEmpty())</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return ResponseEntity.notFound().build();</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   return ResponseEntity.ok(result);</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i="1">
                <a:solidFill>
                  <a:srgbClr val="8C8C8C"/>
                </a:solidFill>
                <a:highlight>
                  <a:srgbClr val="FFFFFF"/>
                </a:highlight>
                <a:latin typeface="Courier New"/>
                <a:ea typeface="Courier New"/>
                <a:cs typeface="Courier New"/>
                <a:sym typeface="Courier New"/>
              </a:rPr>
              <a:t>}*/</a:t>
            </a: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9E880D"/>
                </a:solidFill>
                <a:highlight>
                  <a:srgbClr val="FFFFFF"/>
                </a:highlight>
                <a:latin typeface="Courier New"/>
                <a:ea typeface="Courier New"/>
                <a:cs typeface="Courier New"/>
                <a:sym typeface="Courier New"/>
              </a:rPr>
              <a:t>@GetMapping</a:t>
            </a:r>
            <a:endParaRPr sz="1350">
              <a:solidFill>
                <a:srgbClr val="9E880D"/>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033B3"/>
                </a:solidFill>
                <a:highlight>
                  <a:srgbClr val="FFFFFF"/>
                </a:highlight>
                <a:latin typeface="Courier New"/>
                <a:ea typeface="Courier New"/>
                <a:cs typeface="Courier New"/>
                <a:sym typeface="Courier New"/>
              </a:rPr>
              <a:t>public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&gt;&gt; </a:t>
            </a:r>
            <a:r>
              <a:rPr lang="es-419" sz="1350">
                <a:solidFill>
                  <a:srgbClr val="00627A"/>
                </a:solidFill>
                <a:highlight>
                  <a:srgbClr val="FFFFFF"/>
                </a:highlight>
                <a:latin typeface="Courier New"/>
                <a:ea typeface="Courier New"/>
                <a:cs typeface="Courier New"/>
                <a:sym typeface="Courier New"/>
              </a:rPr>
              <a:t>getAllv2</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9E880D"/>
                </a:solidFill>
                <a:highlight>
                  <a:srgbClr val="FFFFFF"/>
                </a:highlight>
                <a:latin typeface="Courier New"/>
                <a:ea typeface="Courier New"/>
                <a:cs typeface="Courier New"/>
                <a:sym typeface="Courier New"/>
              </a:rPr>
              <a:t>@RequestParam </a:t>
            </a:r>
            <a:r>
              <a:rPr lang="es-419" sz="1350">
                <a:solidFill>
                  <a:schemeClr val="dk1"/>
                </a:solidFill>
                <a:highlight>
                  <a:srgbClr val="FFFFFF"/>
                </a:highlight>
                <a:latin typeface="Courier New"/>
                <a:ea typeface="Courier New"/>
                <a:cs typeface="Courier New"/>
                <a:sym typeface="Courier New"/>
              </a:rPr>
              <a:t>Map</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String</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String</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params</a:t>
            </a:r>
            <a:endParaRPr sz="135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chemeClr val="dk1"/>
                </a:solidFill>
                <a:highlight>
                  <a:srgbClr val="FFFFFF"/>
                </a:highlight>
                <a:latin typeface="Courier New"/>
                <a:ea typeface="Courier New"/>
                <a:cs typeface="Courier New"/>
                <a:sym typeface="Courier New"/>
              </a:rPr>
              <a:t>       </a:t>
            </a:r>
            <a:r>
              <a:rPr lang="es-419" sz="1350">
                <a:solidFill>
                  <a:srgbClr val="080808"/>
                </a:solidFill>
                <a:highlight>
                  <a:srgbClr val="FFFFFF"/>
                </a:highlight>
                <a:latin typeface="Courier New"/>
                <a:ea typeface="Courier New"/>
                <a:cs typeface="Courier New"/>
                <a:sym typeface="Courier New"/>
              </a:rPr>
              <a:t>) {</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double </a:t>
            </a:r>
            <a:r>
              <a:rPr lang="es-419" sz="1350">
                <a:solidFill>
                  <a:schemeClr val="dk1"/>
                </a:solidFill>
                <a:highlight>
                  <a:srgbClr val="FFFFFF"/>
                </a:highlight>
                <a:latin typeface="Courier New"/>
                <a:ea typeface="Courier New"/>
                <a:cs typeface="Courier New"/>
                <a:sym typeface="Courier New"/>
              </a:rPr>
              <a:t>max </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Double</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valueOf</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params</a:t>
            </a:r>
            <a:r>
              <a:rPr lang="es-419" sz="1350">
                <a:solidFill>
                  <a:srgbClr val="080808"/>
                </a:solidFill>
                <a:highlight>
                  <a:srgbClr val="FFFFFF"/>
                </a:highlight>
                <a:latin typeface="Courier New"/>
                <a:ea typeface="Courier New"/>
                <a:cs typeface="Courier New"/>
                <a:sym typeface="Courier New"/>
              </a:rPr>
              <a:t>.getOrDefault(</a:t>
            </a:r>
            <a:r>
              <a:rPr lang="es-419" sz="1350">
                <a:solidFill>
                  <a:srgbClr val="067D17"/>
                </a:solidFill>
                <a:highlight>
                  <a:srgbClr val="FFFFFF"/>
                </a:highlight>
                <a:latin typeface="Courier New"/>
                <a:ea typeface="Courier New"/>
                <a:cs typeface="Courier New"/>
                <a:sym typeface="Courier New"/>
              </a:rPr>
              <a:t>"maxPrice"</a:t>
            </a:r>
            <a:r>
              <a:rPr lang="es-419" sz="1350">
                <a:solidFill>
                  <a:srgbClr val="080808"/>
                </a:solidFill>
                <a:highlight>
                  <a:srgbClr val="FFFFFF"/>
                </a:highlight>
                <a:latin typeface="Courier New"/>
                <a:ea typeface="Courier New"/>
                <a:cs typeface="Courier New"/>
                <a:sym typeface="Courier New"/>
              </a:rPr>
              <a:t>, </a:t>
            </a:r>
            <a:r>
              <a:rPr lang="es-419" sz="1350">
                <a:solidFill>
                  <a:srgbClr val="067D17"/>
                </a:solidFill>
                <a:highlight>
                  <a:srgbClr val="FFFFFF"/>
                </a:highlight>
                <a:latin typeface="Courier New"/>
                <a:ea typeface="Courier New"/>
                <a:cs typeface="Courier New"/>
                <a:sym typeface="Courier New"/>
              </a:rPr>
              <a:t>"-1"</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String sortDirection </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params</a:t>
            </a:r>
            <a:r>
              <a:rPr lang="es-419" sz="1350">
                <a:solidFill>
                  <a:srgbClr val="080808"/>
                </a:solidFill>
                <a:highlight>
                  <a:srgbClr val="FFFFFF"/>
                </a:highlight>
                <a:latin typeface="Courier New"/>
                <a:ea typeface="Courier New"/>
                <a:cs typeface="Courier New"/>
                <a:sym typeface="Courier New"/>
              </a:rPr>
              <a:t>.getOrDefault(</a:t>
            </a:r>
            <a:r>
              <a:rPr lang="es-419" sz="1350">
                <a:solidFill>
                  <a:srgbClr val="067D17"/>
                </a:solidFill>
                <a:highlight>
                  <a:srgbClr val="FFFFFF"/>
                </a:highlight>
                <a:latin typeface="Courier New"/>
                <a:ea typeface="Courier New"/>
                <a:cs typeface="Courier New"/>
                <a:sym typeface="Courier New"/>
              </a:rPr>
              <a:t>"sort"</a:t>
            </a:r>
            <a:r>
              <a:rPr lang="es-419" sz="1350">
                <a:solidFill>
                  <a:srgbClr val="080808"/>
                </a:solidFill>
                <a:highlight>
                  <a:srgbClr val="FFFFFF"/>
                </a:highlight>
                <a:latin typeface="Courier New"/>
                <a:ea typeface="Courier New"/>
                <a:cs typeface="Courier New"/>
                <a:sym typeface="Courier New"/>
              </a:rPr>
              <a:t>, </a:t>
            </a:r>
            <a:r>
              <a:rPr lang="es-419" sz="1350">
                <a:solidFill>
                  <a:srgbClr val="067D17"/>
                </a:solidFill>
                <a:highlight>
                  <a:srgbClr val="FFFFFF"/>
                </a:highlight>
                <a:latin typeface="Courier New"/>
                <a:ea typeface="Courier New"/>
                <a:cs typeface="Courier New"/>
                <a:sym typeface="Courier New"/>
              </a:rPr>
              <a:t>"no"</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List</a:t>
            </a:r>
            <a:r>
              <a:rPr lang="es-419" sz="1350">
                <a:solidFill>
                  <a:srgbClr val="080808"/>
                </a:solidFill>
                <a:highlight>
                  <a:srgbClr val="FFFFFF"/>
                </a:highlight>
                <a:latin typeface="Courier New"/>
                <a:ea typeface="Courier New"/>
                <a:cs typeface="Courier New"/>
                <a:sym typeface="Courier New"/>
              </a:rPr>
              <a:t>&lt;</a:t>
            </a:r>
            <a:r>
              <a:rPr lang="es-419" sz="1350">
                <a:solidFill>
                  <a:schemeClr val="dk1"/>
                </a:solidFill>
                <a:highlight>
                  <a:srgbClr val="FFFFFF"/>
                </a:highlight>
                <a:latin typeface="Courier New"/>
                <a:ea typeface="Courier New"/>
                <a:cs typeface="Courier New"/>
                <a:sym typeface="Courier New"/>
              </a:rPr>
              <a:t>Product</a:t>
            </a:r>
            <a:r>
              <a:rPr lang="es-419" sz="1350">
                <a:solidFill>
                  <a:srgbClr val="080808"/>
                </a:solidFill>
                <a:highlight>
                  <a:srgbClr val="FFFFFF"/>
                </a:highlight>
                <a:latin typeface="Courier New"/>
                <a:ea typeface="Courier New"/>
                <a:cs typeface="Courier New"/>
                <a:sym typeface="Courier New"/>
              </a:rPr>
              <a:t>&gt; </a:t>
            </a:r>
            <a:r>
              <a:rPr lang="es-419" sz="1350">
                <a:solidFill>
                  <a:schemeClr val="dk1"/>
                </a:solidFill>
                <a:highlight>
                  <a:srgbClr val="FFFFFF"/>
                </a:highlight>
                <a:latin typeface="Courier New"/>
                <a:ea typeface="Courier New"/>
                <a:cs typeface="Courier New"/>
                <a:sym typeface="Courier New"/>
              </a:rPr>
              <a:t>result </a:t>
            </a:r>
            <a:r>
              <a:rPr lang="es-419" sz="1350">
                <a:solidFill>
                  <a:srgbClr val="080808"/>
                </a:solidFill>
                <a:highlight>
                  <a:srgbClr val="FFFFFF"/>
                </a:highlight>
                <a:latin typeface="Courier New"/>
                <a:ea typeface="Courier New"/>
                <a:cs typeface="Courier New"/>
                <a:sym typeface="Courier New"/>
              </a:rPr>
              <a:t>= </a:t>
            </a:r>
            <a:r>
              <a:rPr lang="es-419" sz="1350">
                <a:solidFill>
                  <a:srgbClr val="871094"/>
                </a:solidFill>
                <a:highlight>
                  <a:srgbClr val="FFFFFF"/>
                </a:highlight>
                <a:latin typeface="Courier New"/>
                <a:ea typeface="Courier New"/>
                <a:cs typeface="Courier New"/>
                <a:sym typeface="Courier New"/>
              </a:rPr>
              <a:t>productRepository</a:t>
            </a:r>
            <a:r>
              <a:rPr lang="es-419" sz="1350">
                <a:solidFill>
                  <a:srgbClr val="080808"/>
                </a:solidFill>
                <a:highlight>
                  <a:srgbClr val="FFFFFF"/>
                </a:highlight>
                <a:latin typeface="Courier New"/>
                <a:ea typeface="Courier New"/>
                <a:cs typeface="Courier New"/>
                <a:sym typeface="Courier New"/>
              </a:rPr>
              <a:t>.query(</a:t>
            </a:r>
            <a:r>
              <a:rPr lang="es-419" sz="1350">
                <a:solidFill>
                  <a:schemeClr val="dk1"/>
                </a:solidFill>
                <a:highlight>
                  <a:srgbClr val="FFFFFF"/>
                </a:highlight>
                <a:latin typeface="Courier New"/>
                <a:ea typeface="Courier New"/>
                <a:cs typeface="Courier New"/>
                <a:sym typeface="Courier New"/>
              </a:rPr>
              <a:t>max</a:t>
            </a:r>
            <a:r>
              <a:rPr lang="es-419" sz="1350">
                <a:solidFill>
                  <a:srgbClr val="080808"/>
                </a:solidFill>
                <a:highlight>
                  <a:srgbClr val="FFFFFF"/>
                </a:highlight>
                <a:latin typeface="Courier New"/>
                <a:ea typeface="Courier New"/>
                <a:cs typeface="Courier New"/>
                <a:sym typeface="Courier New"/>
              </a:rPr>
              <a:t>, </a:t>
            </a:r>
            <a:r>
              <a:rPr lang="es-419" sz="1350">
                <a:solidFill>
                  <a:schemeClr val="dk1"/>
                </a:solidFill>
                <a:highlight>
                  <a:srgbClr val="FFFFFF"/>
                </a:highlight>
                <a:latin typeface="Courier New"/>
                <a:ea typeface="Courier New"/>
                <a:cs typeface="Courier New"/>
                <a:sym typeface="Courier New"/>
              </a:rPr>
              <a:t>sortDirection</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if </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.isEmpty())</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notFound</a:t>
            </a:r>
            <a:r>
              <a:rPr lang="es-419" sz="1350">
                <a:solidFill>
                  <a:srgbClr val="080808"/>
                </a:solidFill>
                <a:highlight>
                  <a:srgbClr val="FFFFFF"/>
                </a:highlight>
                <a:latin typeface="Courier New"/>
                <a:ea typeface="Courier New"/>
                <a:cs typeface="Courier New"/>
                <a:sym typeface="Courier New"/>
              </a:rPr>
              <a:t>().build();</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   </a:t>
            </a:r>
            <a:r>
              <a:rPr lang="es-419" sz="1350">
                <a:solidFill>
                  <a:srgbClr val="0033B3"/>
                </a:solidFill>
                <a:highlight>
                  <a:srgbClr val="FFFFFF"/>
                </a:highlight>
                <a:latin typeface="Courier New"/>
                <a:ea typeface="Courier New"/>
                <a:cs typeface="Courier New"/>
                <a:sym typeface="Courier New"/>
              </a:rPr>
              <a:t>return </a:t>
            </a:r>
            <a:r>
              <a:rPr lang="es-419" sz="1350">
                <a:solidFill>
                  <a:schemeClr val="dk1"/>
                </a:solidFill>
                <a:highlight>
                  <a:srgbClr val="FFFFFF"/>
                </a:highlight>
                <a:latin typeface="Courier New"/>
                <a:ea typeface="Courier New"/>
                <a:cs typeface="Courier New"/>
                <a:sym typeface="Courier New"/>
              </a:rPr>
              <a:t>ResponseEntity</a:t>
            </a:r>
            <a:r>
              <a:rPr lang="es-419" sz="1350">
                <a:solidFill>
                  <a:srgbClr val="080808"/>
                </a:solidFill>
                <a:highlight>
                  <a:srgbClr val="FFFFFF"/>
                </a:highlight>
                <a:latin typeface="Courier New"/>
                <a:ea typeface="Courier New"/>
                <a:cs typeface="Courier New"/>
                <a:sym typeface="Courier New"/>
              </a:rPr>
              <a:t>.</a:t>
            </a:r>
            <a:r>
              <a:rPr lang="es-419" sz="1350" i="1">
                <a:solidFill>
                  <a:srgbClr val="080808"/>
                </a:solidFill>
                <a:highlight>
                  <a:srgbClr val="FFFFFF"/>
                </a:highlight>
                <a:latin typeface="Courier New"/>
                <a:ea typeface="Courier New"/>
                <a:cs typeface="Courier New"/>
                <a:sym typeface="Courier New"/>
              </a:rPr>
              <a:t>ok</a:t>
            </a:r>
            <a:r>
              <a:rPr lang="es-419" sz="1350">
                <a:solidFill>
                  <a:srgbClr val="080808"/>
                </a:solidFill>
                <a:highlight>
                  <a:srgbClr val="FFFFFF"/>
                </a:highlight>
                <a:latin typeface="Courier New"/>
                <a:ea typeface="Courier New"/>
                <a:cs typeface="Courier New"/>
                <a:sym typeface="Courier New"/>
              </a:rPr>
              <a:t>(</a:t>
            </a:r>
            <a:r>
              <a:rPr lang="es-419" sz="1350">
                <a:solidFill>
                  <a:schemeClr val="dk1"/>
                </a:solidFill>
                <a:highlight>
                  <a:srgbClr val="FFFFFF"/>
                </a:highlight>
                <a:latin typeface="Courier New"/>
                <a:ea typeface="Courier New"/>
                <a:cs typeface="Courier New"/>
                <a:sym typeface="Courier New"/>
              </a:rPr>
              <a:t>result</a:t>
            </a: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419" sz="1350">
                <a:solidFill>
                  <a:srgbClr val="080808"/>
                </a:solidFill>
                <a:highlight>
                  <a:srgbClr val="FFFFFF"/>
                </a:highlight>
                <a:latin typeface="Courier New"/>
                <a:ea typeface="Courier New"/>
                <a:cs typeface="Courier New"/>
                <a:sym typeface="Courier New"/>
              </a:rPr>
              <a:t>}</a:t>
            </a:r>
            <a:endParaRPr sz="135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1fa53d5c77_0_1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31fa53d5c77_0_1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Escogeremos ResponseEntity si</a:t>
            </a:r>
            <a:endParaRPr/>
          </a:p>
          <a:p>
            <a:pPr marL="457200" lvl="0" indent="-298450" algn="l" rtl="0">
              <a:spcBef>
                <a:spcPts val="0"/>
              </a:spcBef>
              <a:spcAft>
                <a:spcPts val="0"/>
              </a:spcAft>
              <a:buSzPts val="1100"/>
              <a:buChar char="-"/>
            </a:pPr>
            <a:r>
              <a:rPr lang="es-419"/>
              <a:t>Queremos manejar algún elemento adicional en la respuesta, como cambiar el código de estado, añadir algún header, etc…</a:t>
            </a:r>
            <a:endParaRPr/>
          </a:p>
          <a:p>
            <a:pPr marL="457200" lvl="0" indent="-298450" algn="l" rtl="0">
              <a:spcBef>
                <a:spcPts val="0"/>
              </a:spcBef>
              <a:spcAft>
                <a:spcPts val="0"/>
              </a:spcAft>
              <a:buSzPts val="1100"/>
              <a:buChar char="-"/>
            </a:pPr>
            <a:r>
              <a:rPr lang="es-419"/>
              <a:t>Cuando aprendamos a manejar correctamente errores y excepciones, no será necesario usarlo. Podremos usar la clase POJO directamente.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pic>
        <p:nvPicPr>
          <p:cNvPr id="82" name="Google Shape;82;p12"/>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sección">
  <p:cSld name="TITLE_1">
    <p:bg>
      <p:bgPr>
        <a:solidFill>
          <a:schemeClr val="lt1"/>
        </a:solidFill>
        <a:effectLst/>
      </p:bgPr>
    </p:bg>
    <p:spTree>
      <p:nvGrpSpPr>
        <p:cNvPr id="1" name="Shape 83"/>
        <p:cNvGrpSpPr/>
        <p:nvPr/>
      </p:nvGrpSpPr>
      <p:grpSpPr>
        <a:xfrm>
          <a:off x="0" y="0"/>
          <a:ext cx="0" cy="0"/>
          <a:chOff x="0" y="0"/>
          <a:chExt cx="0" cy="0"/>
        </a:xfrm>
      </p:grpSpPr>
      <p:sp>
        <p:nvSpPr>
          <p:cNvPr id="84" name="Google Shape;84;p13"/>
          <p:cNvSpPr/>
          <p:nvPr/>
        </p:nvSpPr>
        <p:spPr>
          <a:xfrm>
            <a:off x="7022100" y="4753100"/>
            <a:ext cx="2121900" cy="390300"/>
          </a:xfrm>
          <a:prstGeom prst="rect">
            <a:avLst/>
          </a:prstGeom>
          <a:solidFill>
            <a:srgbClr val="F5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chemeClr val="lt1"/>
              </a:buClr>
              <a:buSzPts val="3000"/>
              <a:buFont typeface="Exo 2"/>
              <a:buNone/>
              <a:defRPr sz="3000" b="1" i="0" u="none" strike="noStrike" cap="none">
                <a:solidFill>
                  <a:schemeClr val="lt1"/>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2pPr>
            <a:lvl3pPr marR="0" lvl="2"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3pPr>
            <a:lvl4pPr marR="0" lvl="3"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4pPr>
            <a:lvl5pPr marR="0" lvl="4"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5pPr>
            <a:lvl6pPr marR="0" lvl="5"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6pPr>
            <a:lvl7pPr marR="0" lvl="6"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7pPr>
            <a:lvl8pPr marR="0" lvl="7"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8pPr>
            <a:lvl9pPr marR="0" lvl="8" algn="ctr">
              <a:lnSpc>
                <a:spcPct val="100000"/>
              </a:lnSpc>
              <a:spcBef>
                <a:spcPts val="0"/>
              </a:spcBef>
              <a:spcAft>
                <a:spcPts val="0"/>
              </a:spcAft>
              <a:buClr>
                <a:srgbClr val="000000"/>
              </a:buClr>
              <a:buSzPts val="3000"/>
              <a:buFont typeface="Space Grotesk"/>
              <a:buNone/>
              <a:defRPr sz="3000" b="1" i="0" u="none" strike="noStrike" cap="none">
                <a:solidFill>
                  <a:srgbClr val="F33784"/>
                </a:solidFill>
                <a:latin typeface="Space Grotesk"/>
                <a:ea typeface="Space Grotesk"/>
                <a:cs typeface="Space Grotesk"/>
                <a:sym typeface="Space Grotesk"/>
              </a:defRPr>
            </a:lvl9pPr>
          </a:lstStyle>
          <a:p>
            <a:endParaRPr/>
          </a:p>
        </p:txBody>
      </p:sp>
      <p:sp>
        <p:nvSpPr>
          <p:cNvPr id="86" name="Google Shape;86;p13"/>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2pPr>
            <a:lvl3pPr marR="0" lvl="2"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3pPr>
            <a:lvl4pPr marR="0" lvl="3"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4pPr>
            <a:lvl5pPr marR="0" lvl="4"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5pPr>
            <a:lvl6pPr marR="0" lvl="5"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6pPr>
            <a:lvl7pPr marR="0" lvl="6"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7pPr>
            <a:lvl8pPr marR="0" lvl="7"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8pPr>
            <a:lvl9pPr marR="0" lvl="8" algn="l">
              <a:lnSpc>
                <a:spcPct val="100000"/>
              </a:lnSpc>
              <a:spcBef>
                <a:spcPts val="0"/>
              </a:spcBef>
              <a:spcAft>
                <a:spcPts val="0"/>
              </a:spcAft>
              <a:buClr>
                <a:srgbClr val="000000"/>
              </a:buClr>
              <a:buSzPts val="2400"/>
              <a:buFont typeface="Space Grotesk"/>
              <a:buNone/>
              <a:defRPr sz="2400" b="1" i="0" u="none" strike="noStrike" cap="none">
                <a:solidFill>
                  <a:srgbClr val="000000"/>
                </a:solidFill>
                <a:latin typeface="Space Grotesk"/>
                <a:ea typeface="Space Grotesk"/>
                <a:cs typeface="Space Grotesk"/>
                <a:sym typeface="Space Grotesk"/>
              </a:defRPr>
            </a:lvl9pPr>
          </a:lstStyle>
          <a:p>
            <a:endParaRPr/>
          </a:p>
        </p:txBody>
      </p:sp>
      <p:pic>
        <p:nvPicPr>
          <p:cNvPr id="87" name="Google Shape;87;p13"/>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sección 1">
  <p:cSld name="TITLE_2">
    <p:bg>
      <p:bgPr>
        <a:solidFill>
          <a:schemeClr val="lt1"/>
        </a:solidFill>
        <a:effectLst/>
      </p:bgPr>
    </p:bg>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FF0000"/>
              </a:buClr>
              <a:buSzPts val="3000"/>
              <a:buFont typeface="Exo 2"/>
              <a:buNone/>
              <a:defRPr sz="3000" i="0" u="none" strike="noStrike" cap="none">
                <a:solidFill>
                  <a:srgbClr val="FF0000"/>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90" name="Google Shape;90;p14"/>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91" name="Google Shape;91;p14"/>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sección 2">
  <p:cSld name="TITLE_3">
    <p:bg>
      <p:bgPr>
        <a:solidFill>
          <a:schemeClr val="lt1"/>
        </a:solidFill>
        <a:effectLst/>
      </p:bgPr>
    </p:bg>
    <p:spTree>
      <p:nvGrpSpPr>
        <p:cNvPr id="1" name="Shape 92"/>
        <p:cNvGrpSpPr/>
        <p:nvPr/>
      </p:nvGrpSpPr>
      <p:grpSpPr>
        <a:xfrm>
          <a:off x="0" y="0"/>
          <a:ext cx="0" cy="0"/>
          <a:chOff x="0" y="0"/>
          <a:chExt cx="0" cy="0"/>
        </a:xfrm>
      </p:grpSpPr>
      <p:sp>
        <p:nvSpPr>
          <p:cNvPr id="93" name="Google Shape;93;p15"/>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FF0000"/>
              </a:buClr>
              <a:buSzPts val="3000"/>
              <a:buFont typeface="Exo 2"/>
              <a:buNone/>
              <a:defRPr sz="3000" i="0" u="none" strike="noStrike" cap="none">
                <a:solidFill>
                  <a:srgbClr val="FF0000"/>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94" name="Google Shape;94;p15"/>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95" name="Google Shape;95;p15"/>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sección 3">
  <p:cSld name="TITLE_4">
    <p:bg>
      <p:bgPr>
        <a:solidFill>
          <a:schemeClr val="lt1"/>
        </a:solidFill>
        <a:effectLst/>
      </p:bgPr>
    </p:bg>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9E880D"/>
              </a:buClr>
              <a:buSzPts val="3000"/>
              <a:buFont typeface="Exo 2"/>
              <a:buNone/>
              <a:defRPr sz="3000" i="0" u="none" strike="noStrike" cap="none">
                <a:solidFill>
                  <a:srgbClr val="9E880D"/>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98" name="Google Shape;98;p16"/>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99" name="Google Shape;99;p16"/>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sección 4">
  <p:cSld name="TITLE_5">
    <p:bg>
      <p:bgPr>
        <a:solidFill>
          <a:schemeClr val="lt1"/>
        </a:solidFill>
        <a:effectLst/>
      </p:bgPr>
    </p:bg>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9E880D"/>
              </a:buClr>
              <a:buSzPts val="3000"/>
              <a:buFont typeface="Exo 2"/>
              <a:buNone/>
              <a:defRPr sz="3000" i="0" u="none" strike="noStrike" cap="none">
                <a:solidFill>
                  <a:srgbClr val="9E880D"/>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102" name="Google Shape;102;p17"/>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103" name="Google Shape;103;p17"/>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sección 5">
  <p:cSld name="TITLE_6">
    <p:bg>
      <p:bgPr>
        <a:solidFill>
          <a:schemeClr val="lt1"/>
        </a:solidFill>
        <a:effectLst/>
      </p:bgPr>
    </p:bg>
    <p:spTree>
      <p:nvGrpSpPr>
        <p:cNvPr id="1" name="Shape 104"/>
        <p:cNvGrpSpPr/>
        <p:nvPr/>
      </p:nvGrpSpPr>
      <p:grpSpPr>
        <a:xfrm>
          <a:off x="0" y="0"/>
          <a:ext cx="0" cy="0"/>
          <a:chOff x="0" y="0"/>
          <a:chExt cx="0" cy="0"/>
        </a:xfrm>
      </p:grpSpPr>
      <p:sp>
        <p:nvSpPr>
          <p:cNvPr id="105" name="Google Shape;105;p18"/>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9E880D"/>
              </a:buClr>
              <a:buSzPts val="3000"/>
              <a:buFont typeface="Exo 2"/>
              <a:buNone/>
              <a:defRPr sz="3000" i="0" u="none" strike="noStrike" cap="none">
                <a:solidFill>
                  <a:srgbClr val="9E880D"/>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106" name="Google Shape;106;p18"/>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107" name="Google Shape;107;p18"/>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ítulo sección 6">
  <p:cSld name="TITLE_7">
    <p:bg>
      <p:bgPr>
        <a:solidFill>
          <a:schemeClr val="lt1"/>
        </a:solidFill>
        <a:effectLst/>
      </p:bgPr>
    </p:bg>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9E880D"/>
              </a:buClr>
              <a:buSzPts val="3000"/>
              <a:buFont typeface="Exo 2"/>
              <a:buNone/>
              <a:defRPr sz="3000" i="0" u="none" strike="noStrike" cap="none">
                <a:solidFill>
                  <a:srgbClr val="9E880D"/>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110" name="Google Shape;110;p19"/>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111" name="Google Shape;111;p19"/>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ítulo sección 7">
  <p:cSld name="TITLE_8">
    <p:bg>
      <p:bgPr>
        <a:solidFill>
          <a:schemeClr val="lt1"/>
        </a:solidFill>
        <a:effectLst/>
      </p:bgPr>
    </p:bg>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2094900" y="1718850"/>
            <a:ext cx="4954200" cy="8418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9E880D"/>
              </a:buClr>
              <a:buSzPts val="3000"/>
              <a:buFont typeface="Exo 2"/>
              <a:buNone/>
              <a:defRPr sz="3000" i="0" u="none" strike="noStrike" cap="none">
                <a:solidFill>
                  <a:srgbClr val="9E880D"/>
                </a:solidFill>
                <a:latin typeface="Exo 2"/>
                <a:ea typeface="Exo 2"/>
                <a:cs typeface="Exo 2"/>
                <a:sym typeface="Exo 2"/>
              </a:defRPr>
            </a:lvl1pPr>
            <a:lvl2pPr marR="0" lvl="1"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2pPr>
            <a:lvl3pPr marR="0" lvl="2"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3pPr>
            <a:lvl4pPr marR="0" lvl="3"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4pPr>
            <a:lvl5pPr marR="0" lvl="4"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5pPr>
            <a:lvl6pPr marR="0" lvl="5"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6pPr>
            <a:lvl7pPr marR="0" lvl="6"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7pPr>
            <a:lvl8pPr marR="0" lvl="7"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8pPr>
            <a:lvl9pPr marR="0" lvl="8" algn="ctr">
              <a:lnSpc>
                <a:spcPct val="100000"/>
              </a:lnSpc>
              <a:spcBef>
                <a:spcPts val="0"/>
              </a:spcBef>
              <a:spcAft>
                <a:spcPts val="0"/>
              </a:spcAft>
              <a:buClr>
                <a:srgbClr val="000000"/>
              </a:buClr>
              <a:buSzPts val="3000"/>
              <a:buFont typeface="Exo 2"/>
              <a:buNone/>
              <a:defRPr sz="3000" i="0" u="none" strike="noStrike" cap="none">
                <a:solidFill>
                  <a:srgbClr val="F33784"/>
                </a:solidFill>
                <a:latin typeface="Exo 2"/>
                <a:ea typeface="Exo 2"/>
                <a:cs typeface="Exo 2"/>
                <a:sym typeface="Exo 2"/>
              </a:defRPr>
            </a:lvl9pPr>
          </a:lstStyle>
          <a:p>
            <a:endParaRPr/>
          </a:p>
        </p:txBody>
      </p:sp>
      <p:sp>
        <p:nvSpPr>
          <p:cNvPr id="114" name="Google Shape;114;p20"/>
          <p:cNvSpPr txBox="1">
            <a:spLocks noGrp="1"/>
          </p:cNvSpPr>
          <p:nvPr>
            <p:ph type="title" idx="2"/>
          </p:nvPr>
        </p:nvSpPr>
        <p:spPr>
          <a:xfrm>
            <a:off x="2094900" y="2789250"/>
            <a:ext cx="4954200" cy="559200"/>
          </a:xfrm>
          <a:prstGeom prst="rect">
            <a:avLst/>
          </a:prstGeom>
          <a:noFill/>
          <a:ln>
            <a:noFill/>
          </a:ln>
        </p:spPr>
        <p:txBody>
          <a:bodyPr spcFirstLastPara="1" wrap="square" lIns="91650" tIns="91650" rIns="91650" bIns="91650" anchor="ctr" anchorCtr="0">
            <a:noAutofit/>
          </a:bodyPr>
          <a:lstStyle>
            <a:lvl1pPr marR="0" lvl="0" algn="ctr">
              <a:lnSpc>
                <a:spcPct val="100000"/>
              </a:lnSpc>
              <a:spcBef>
                <a:spcPts val="0"/>
              </a:spcBef>
              <a:spcAft>
                <a:spcPts val="0"/>
              </a:spcAft>
              <a:buClr>
                <a:srgbClr val="1D2939"/>
              </a:buClr>
              <a:buSzPts val="2500"/>
              <a:buFont typeface="Exo 2"/>
              <a:buNone/>
              <a:defRPr sz="2500" i="0" u="none" strike="noStrike" cap="none">
                <a:solidFill>
                  <a:srgbClr val="1D2939"/>
                </a:solidFill>
                <a:latin typeface="Exo 2"/>
                <a:ea typeface="Exo 2"/>
                <a:cs typeface="Exo 2"/>
                <a:sym typeface="Exo 2"/>
              </a:defRPr>
            </a:lvl1pPr>
            <a:lvl2pPr marR="0" lvl="1"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2pPr>
            <a:lvl3pPr marR="0" lvl="2"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3pPr>
            <a:lvl4pPr marR="0" lvl="3"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4pPr>
            <a:lvl5pPr marR="0" lvl="4"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5pPr>
            <a:lvl6pPr marR="0" lvl="5"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6pPr>
            <a:lvl7pPr marR="0" lvl="6"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7pPr>
            <a:lvl8pPr marR="0" lvl="7"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8pPr>
            <a:lvl9pPr marR="0" lvl="8" algn="l">
              <a:lnSpc>
                <a:spcPct val="100000"/>
              </a:lnSpc>
              <a:spcBef>
                <a:spcPts val="0"/>
              </a:spcBef>
              <a:spcAft>
                <a:spcPts val="0"/>
              </a:spcAft>
              <a:buClr>
                <a:srgbClr val="000000"/>
              </a:buClr>
              <a:buSzPts val="2400"/>
              <a:buFont typeface="Exo 2"/>
              <a:buNone/>
              <a:defRPr sz="2400" i="0" u="none" strike="noStrike" cap="none">
                <a:solidFill>
                  <a:srgbClr val="000000"/>
                </a:solidFill>
                <a:latin typeface="Exo 2"/>
                <a:ea typeface="Exo 2"/>
                <a:cs typeface="Exo 2"/>
                <a:sym typeface="Exo 2"/>
              </a:defRPr>
            </a:lvl9pPr>
          </a:lstStyle>
          <a:p>
            <a:endParaRPr/>
          </a:p>
        </p:txBody>
      </p:sp>
      <p:pic>
        <p:nvPicPr>
          <p:cNvPr id="115" name="Google Shape;115;p20"/>
          <p:cNvPicPr preferRelativeResize="0"/>
          <p:nvPr/>
        </p:nvPicPr>
        <p:blipFill>
          <a:blip r:embed="rId2">
            <a:alphaModFix/>
          </a:blip>
          <a:stretch>
            <a:fillRect/>
          </a:stretch>
        </p:blipFill>
        <p:spPr>
          <a:xfrm>
            <a:off x="7797275" y="117496"/>
            <a:ext cx="1202024" cy="3783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649">
          <p15:clr>
            <a:srgbClr val="E46962"/>
          </p15:clr>
        </p15:guide>
        <p15:guide id="4" pos="1111">
          <p15:clr>
            <a:srgbClr val="E46962"/>
          </p15:clr>
        </p15:guide>
        <p15:guide id="5" pos="1280">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Exo 2"/>
              <a:buChar char="●"/>
              <a:defRPr sz="1300">
                <a:solidFill>
                  <a:schemeClr val="accent1"/>
                </a:solidFill>
                <a:latin typeface="Exo 2"/>
                <a:ea typeface="Exo 2"/>
                <a:cs typeface="Exo 2"/>
                <a:sym typeface="Exo 2"/>
              </a:defRPr>
            </a:lvl1pPr>
            <a:lvl2pPr marL="914400" lvl="1"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2pPr>
            <a:lvl3pPr marL="1371600" lvl="2"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3pPr>
            <a:lvl4pPr marL="1828800" lvl="3"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4pPr>
            <a:lvl5pPr marL="2286000" lvl="4"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5pPr>
            <a:lvl6pPr marL="2743200" lvl="5"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6pPr>
            <a:lvl7pPr marL="3200400" lvl="6"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7pPr>
            <a:lvl8pPr marL="3657600" lvl="7"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8pPr>
            <a:lvl9pPr marL="4114800" lvl="8" indent="-298450">
              <a:lnSpc>
                <a:spcPct val="115000"/>
              </a:lnSpc>
              <a:spcBef>
                <a:spcPts val="0"/>
              </a:spcBef>
              <a:spcAft>
                <a:spcPts val="0"/>
              </a:spcAft>
              <a:buClr>
                <a:schemeClr val="accent1"/>
              </a:buClr>
              <a:buSzPts val="1100"/>
              <a:buFont typeface="Exo 2"/>
              <a:buChar char="■"/>
              <a:defRPr sz="1100">
                <a:solidFill>
                  <a:schemeClr val="accent1"/>
                </a:solidFill>
                <a:latin typeface="Exo 2"/>
                <a:ea typeface="Exo 2"/>
                <a:cs typeface="Exo 2"/>
                <a:sym typeface="Exo 2"/>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p:nvPr/>
        </p:nvSpPr>
        <p:spPr>
          <a:xfrm>
            <a:off x="9075" y="0"/>
            <a:ext cx="9144000" cy="51435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xo 2"/>
              <a:ea typeface="Exo 2"/>
              <a:cs typeface="Exo 2"/>
              <a:sym typeface="Exo 2"/>
            </a:endParaRPr>
          </a:p>
        </p:txBody>
      </p:sp>
      <p:sp>
        <p:nvSpPr>
          <p:cNvPr id="121" name="Google Shape;121;p21"/>
          <p:cNvSpPr txBox="1"/>
          <p:nvPr/>
        </p:nvSpPr>
        <p:spPr>
          <a:xfrm>
            <a:off x="1963875" y="1960950"/>
            <a:ext cx="5234400" cy="610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419" sz="2800">
                <a:solidFill>
                  <a:schemeClr val="lt1"/>
                </a:solidFill>
                <a:latin typeface="Exo 2 Black"/>
                <a:ea typeface="Exo 2 Black"/>
                <a:cs typeface="Exo 2 Black"/>
                <a:sym typeface="Exo 2 Black"/>
              </a:rPr>
              <a:t>DESARROLLO DE UNA API REST CON SPRING BOOT</a:t>
            </a:r>
            <a:endParaRPr sz="2800">
              <a:solidFill>
                <a:schemeClr val="lt1"/>
              </a:solidFill>
              <a:latin typeface="Exo 2 Black"/>
              <a:ea typeface="Exo 2 Black"/>
              <a:cs typeface="Exo 2 Black"/>
              <a:sym typeface="Exo 2 Black"/>
            </a:endParaRPr>
          </a:p>
        </p:txBody>
      </p:sp>
      <p:sp>
        <p:nvSpPr>
          <p:cNvPr id="122" name="Google Shape;122;p21"/>
          <p:cNvSpPr txBox="1"/>
          <p:nvPr/>
        </p:nvSpPr>
        <p:spPr>
          <a:xfrm>
            <a:off x="7669825" y="3971225"/>
            <a:ext cx="23991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300">
                <a:solidFill>
                  <a:schemeClr val="lt1"/>
                </a:solidFill>
                <a:latin typeface="Exo 2"/>
                <a:ea typeface="Exo 2"/>
                <a:cs typeface="Exo 2"/>
                <a:sym typeface="Exo 2"/>
              </a:rPr>
              <a:t>UD1</a:t>
            </a:r>
            <a:endParaRPr sz="1300">
              <a:solidFill>
                <a:schemeClr val="lt1"/>
              </a:solidFill>
              <a:latin typeface="Exo 2"/>
              <a:ea typeface="Exo 2"/>
              <a:cs typeface="Exo 2"/>
              <a:sym typeface="Exo 2"/>
            </a:endParaRPr>
          </a:p>
          <a:p>
            <a:pPr marL="0" lvl="0" indent="0" algn="l" rtl="0">
              <a:spcBef>
                <a:spcPts val="0"/>
              </a:spcBef>
              <a:spcAft>
                <a:spcPts val="0"/>
              </a:spcAft>
              <a:buNone/>
            </a:pPr>
            <a:r>
              <a:rPr lang="es-419" sz="1300">
                <a:solidFill>
                  <a:schemeClr val="lt1"/>
                </a:solidFill>
                <a:latin typeface="Exo 2"/>
                <a:ea typeface="Exo 2"/>
                <a:cs typeface="Exo 2"/>
                <a:sym typeface="Exo 2"/>
              </a:rPr>
              <a:t>AD-PSP</a:t>
            </a:r>
            <a:endParaRPr sz="1300">
              <a:solidFill>
                <a:schemeClr val="lt1"/>
              </a:solidFill>
              <a:latin typeface="Exo 2"/>
              <a:ea typeface="Exo 2"/>
              <a:cs typeface="Exo 2"/>
              <a:sym typeface="Exo 2"/>
            </a:endParaRPr>
          </a:p>
        </p:txBody>
      </p:sp>
      <p:pic>
        <p:nvPicPr>
          <p:cNvPr id="123" name="Google Shape;123;p21"/>
          <p:cNvPicPr preferRelativeResize="0"/>
          <p:nvPr/>
        </p:nvPicPr>
        <p:blipFill>
          <a:blip r:embed="rId3">
            <a:alphaModFix/>
          </a:blip>
          <a:stretch>
            <a:fillRect/>
          </a:stretch>
        </p:blipFill>
        <p:spPr>
          <a:xfrm>
            <a:off x="3189700" y="3017102"/>
            <a:ext cx="2944275" cy="758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INTRODUCCIÓN</a:t>
            </a:r>
            <a:endParaRPr sz="3200" b="1">
              <a:solidFill>
                <a:srgbClr val="F63D68"/>
              </a:solidFill>
              <a:latin typeface="Space Grotesk"/>
              <a:ea typeface="Space Grotesk"/>
              <a:cs typeface="Space Grotesk"/>
              <a:sym typeface="Space Grotesk"/>
            </a:endParaRPr>
          </a:p>
        </p:txBody>
      </p:sp>
      <p:sp>
        <p:nvSpPr>
          <p:cNvPr id="129" name="Google Shape;129;p22"/>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2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EVOLUCIÓN DE LAS APLICACIONES</a:t>
            </a:r>
            <a:endParaRPr sz="3000" b="1">
              <a:solidFill>
                <a:srgbClr val="F63D68"/>
              </a:solidFill>
              <a:latin typeface="Space Grotesk"/>
              <a:ea typeface="Space Grotesk"/>
              <a:cs typeface="Space Grotesk"/>
              <a:sym typeface="Space Grotesk"/>
            </a:endParaRPr>
          </a:p>
        </p:txBody>
      </p:sp>
      <p:pic>
        <p:nvPicPr>
          <p:cNvPr id="135" name="Google Shape;135;p23"/>
          <p:cNvPicPr preferRelativeResize="0"/>
          <p:nvPr/>
        </p:nvPicPr>
        <p:blipFill>
          <a:blip r:embed="rId3">
            <a:alphaModFix/>
          </a:blip>
          <a:stretch>
            <a:fillRect/>
          </a:stretch>
        </p:blipFill>
        <p:spPr>
          <a:xfrm>
            <a:off x="2723625" y="2034900"/>
            <a:ext cx="3684149" cy="2401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p2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APLICACIÓN DISTRIBUIDA</a:t>
            </a:r>
            <a:endParaRPr sz="3000" b="1">
              <a:solidFill>
                <a:srgbClr val="F63D68"/>
              </a:solidFill>
              <a:latin typeface="Space Grotesk"/>
              <a:ea typeface="Space Grotesk"/>
              <a:cs typeface="Space Grotesk"/>
              <a:sym typeface="Space Grotesk"/>
            </a:endParaRPr>
          </a:p>
        </p:txBody>
      </p:sp>
      <p:sp>
        <p:nvSpPr>
          <p:cNvPr id="141" name="Google Shape;141;p24"/>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La aplicación no se ejecuta un único dispositivo.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142" name="Google Shape;142;p24"/>
          <p:cNvPicPr preferRelativeResize="0"/>
          <p:nvPr/>
        </p:nvPicPr>
        <p:blipFill rotWithShape="1">
          <a:blip r:embed="rId3">
            <a:alphaModFix/>
          </a:blip>
          <a:srcRect l="9403" t="22282" r="9606"/>
          <a:stretch/>
        </p:blipFill>
        <p:spPr>
          <a:xfrm>
            <a:off x="3142462" y="2914150"/>
            <a:ext cx="2954874" cy="2027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7" name="Google Shape;147;p2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APLICACIÓN DISTRIBUIDA CON CORBA</a:t>
            </a:r>
            <a:endParaRPr sz="3000" b="1">
              <a:solidFill>
                <a:srgbClr val="F63D68"/>
              </a:solidFill>
              <a:latin typeface="Space Grotesk"/>
              <a:ea typeface="Space Grotesk"/>
              <a:cs typeface="Space Grotesk"/>
              <a:sym typeface="Space Grotesk"/>
            </a:endParaRPr>
          </a:p>
        </p:txBody>
      </p:sp>
      <p:pic>
        <p:nvPicPr>
          <p:cNvPr id="148" name="Google Shape;148;p25"/>
          <p:cNvPicPr preferRelativeResize="0"/>
          <p:nvPr/>
        </p:nvPicPr>
        <p:blipFill>
          <a:blip r:embed="rId3">
            <a:alphaModFix/>
          </a:blip>
          <a:stretch>
            <a:fillRect/>
          </a:stretch>
        </p:blipFill>
        <p:spPr>
          <a:xfrm>
            <a:off x="2303275" y="1798100"/>
            <a:ext cx="4586049" cy="2881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2"/>
        <p:cNvGrpSpPr/>
        <p:nvPr/>
      </p:nvGrpSpPr>
      <p:grpSpPr>
        <a:xfrm>
          <a:off x="0" y="0"/>
          <a:ext cx="0" cy="0"/>
          <a:chOff x="0" y="0"/>
          <a:chExt cx="0" cy="0"/>
        </a:xfrm>
      </p:grpSpPr>
      <p:sp>
        <p:nvSpPr>
          <p:cNvPr id="153" name="Google Shape;153;p2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APLICACIÓN DISTRIBUIDA CON RMI</a:t>
            </a:r>
            <a:endParaRPr sz="3000" b="1">
              <a:solidFill>
                <a:srgbClr val="F63D68"/>
              </a:solidFill>
              <a:latin typeface="Space Grotesk"/>
              <a:ea typeface="Space Grotesk"/>
              <a:cs typeface="Space Grotesk"/>
              <a:sym typeface="Space Grotesk"/>
            </a:endParaRPr>
          </a:p>
        </p:txBody>
      </p:sp>
      <p:pic>
        <p:nvPicPr>
          <p:cNvPr id="154" name="Google Shape;154;p26"/>
          <p:cNvPicPr preferRelativeResize="0"/>
          <p:nvPr/>
        </p:nvPicPr>
        <p:blipFill>
          <a:blip r:embed="rId3">
            <a:alphaModFix/>
          </a:blip>
          <a:stretch>
            <a:fillRect/>
          </a:stretch>
        </p:blipFill>
        <p:spPr>
          <a:xfrm>
            <a:off x="3308977" y="1928500"/>
            <a:ext cx="2526050" cy="2751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8"/>
        <p:cNvGrpSpPr/>
        <p:nvPr/>
      </p:nvGrpSpPr>
      <p:grpSpPr>
        <a:xfrm>
          <a:off x="0" y="0"/>
          <a:ext cx="0" cy="0"/>
          <a:chOff x="0" y="0"/>
          <a:chExt cx="0" cy="0"/>
        </a:xfrm>
      </p:grpSpPr>
      <p:sp>
        <p:nvSpPr>
          <p:cNvPr id="159" name="Google Shape;159;p27"/>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DESVENTAJAS COMUNES</a:t>
            </a:r>
            <a:endParaRPr sz="3000" b="1">
              <a:solidFill>
                <a:srgbClr val="F63D68"/>
              </a:solidFill>
              <a:latin typeface="Space Grotesk"/>
              <a:ea typeface="Space Grotesk"/>
              <a:cs typeface="Space Grotesk"/>
              <a:sym typeface="Space Grotesk"/>
            </a:endParaRPr>
          </a:p>
        </p:txBody>
      </p:sp>
      <p:sp>
        <p:nvSpPr>
          <p:cNvPr id="160" name="Google Shape;160;p27"/>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Escalabilidad y evolución compleja.</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Tecnologías propietarias.</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Problemas de comunicación</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Latencia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Cortafuegos</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p2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EL AUGE DE LA WEB</a:t>
            </a:r>
            <a:endParaRPr sz="3000" b="1">
              <a:solidFill>
                <a:srgbClr val="F63D68"/>
              </a:solidFill>
              <a:latin typeface="Space Grotesk"/>
              <a:ea typeface="Space Grotesk"/>
              <a:cs typeface="Space Grotesk"/>
              <a:sym typeface="Space Grotesk"/>
            </a:endParaRPr>
          </a:p>
        </p:txBody>
      </p:sp>
      <p:sp>
        <p:nvSpPr>
          <p:cNvPr id="166" name="Google Shape;166;p28"/>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Plataforma </a:t>
            </a:r>
            <a:r>
              <a:rPr lang="es-419" sz="2000" i="1">
                <a:solidFill>
                  <a:srgbClr val="1D2939"/>
                </a:solidFill>
                <a:latin typeface="Space Grotesk"/>
                <a:ea typeface="Space Grotesk"/>
                <a:cs typeface="Space Grotesk"/>
                <a:sym typeface="Space Grotesk"/>
              </a:rPr>
              <a:t>preferida</a:t>
            </a:r>
            <a:r>
              <a:rPr lang="es-419" sz="2000">
                <a:solidFill>
                  <a:srgbClr val="1D2939"/>
                </a:solidFill>
                <a:latin typeface="Space Grotesk"/>
                <a:ea typeface="Space Grotesk"/>
                <a:cs typeface="Space Grotesk"/>
                <a:sym typeface="Space Grotesk"/>
              </a:rPr>
              <a:t> de desarrollo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Microestándares (RFC)</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Enfoque abierto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Protocolos más sencillos (HTTP)</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PROTOCOLO HTTP</a:t>
            </a:r>
            <a:endParaRPr sz="3200" b="1">
              <a:solidFill>
                <a:srgbClr val="F63D68"/>
              </a:solidFill>
              <a:latin typeface="Space Grotesk"/>
              <a:ea typeface="Space Grotesk"/>
              <a:cs typeface="Space Grotesk"/>
              <a:sym typeface="Space Grotesk"/>
            </a:endParaRPr>
          </a:p>
        </p:txBody>
      </p:sp>
      <p:sp>
        <p:nvSpPr>
          <p:cNvPr id="172" name="Google Shape;172;p29"/>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6"/>
        <p:cNvGrpSpPr/>
        <p:nvPr/>
      </p:nvGrpSpPr>
      <p:grpSpPr>
        <a:xfrm>
          <a:off x="0" y="0"/>
          <a:ext cx="0" cy="0"/>
          <a:chOff x="0" y="0"/>
          <a:chExt cx="0" cy="0"/>
        </a:xfrm>
      </p:grpSpPr>
      <p:sp>
        <p:nvSpPr>
          <p:cNvPr id="177" name="Google Shape;177;p30"/>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PROTOCOLO HTTP</a:t>
            </a:r>
            <a:endParaRPr sz="3000" b="1">
              <a:solidFill>
                <a:srgbClr val="F63D68"/>
              </a:solidFill>
              <a:latin typeface="Space Grotesk"/>
              <a:ea typeface="Space Grotesk"/>
              <a:cs typeface="Space Grotesk"/>
              <a:sym typeface="Space Grotesk"/>
            </a:endParaRPr>
          </a:p>
        </p:txBody>
      </p:sp>
      <p:sp>
        <p:nvSpPr>
          <p:cNvPr id="178" name="Google Shape;178;p30"/>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Transferencia de hipertexto (WWW)</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Sin estados</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Cliente / Servidor</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2"/>
        <p:cNvGrpSpPr/>
        <p:nvPr/>
      </p:nvGrpSpPr>
      <p:grpSpPr>
        <a:xfrm>
          <a:off x="0" y="0"/>
          <a:ext cx="0" cy="0"/>
          <a:chOff x="0" y="0"/>
          <a:chExt cx="0" cy="0"/>
        </a:xfrm>
      </p:grpSpPr>
      <p:sp>
        <p:nvSpPr>
          <p:cNvPr id="183" name="Google Shape;183;p31"/>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PROTOCOLO HTTP</a:t>
            </a:r>
            <a:endParaRPr sz="3000" b="1">
              <a:solidFill>
                <a:srgbClr val="F63D68"/>
              </a:solidFill>
              <a:latin typeface="Space Grotesk"/>
              <a:ea typeface="Space Grotesk"/>
              <a:cs typeface="Space Grotesk"/>
              <a:sym typeface="Space Grotesk"/>
            </a:endParaRPr>
          </a:p>
        </p:txBody>
      </p:sp>
      <p:sp>
        <p:nvSpPr>
          <p:cNvPr id="184" name="Google Shape;184;p31"/>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Petición / Respuesta</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185" name="Google Shape;185;p31"/>
          <p:cNvPicPr preferRelativeResize="0"/>
          <p:nvPr/>
        </p:nvPicPr>
        <p:blipFill rotWithShape="1">
          <a:blip r:embed="rId3">
            <a:alphaModFix/>
          </a:blip>
          <a:srcRect l="25701" r="932" b="40758"/>
          <a:stretch/>
        </p:blipFill>
        <p:spPr>
          <a:xfrm>
            <a:off x="2624050" y="2204025"/>
            <a:ext cx="3718176" cy="1786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3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FORMATO DE MENSAJES</a:t>
            </a:r>
            <a:endParaRPr sz="3000" b="1">
              <a:solidFill>
                <a:srgbClr val="F63D68"/>
              </a:solidFill>
              <a:latin typeface="Space Grotesk"/>
              <a:ea typeface="Space Grotesk"/>
              <a:cs typeface="Space Grotesk"/>
              <a:sym typeface="Space Grotesk"/>
            </a:endParaRPr>
          </a:p>
        </p:txBody>
      </p:sp>
      <p:sp>
        <p:nvSpPr>
          <p:cNvPr id="191" name="Google Shape;191;p32"/>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Petición y respuesta tiene “igual” estructura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Línea inicial</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Encabezados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Cuerpo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grpSp>
        <p:nvGrpSpPr>
          <p:cNvPr id="192" name="Google Shape;192;p32"/>
          <p:cNvGrpSpPr/>
          <p:nvPr/>
        </p:nvGrpSpPr>
        <p:grpSpPr>
          <a:xfrm>
            <a:off x="4698299" y="3021675"/>
            <a:ext cx="3153926" cy="1658525"/>
            <a:chOff x="4698299" y="3021675"/>
            <a:chExt cx="3153926" cy="1658525"/>
          </a:xfrm>
        </p:grpSpPr>
        <p:sp>
          <p:nvSpPr>
            <p:cNvPr id="193" name="Google Shape;193;p32"/>
            <p:cNvSpPr/>
            <p:nvPr/>
          </p:nvSpPr>
          <p:spPr>
            <a:xfrm>
              <a:off x="5476825" y="3021675"/>
              <a:ext cx="2375400" cy="179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100" b="1">
                  <a:latin typeface="Space Grotesk"/>
                  <a:ea typeface="Space Grotesk"/>
                  <a:cs typeface="Space Grotesk"/>
                  <a:sym typeface="Space Grotesk"/>
                </a:rPr>
                <a:t>LÍNEA INICIAL</a:t>
              </a:r>
              <a:endParaRPr sz="1100" b="1">
                <a:latin typeface="Space Grotesk"/>
                <a:ea typeface="Space Grotesk"/>
                <a:cs typeface="Space Grotesk"/>
                <a:sym typeface="Space Grotesk"/>
              </a:endParaRPr>
            </a:p>
          </p:txBody>
        </p:sp>
        <p:sp>
          <p:nvSpPr>
            <p:cNvPr id="194" name="Google Shape;194;p32"/>
            <p:cNvSpPr/>
            <p:nvPr/>
          </p:nvSpPr>
          <p:spPr>
            <a:xfrm>
              <a:off x="5476825" y="3201375"/>
              <a:ext cx="2375400" cy="459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200" b="1">
                  <a:latin typeface="Space Grotesk"/>
                  <a:ea typeface="Space Grotesk"/>
                  <a:cs typeface="Space Grotesk"/>
                  <a:sym typeface="Space Grotesk"/>
                </a:rPr>
                <a:t>ENCABEZADOS</a:t>
              </a:r>
              <a:endParaRPr sz="1200" b="1">
                <a:latin typeface="Space Grotesk"/>
                <a:ea typeface="Space Grotesk"/>
                <a:cs typeface="Space Grotesk"/>
                <a:sym typeface="Space Grotesk"/>
              </a:endParaRPr>
            </a:p>
            <a:p>
              <a:pPr marL="0" lvl="0" indent="0" algn="ctr" rtl="0">
                <a:spcBef>
                  <a:spcPts val="0"/>
                </a:spcBef>
                <a:spcAft>
                  <a:spcPts val="0"/>
                </a:spcAft>
                <a:buNone/>
              </a:pPr>
              <a:r>
                <a:rPr lang="es-419" sz="900">
                  <a:latin typeface="Space Grotesk Light"/>
                  <a:ea typeface="Space Grotesk Light"/>
                  <a:cs typeface="Space Grotesk Light"/>
                  <a:sym typeface="Space Grotesk Light"/>
                </a:rPr>
                <a:t>header1 : val1</a:t>
              </a:r>
              <a:endParaRPr sz="900">
                <a:latin typeface="Space Grotesk Light"/>
                <a:ea typeface="Space Grotesk Light"/>
                <a:cs typeface="Space Grotesk Light"/>
                <a:sym typeface="Space Grotesk Light"/>
              </a:endParaRPr>
            </a:p>
            <a:p>
              <a:pPr marL="0" lvl="0" indent="0" algn="ctr" rtl="0">
                <a:spcBef>
                  <a:spcPts val="0"/>
                </a:spcBef>
                <a:spcAft>
                  <a:spcPts val="0"/>
                </a:spcAft>
                <a:buNone/>
              </a:pPr>
              <a:r>
                <a:rPr lang="es-419" sz="900">
                  <a:latin typeface="Space Grotesk Light"/>
                  <a:ea typeface="Space Grotesk Light"/>
                  <a:cs typeface="Space Grotesk Light"/>
                  <a:sym typeface="Space Grotesk Light"/>
                </a:rPr>
                <a:t>headerN: valN</a:t>
              </a:r>
              <a:endParaRPr sz="900">
                <a:latin typeface="Space Grotesk Light"/>
                <a:ea typeface="Space Grotesk Light"/>
                <a:cs typeface="Space Grotesk Light"/>
                <a:sym typeface="Space Grotesk Light"/>
              </a:endParaRPr>
            </a:p>
          </p:txBody>
        </p:sp>
        <p:sp>
          <p:nvSpPr>
            <p:cNvPr id="195" name="Google Shape;195;p32"/>
            <p:cNvSpPr/>
            <p:nvPr/>
          </p:nvSpPr>
          <p:spPr>
            <a:xfrm>
              <a:off x="5476825" y="3740300"/>
              <a:ext cx="2375400" cy="939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s-419" sz="1100" b="1">
                  <a:latin typeface="Space Grotesk"/>
                  <a:ea typeface="Space Grotesk"/>
                  <a:cs typeface="Space Grotesk"/>
                  <a:sym typeface="Space Grotesk"/>
                </a:rPr>
                <a:t>CUERPO DEL MENSAJE</a:t>
              </a:r>
              <a:endParaRPr sz="1100" b="1">
                <a:latin typeface="Space Grotesk"/>
                <a:ea typeface="Space Grotesk"/>
                <a:cs typeface="Space Grotesk"/>
                <a:sym typeface="Space Grotesk"/>
              </a:endParaRPr>
            </a:p>
          </p:txBody>
        </p:sp>
        <p:sp>
          <p:nvSpPr>
            <p:cNvPr id="196" name="Google Shape;196;p32"/>
            <p:cNvSpPr/>
            <p:nvPr/>
          </p:nvSpPr>
          <p:spPr>
            <a:xfrm>
              <a:off x="5476825" y="3660375"/>
              <a:ext cx="2375400" cy="79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100" b="1">
                <a:latin typeface="Space Grotesk"/>
                <a:ea typeface="Space Grotesk"/>
                <a:cs typeface="Space Grotesk"/>
                <a:sym typeface="Space Grotesk"/>
              </a:endParaRPr>
            </a:p>
          </p:txBody>
        </p:sp>
        <p:sp>
          <p:nvSpPr>
            <p:cNvPr id="197" name="Google Shape;197;p32"/>
            <p:cNvSpPr txBox="1"/>
            <p:nvPr/>
          </p:nvSpPr>
          <p:spPr>
            <a:xfrm>
              <a:off x="4698299" y="3517625"/>
              <a:ext cx="838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000">
                  <a:latin typeface="Space Grotesk Light"/>
                  <a:ea typeface="Space Grotesk Light"/>
                  <a:cs typeface="Space Grotesk Light"/>
                  <a:sym typeface="Space Grotesk Light"/>
                </a:rPr>
                <a:t>línea vacía</a:t>
              </a:r>
              <a:endParaRPr sz="1000">
                <a:latin typeface="Space Grotesk Light"/>
                <a:ea typeface="Space Grotesk Light"/>
                <a:cs typeface="Space Grotesk Light"/>
                <a:sym typeface="Space Grotesk Ligh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p3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FORMATO DE MENSAJES</a:t>
            </a:r>
            <a:endParaRPr sz="3000" b="1">
              <a:solidFill>
                <a:srgbClr val="F63D68"/>
              </a:solidFill>
              <a:latin typeface="Space Grotesk"/>
              <a:ea typeface="Space Grotesk"/>
              <a:cs typeface="Space Grotesk"/>
              <a:sym typeface="Space Grotesk"/>
            </a:endParaRPr>
          </a:p>
        </p:txBody>
      </p:sp>
      <p:sp>
        <p:nvSpPr>
          <p:cNvPr id="203" name="Google Shape;203;p33"/>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Petición </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204" name="Google Shape;204;p33"/>
          <p:cNvPicPr preferRelativeResize="0"/>
          <p:nvPr/>
        </p:nvPicPr>
        <p:blipFill>
          <a:blip r:embed="rId3">
            <a:alphaModFix/>
          </a:blip>
          <a:stretch>
            <a:fillRect/>
          </a:stretch>
        </p:blipFill>
        <p:spPr>
          <a:xfrm>
            <a:off x="3787338" y="2203375"/>
            <a:ext cx="2314575" cy="1428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8"/>
        <p:cNvGrpSpPr/>
        <p:nvPr/>
      </p:nvGrpSpPr>
      <p:grpSpPr>
        <a:xfrm>
          <a:off x="0" y="0"/>
          <a:ext cx="0" cy="0"/>
          <a:chOff x="0" y="0"/>
          <a:chExt cx="0" cy="0"/>
        </a:xfrm>
      </p:grpSpPr>
      <p:sp>
        <p:nvSpPr>
          <p:cNvPr id="209" name="Google Shape;209;p3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FORMATO DE MENSAJES</a:t>
            </a:r>
            <a:endParaRPr sz="3000" b="1">
              <a:solidFill>
                <a:srgbClr val="F63D68"/>
              </a:solidFill>
              <a:latin typeface="Space Grotesk"/>
              <a:ea typeface="Space Grotesk"/>
              <a:cs typeface="Space Grotesk"/>
              <a:sym typeface="Space Grotesk"/>
            </a:endParaRPr>
          </a:p>
        </p:txBody>
      </p:sp>
      <p:sp>
        <p:nvSpPr>
          <p:cNvPr id="210" name="Google Shape;210;p34"/>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Respuesta</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211" name="Google Shape;211;p34"/>
          <p:cNvPicPr preferRelativeResize="0"/>
          <p:nvPr/>
        </p:nvPicPr>
        <p:blipFill>
          <a:blip r:embed="rId3">
            <a:alphaModFix/>
          </a:blip>
          <a:stretch>
            <a:fillRect/>
          </a:stretch>
        </p:blipFill>
        <p:spPr>
          <a:xfrm>
            <a:off x="3981650" y="2255700"/>
            <a:ext cx="2857500" cy="1390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5"/>
        <p:cNvGrpSpPr/>
        <p:nvPr/>
      </p:nvGrpSpPr>
      <p:grpSpPr>
        <a:xfrm>
          <a:off x="0" y="0"/>
          <a:ext cx="0" cy="0"/>
          <a:chOff x="0" y="0"/>
          <a:chExt cx="0" cy="0"/>
        </a:xfrm>
      </p:grpSpPr>
      <p:sp>
        <p:nvSpPr>
          <p:cNvPr id="216" name="Google Shape;216;p3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PROTOCOLO HTTP</a:t>
            </a:r>
            <a:endParaRPr sz="3000" b="1">
              <a:solidFill>
                <a:srgbClr val="F63D68"/>
              </a:solidFill>
              <a:latin typeface="Space Grotesk"/>
              <a:ea typeface="Space Grotesk"/>
              <a:cs typeface="Space Grotesk"/>
              <a:sym typeface="Space Grotesk"/>
            </a:endParaRPr>
          </a:p>
        </p:txBody>
      </p:sp>
      <p:sp>
        <p:nvSpPr>
          <p:cNvPr id="217" name="Google Shape;217;p35"/>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Diferentes tipos de petición</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GET: obtener algo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POST: crear algo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PUT: modificar algo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DELETE: borrar algo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1"/>
        <p:cNvGrpSpPr/>
        <p:nvPr/>
      </p:nvGrpSpPr>
      <p:grpSpPr>
        <a:xfrm>
          <a:off x="0" y="0"/>
          <a:ext cx="0" cy="0"/>
          <a:chOff x="0" y="0"/>
          <a:chExt cx="0" cy="0"/>
        </a:xfrm>
      </p:grpSpPr>
      <p:sp>
        <p:nvSpPr>
          <p:cNvPr id="222" name="Google Shape;222;p3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CÓDIGOS DE RESPUESTA</a:t>
            </a:r>
            <a:endParaRPr sz="3000" b="1">
              <a:solidFill>
                <a:srgbClr val="F63D68"/>
              </a:solidFill>
              <a:latin typeface="Space Grotesk"/>
              <a:ea typeface="Space Grotesk"/>
              <a:cs typeface="Space Grotesk"/>
              <a:sym typeface="Space Grotesk"/>
            </a:endParaRPr>
          </a:p>
        </p:txBody>
      </p:sp>
      <p:sp>
        <p:nvSpPr>
          <p:cNvPr id="223" name="Google Shape;223;p36"/>
          <p:cNvSpPr txBox="1"/>
          <p:nvPr/>
        </p:nvSpPr>
        <p:spPr>
          <a:xfrm>
            <a:off x="2121950" y="1683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Código numérico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1XX, 2XX, 3XX, 4XX, 5XX</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Ejemplo: 404, 502, …</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7"/>
        <p:cNvGrpSpPr/>
        <p:nvPr/>
      </p:nvGrpSpPr>
      <p:grpSpPr>
        <a:xfrm>
          <a:off x="0" y="0"/>
          <a:ext cx="0" cy="0"/>
          <a:chOff x="0" y="0"/>
          <a:chExt cx="0" cy="0"/>
        </a:xfrm>
      </p:grpSpPr>
      <p:sp>
        <p:nvSpPr>
          <p:cNvPr id="228" name="Google Shape;228;p37"/>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ENCABEZADOS</a:t>
            </a:r>
            <a:endParaRPr sz="3000" b="1">
              <a:solidFill>
                <a:srgbClr val="F63D68"/>
              </a:solidFill>
              <a:latin typeface="Space Grotesk"/>
              <a:ea typeface="Space Grotesk"/>
              <a:cs typeface="Space Grotesk"/>
              <a:sym typeface="Space Grotesk"/>
            </a:endParaRPr>
          </a:p>
        </p:txBody>
      </p:sp>
      <p:sp>
        <p:nvSpPr>
          <p:cNvPr id="229" name="Google Shape;229;p37"/>
          <p:cNvSpPr txBox="1"/>
          <p:nvPr/>
        </p:nvSpPr>
        <p:spPr>
          <a:xfrm>
            <a:off x="2121950" y="2064850"/>
            <a:ext cx="26694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Metadatos que dan contexto al mensaje.</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i="1">
                <a:solidFill>
                  <a:srgbClr val="1D2939"/>
                </a:solidFill>
                <a:latin typeface="Space Grotesk"/>
                <a:ea typeface="Space Grotesk"/>
                <a:cs typeface="Space Grotesk"/>
                <a:sym typeface="Space Grotesk"/>
              </a:rPr>
              <a:t>key : value</a:t>
            </a:r>
            <a:endParaRPr sz="2000" i="1">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grpSp>
        <p:nvGrpSpPr>
          <p:cNvPr id="230" name="Google Shape;230;p37"/>
          <p:cNvGrpSpPr/>
          <p:nvPr/>
        </p:nvGrpSpPr>
        <p:grpSpPr>
          <a:xfrm>
            <a:off x="4704949" y="2203250"/>
            <a:ext cx="3153926" cy="1658525"/>
            <a:chOff x="4698299" y="3021675"/>
            <a:chExt cx="3153926" cy="1658525"/>
          </a:xfrm>
        </p:grpSpPr>
        <p:sp>
          <p:nvSpPr>
            <p:cNvPr id="231" name="Google Shape;231;p37"/>
            <p:cNvSpPr/>
            <p:nvPr/>
          </p:nvSpPr>
          <p:spPr>
            <a:xfrm>
              <a:off x="5476825" y="3021675"/>
              <a:ext cx="2375400" cy="179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100" b="1">
                  <a:latin typeface="Space Grotesk"/>
                  <a:ea typeface="Space Grotesk"/>
                  <a:cs typeface="Space Grotesk"/>
                  <a:sym typeface="Space Grotesk"/>
                </a:rPr>
                <a:t>LÍNEA INICIAL</a:t>
              </a:r>
              <a:endParaRPr sz="1100" b="1">
                <a:latin typeface="Space Grotesk"/>
                <a:ea typeface="Space Grotesk"/>
                <a:cs typeface="Space Grotesk"/>
                <a:sym typeface="Space Grotesk"/>
              </a:endParaRPr>
            </a:p>
          </p:txBody>
        </p:sp>
        <p:sp>
          <p:nvSpPr>
            <p:cNvPr id="232" name="Google Shape;232;p37"/>
            <p:cNvSpPr/>
            <p:nvPr/>
          </p:nvSpPr>
          <p:spPr>
            <a:xfrm>
              <a:off x="5476825" y="3201375"/>
              <a:ext cx="2375400" cy="459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200" b="1">
                  <a:solidFill>
                    <a:schemeClr val="lt2"/>
                  </a:solidFill>
                  <a:latin typeface="Space Grotesk"/>
                  <a:ea typeface="Space Grotesk"/>
                  <a:cs typeface="Space Grotesk"/>
                  <a:sym typeface="Space Grotesk"/>
                </a:rPr>
                <a:t>ENCABEZADOS</a:t>
              </a:r>
              <a:endParaRPr sz="1200" b="1">
                <a:solidFill>
                  <a:schemeClr val="lt2"/>
                </a:solidFill>
                <a:latin typeface="Space Grotesk"/>
                <a:ea typeface="Space Grotesk"/>
                <a:cs typeface="Space Grotesk"/>
                <a:sym typeface="Space Grotesk"/>
              </a:endParaRPr>
            </a:p>
            <a:p>
              <a:pPr marL="0" lvl="0" indent="0" algn="ctr" rtl="0">
                <a:spcBef>
                  <a:spcPts val="0"/>
                </a:spcBef>
                <a:spcAft>
                  <a:spcPts val="0"/>
                </a:spcAft>
                <a:buNone/>
              </a:pPr>
              <a:r>
                <a:rPr lang="es-419" sz="900">
                  <a:solidFill>
                    <a:schemeClr val="lt2"/>
                  </a:solidFill>
                  <a:latin typeface="Space Grotesk Light"/>
                  <a:ea typeface="Space Grotesk Light"/>
                  <a:cs typeface="Space Grotesk Light"/>
                  <a:sym typeface="Space Grotesk Light"/>
                </a:rPr>
                <a:t>header1 : val1</a:t>
              </a:r>
              <a:endParaRPr sz="900">
                <a:solidFill>
                  <a:schemeClr val="lt2"/>
                </a:solidFill>
                <a:latin typeface="Space Grotesk Light"/>
                <a:ea typeface="Space Grotesk Light"/>
                <a:cs typeface="Space Grotesk Light"/>
                <a:sym typeface="Space Grotesk Light"/>
              </a:endParaRPr>
            </a:p>
            <a:p>
              <a:pPr marL="0" lvl="0" indent="0" algn="ctr" rtl="0">
                <a:spcBef>
                  <a:spcPts val="0"/>
                </a:spcBef>
                <a:spcAft>
                  <a:spcPts val="0"/>
                </a:spcAft>
                <a:buNone/>
              </a:pPr>
              <a:r>
                <a:rPr lang="es-419" sz="900">
                  <a:solidFill>
                    <a:schemeClr val="lt2"/>
                  </a:solidFill>
                  <a:latin typeface="Space Grotesk Light"/>
                  <a:ea typeface="Space Grotesk Light"/>
                  <a:cs typeface="Space Grotesk Light"/>
                  <a:sym typeface="Space Grotesk Light"/>
                </a:rPr>
                <a:t>headerN: valN</a:t>
              </a:r>
              <a:endParaRPr sz="900">
                <a:solidFill>
                  <a:schemeClr val="lt2"/>
                </a:solidFill>
                <a:latin typeface="Space Grotesk Light"/>
                <a:ea typeface="Space Grotesk Light"/>
                <a:cs typeface="Space Grotesk Light"/>
                <a:sym typeface="Space Grotesk Light"/>
              </a:endParaRPr>
            </a:p>
          </p:txBody>
        </p:sp>
        <p:sp>
          <p:nvSpPr>
            <p:cNvPr id="233" name="Google Shape;233;p37"/>
            <p:cNvSpPr/>
            <p:nvPr/>
          </p:nvSpPr>
          <p:spPr>
            <a:xfrm>
              <a:off x="5476825" y="3740300"/>
              <a:ext cx="2375400" cy="939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s-419" sz="1100" b="1">
                  <a:latin typeface="Space Grotesk"/>
                  <a:ea typeface="Space Grotesk"/>
                  <a:cs typeface="Space Grotesk"/>
                  <a:sym typeface="Space Grotesk"/>
                </a:rPr>
                <a:t>CUERPO DEL MENSAJE</a:t>
              </a:r>
              <a:endParaRPr sz="1100" b="1">
                <a:latin typeface="Space Grotesk"/>
                <a:ea typeface="Space Grotesk"/>
                <a:cs typeface="Space Grotesk"/>
                <a:sym typeface="Space Grotesk"/>
              </a:endParaRPr>
            </a:p>
          </p:txBody>
        </p:sp>
        <p:sp>
          <p:nvSpPr>
            <p:cNvPr id="234" name="Google Shape;234;p37"/>
            <p:cNvSpPr/>
            <p:nvPr/>
          </p:nvSpPr>
          <p:spPr>
            <a:xfrm>
              <a:off x="5476825" y="3660375"/>
              <a:ext cx="2375400" cy="79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100" b="1">
                <a:latin typeface="Space Grotesk"/>
                <a:ea typeface="Space Grotesk"/>
                <a:cs typeface="Space Grotesk"/>
                <a:sym typeface="Space Grotesk"/>
              </a:endParaRPr>
            </a:p>
          </p:txBody>
        </p:sp>
        <p:sp>
          <p:nvSpPr>
            <p:cNvPr id="235" name="Google Shape;235;p37"/>
            <p:cNvSpPr txBox="1"/>
            <p:nvPr/>
          </p:nvSpPr>
          <p:spPr>
            <a:xfrm>
              <a:off x="4698299" y="3517625"/>
              <a:ext cx="838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000">
                  <a:latin typeface="Space Grotesk Light"/>
                  <a:ea typeface="Space Grotesk Light"/>
                  <a:cs typeface="Space Grotesk Light"/>
                  <a:sym typeface="Space Grotesk Light"/>
                </a:rPr>
                <a:t>línea vacía</a:t>
              </a:r>
              <a:endParaRPr sz="1000">
                <a:latin typeface="Space Grotesk Light"/>
                <a:ea typeface="Space Grotesk Light"/>
                <a:cs typeface="Space Grotesk Light"/>
                <a:sym typeface="Space Grotesk L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9"/>
        <p:cNvGrpSpPr/>
        <p:nvPr/>
      </p:nvGrpSpPr>
      <p:grpSpPr>
        <a:xfrm>
          <a:off x="0" y="0"/>
          <a:ext cx="0" cy="0"/>
          <a:chOff x="0" y="0"/>
          <a:chExt cx="0" cy="0"/>
        </a:xfrm>
      </p:grpSpPr>
      <p:sp>
        <p:nvSpPr>
          <p:cNvPr id="240" name="Google Shape;240;p3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ENCABEZADOS</a:t>
            </a:r>
            <a:endParaRPr sz="3000" b="1">
              <a:solidFill>
                <a:srgbClr val="F63D68"/>
              </a:solidFill>
              <a:latin typeface="Space Grotesk"/>
              <a:ea typeface="Space Grotesk"/>
              <a:cs typeface="Space Grotesk"/>
              <a:sym typeface="Space Grotesk"/>
            </a:endParaRPr>
          </a:p>
        </p:txBody>
      </p:sp>
      <p:sp>
        <p:nvSpPr>
          <p:cNvPr id="241" name="Google Shape;241;p38"/>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Gran flexibilidad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Deben ser interpretados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Navegador</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Servidor</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Proxy</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
        <p:cNvGrpSpPr/>
        <p:nvPr/>
      </p:nvGrpSpPr>
      <p:grpSpPr>
        <a:xfrm>
          <a:off x="0" y="0"/>
          <a:ext cx="0" cy="0"/>
          <a:chOff x="0" y="0"/>
          <a:chExt cx="0" cy="0"/>
        </a:xfrm>
      </p:grpSpPr>
      <p:sp>
        <p:nvSpPr>
          <p:cNvPr id="246" name="Google Shape;246;p39"/>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ENCABEZADOS</a:t>
            </a:r>
            <a:endParaRPr sz="3000" b="1">
              <a:solidFill>
                <a:srgbClr val="F63D68"/>
              </a:solidFill>
              <a:latin typeface="Space Grotesk"/>
              <a:ea typeface="Space Grotesk"/>
              <a:cs typeface="Space Grotesk"/>
              <a:sym typeface="Space Grotesk"/>
            </a:endParaRPr>
          </a:p>
        </p:txBody>
      </p:sp>
      <p:sp>
        <p:nvSpPr>
          <p:cNvPr id="247" name="Google Shape;247;p39"/>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Tipos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Petición</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Respuesta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Petición / Respuesta</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1"/>
        <p:cNvGrpSpPr/>
        <p:nvPr/>
      </p:nvGrpSpPr>
      <p:grpSpPr>
        <a:xfrm>
          <a:off x="0" y="0"/>
          <a:ext cx="0" cy="0"/>
          <a:chOff x="0" y="0"/>
          <a:chExt cx="0" cy="0"/>
        </a:xfrm>
      </p:grpSpPr>
      <p:sp>
        <p:nvSpPr>
          <p:cNvPr id="252" name="Google Shape;252;p40"/>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REST</a:t>
            </a:r>
            <a:endParaRPr sz="3200" b="1">
              <a:solidFill>
                <a:srgbClr val="F63D68"/>
              </a:solidFill>
              <a:latin typeface="Space Grotesk"/>
              <a:ea typeface="Space Grotesk"/>
              <a:cs typeface="Space Grotesk"/>
              <a:sym typeface="Space Grotesk"/>
            </a:endParaRPr>
          </a:p>
        </p:txBody>
      </p:sp>
      <p:sp>
        <p:nvSpPr>
          <p:cNvPr id="253" name="Google Shape;253;p40"/>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7"/>
        <p:cNvGrpSpPr/>
        <p:nvPr/>
      </p:nvGrpSpPr>
      <p:grpSpPr>
        <a:xfrm>
          <a:off x="0" y="0"/>
          <a:ext cx="0" cy="0"/>
          <a:chOff x="0" y="0"/>
          <a:chExt cx="0" cy="0"/>
        </a:xfrm>
      </p:grpSpPr>
      <p:sp>
        <p:nvSpPr>
          <p:cNvPr id="258" name="Google Shape;258;p41"/>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APLICACIÓN WEB VS SERVICIO WEB</a:t>
            </a:r>
            <a:endParaRPr sz="3000" b="1">
              <a:solidFill>
                <a:srgbClr val="F63D68"/>
              </a:solidFill>
              <a:latin typeface="Space Grotesk"/>
              <a:ea typeface="Space Grotesk"/>
              <a:cs typeface="Space Grotesk"/>
              <a:sym typeface="Space Grotesk"/>
            </a:endParaRPr>
          </a:p>
        </p:txBody>
      </p:sp>
      <p:sp>
        <p:nvSpPr>
          <p:cNvPr id="259" name="Google Shape;259;p41"/>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Aplicación</a:t>
            </a:r>
            <a:endParaRPr sz="2000" b="1">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Con IU para ser utilizada por personas.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La interacción es a través de la IU</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3"/>
        <p:cNvGrpSpPr/>
        <p:nvPr/>
      </p:nvGrpSpPr>
      <p:grpSpPr>
        <a:xfrm>
          <a:off x="0" y="0"/>
          <a:ext cx="0" cy="0"/>
          <a:chOff x="0" y="0"/>
          <a:chExt cx="0" cy="0"/>
        </a:xfrm>
      </p:grpSpPr>
      <p:sp>
        <p:nvSpPr>
          <p:cNvPr id="264" name="Google Shape;264;p4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APLICACIÓN WEB VS SERVICIO WEB</a:t>
            </a:r>
            <a:endParaRPr sz="3000" b="1">
              <a:solidFill>
                <a:srgbClr val="F63D68"/>
              </a:solidFill>
              <a:latin typeface="Space Grotesk"/>
              <a:ea typeface="Space Grotesk"/>
              <a:cs typeface="Space Grotesk"/>
              <a:sym typeface="Space Grotesk"/>
            </a:endParaRPr>
          </a:p>
        </p:txBody>
      </p:sp>
      <p:sp>
        <p:nvSpPr>
          <p:cNvPr id="265" name="Google Shape;265;p42"/>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Servicio</a:t>
            </a:r>
            <a:endParaRPr sz="2000" b="1">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Para intercambiar datos con otras aplicaciones y/o servicios, no personas.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La interacción es de forma </a:t>
            </a:r>
            <a:r>
              <a:rPr lang="es-419" sz="2000" i="1">
                <a:solidFill>
                  <a:srgbClr val="1D2939"/>
                </a:solidFill>
                <a:latin typeface="Space Grotesk"/>
                <a:ea typeface="Space Grotesk"/>
                <a:cs typeface="Space Grotesk"/>
                <a:sym typeface="Space Grotesk"/>
              </a:rPr>
              <a:t>programática</a:t>
            </a:r>
            <a:r>
              <a:rPr lang="es-419" sz="2000">
                <a:solidFill>
                  <a:srgbClr val="1D2939"/>
                </a:solidFill>
                <a:latin typeface="Space Grotesk"/>
                <a:ea typeface="Space Grotesk"/>
                <a:cs typeface="Space Grotesk"/>
                <a:sym typeface="Space Grotesk"/>
              </a:rPr>
              <a:t> a través de la red.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9"/>
        <p:cNvGrpSpPr/>
        <p:nvPr/>
      </p:nvGrpSpPr>
      <p:grpSpPr>
        <a:xfrm>
          <a:off x="0" y="0"/>
          <a:ext cx="0" cy="0"/>
          <a:chOff x="0" y="0"/>
          <a:chExt cx="0" cy="0"/>
        </a:xfrm>
      </p:grpSpPr>
      <p:sp>
        <p:nvSpPr>
          <p:cNvPr id="270" name="Google Shape;270;p4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CARACTERÍSTICAS DE UN SERVICIO WEB</a:t>
            </a:r>
            <a:endParaRPr sz="3000" b="1">
              <a:solidFill>
                <a:srgbClr val="F63D68"/>
              </a:solidFill>
              <a:latin typeface="Space Grotesk"/>
              <a:ea typeface="Space Grotesk"/>
              <a:cs typeface="Space Grotesk"/>
              <a:sym typeface="Space Grotesk"/>
            </a:endParaRPr>
          </a:p>
        </p:txBody>
      </p:sp>
      <p:sp>
        <p:nvSpPr>
          <p:cNvPr id="271" name="Google Shape;271;p43"/>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Interoperabilidad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Protocolo de red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Formato de datos</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Independencia</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Descubrimiento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5"/>
        <p:cNvGrpSpPr/>
        <p:nvPr/>
      </p:nvGrpSpPr>
      <p:grpSpPr>
        <a:xfrm>
          <a:off x="0" y="0"/>
          <a:ext cx="0" cy="0"/>
          <a:chOff x="0" y="0"/>
          <a:chExt cx="0" cy="0"/>
        </a:xfrm>
      </p:grpSpPr>
      <p:sp>
        <p:nvSpPr>
          <p:cNvPr id="276" name="Google Shape;276;p4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TIPOS DE SERVICIOS WEB</a:t>
            </a:r>
            <a:endParaRPr sz="3000" b="1">
              <a:solidFill>
                <a:srgbClr val="F63D68"/>
              </a:solidFill>
              <a:latin typeface="Space Grotesk"/>
              <a:ea typeface="Space Grotesk"/>
              <a:cs typeface="Space Grotesk"/>
              <a:sym typeface="Space Grotesk"/>
            </a:endParaRPr>
          </a:p>
        </p:txBody>
      </p:sp>
      <p:sp>
        <p:nvSpPr>
          <p:cNvPr id="277" name="Google Shape;277;p44"/>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SOAP</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REST</a:t>
            </a:r>
            <a:endParaRPr sz="2000" b="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gRPC</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GraphQL</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1"/>
        <p:cNvGrpSpPr/>
        <p:nvPr/>
      </p:nvGrpSpPr>
      <p:grpSpPr>
        <a:xfrm>
          <a:off x="0" y="0"/>
          <a:ext cx="0" cy="0"/>
          <a:chOff x="0" y="0"/>
          <a:chExt cx="0" cy="0"/>
        </a:xfrm>
      </p:grpSpPr>
      <p:sp>
        <p:nvSpPr>
          <p:cNvPr id="282" name="Google Shape;282;p4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419" sz="3000" b="1">
                <a:solidFill>
                  <a:srgbClr val="F63D68"/>
                </a:solidFill>
                <a:latin typeface="Space Grotesk"/>
                <a:ea typeface="Space Grotesk"/>
                <a:cs typeface="Space Grotesk"/>
                <a:sym typeface="Space Grotesk"/>
              </a:rPr>
              <a:t>TIPOS DE SERVICIOS WEB</a:t>
            </a:r>
            <a:endParaRPr sz="3000" b="1">
              <a:solidFill>
                <a:srgbClr val="F63D68"/>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3000" b="1">
              <a:solidFill>
                <a:schemeClr val="dk1"/>
              </a:solidFill>
              <a:latin typeface="Space Grotesk"/>
              <a:ea typeface="Space Grotesk"/>
              <a:cs typeface="Space Grotesk"/>
              <a:sym typeface="Space Grotesk"/>
            </a:endParaRPr>
          </a:p>
        </p:txBody>
      </p:sp>
      <p:sp>
        <p:nvSpPr>
          <p:cNvPr id="283" name="Google Shape;283;p45"/>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SOAP</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Basado en XML</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Reglas estrictas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WSDL</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Complejo y pesado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7"/>
        <p:cNvGrpSpPr/>
        <p:nvPr/>
      </p:nvGrpSpPr>
      <p:grpSpPr>
        <a:xfrm>
          <a:off x="0" y="0"/>
          <a:ext cx="0" cy="0"/>
          <a:chOff x="0" y="0"/>
          <a:chExt cx="0" cy="0"/>
        </a:xfrm>
      </p:grpSpPr>
      <p:sp>
        <p:nvSpPr>
          <p:cNvPr id="288" name="Google Shape;288;p4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TIPOS DE SERVICIOS WEB</a:t>
            </a:r>
            <a:endParaRPr sz="3000" b="1">
              <a:solidFill>
                <a:srgbClr val="F63D68"/>
              </a:solidFill>
              <a:latin typeface="Space Grotesk"/>
              <a:ea typeface="Space Grotesk"/>
              <a:cs typeface="Space Grotesk"/>
              <a:sym typeface="Space Grotesk"/>
            </a:endParaRPr>
          </a:p>
        </p:txBody>
      </p:sp>
      <p:sp>
        <p:nvSpPr>
          <p:cNvPr id="289" name="Google Shape;289;p46"/>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gRPC </a:t>
            </a:r>
            <a:r>
              <a:rPr lang="es-419" sz="1900">
                <a:solidFill>
                  <a:srgbClr val="1D2939"/>
                </a:solidFill>
                <a:latin typeface="Space Grotesk"/>
                <a:ea typeface="Space Grotesk"/>
                <a:cs typeface="Space Grotesk"/>
                <a:sym typeface="Space Grotesk"/>
              </a:rPr>
              <a:t>(</a:t>
            </a:r>
            <a:r>
              <a:rPr lang="es-419" sz="1900" i="1">
                <a:solidFill>
                  <a:srgbClr val="1D2939"/>
                </a:solidFill>
                <a:latin typeface="Space Grotesk"/>
                <a:ea typeface="Space Grotesk"/>
                <a:cs typeface="Space Grotesk"/>
                <a:sym typeface="Space Grotesk"/>
              </a:rPr>
              <a:t>Google Remote Procedure Call</a:t>
            </a:r>
            <a:r>
              <a:rPr lang="es-419" sz="1900">
                <a:solidFill>
                  <a:srgbClr val="1D2939"/>
                </a:solidFill>
                <a:latin typeface="Space Grotesk"/>
                <a:ea typeface="Space Grotesk"/>
                <a:cs typeface="Space Grotesk"/>
                <a:sym typeface="Space Grotesk"/>
              </a:rPr>
              <a:t>)</a:t>
            </a:r>
            <a:endParaRPr sz="19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Protobuf (Protocol Buffers)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Muy rápido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Streaming bidireccional</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Mayor complejidad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3"/>
        <p:cNvGrpSpPr/>
        <p:nvPr/>
      </p:nvGrpSpPr>
      <p:grpSpPr>
        <a:xfrm>
          <a:off x="0" y="0"/>
          <a:ext cx="0" cy="0"/>
          <a:chOff x="0" y="0"/>
          <a:chExt cx="0" cy="0"/>
        </a:xfrm>
      </p:grpSpPr>
      <p:sp>
        <p:nvSpPr>
          <p:cNvPr id="294" name="Google Shape;294;p47"/>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TIPOS DE SERVICIOS WEB</a:t>
            </a:r>
            <a:endParaRPr sz="3000" b="1">
              <a:solidFill>
                <a:srgbClr val="F63D68"/>
              </a:solidFill>
              <a:latin typeface="Space Grotesk"/>
              <a:ea typeface="Space Grotesk"/>
              <a:cs typeface="Space Grotesk"/>
              <a:sym typeface="Space Grotesk"/>
            </a:endParaRPr>
          </a:p>
        </p:txBody>
      </p:sp>
      <p:sp>
        <p:nvSpPr>
          <p:cNvPr id="295" name="Google Shape;295;p47"/>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GraphQL</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Más moderno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Enfoque declarativo para consultar datos.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Mayor complejidad que REST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9"/>
        <p:cNvGrpSpPr/>
        <p:nvPr/>
      </p:nvGrpSpPr>
      <p:grpSpPr>
        <a:xfrm>
          <a:off x="0" y="0"/>
          <a:ext cx="0" cy="0"/>
          <a:chOff x="0" y="0"/>
          <a:chExt cx="0" cy="0"/>
        </a:xfrm>
      </p:grpSpPr>
      <p:sp>
        <p:nvSpPr>
          <p:cNvPr id="300" name="Google Shape;300;p4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SERVICIOS WEB REST</a:t>
            </a:r>
            <a:endParaRPr sz="3000" b="1">
              <a:solidFill>
                <a:srgbClr val="F63D68"/>
              </a:solidFill>
              <a:latin typeface="Space Grotesk"/>
              <a:ea typeface="Space Grotesk"/>
              <a:cs typeface="Space Grotesk"/>
              <a:sym typeface="Space Grotesk"/>
            </a:endParaRPr>
          </a:p>
        </p:txBody>
      </p:sp>
      <p:sp>
        <p:nvSpPr>
          <p:cNvPr id="301" name="Google Shape;301;p48"/>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Nace como alternativa 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SOAP</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COM/COM+, CORBA, RMI, …</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5"/>
        <p:cNvGrpSpPr/>
        <p:nvPr/>
      </p:nvGrpSpPr>
      <p:grpSpPr>
        <a:xfrm>
          <a:off x="0" y="0"/>
          <a:ext cx="0" cy="0"/>
          <a:chOff x="0" y="0"/>
          <a:chExt cx="0" cy="0"/>
        </a:xfrm>
      </p:grpSpPr>
      <p:sp>
        <p:nvSpPr>
          <p:cNvPr id="306" name="Google Shape;306;p49"/>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REST</a:t>
            </a:r>
            <a:endParaRPr sz="3000" b="1">
              <a:solidFill>
                <a:srgbClr val="F63D68"/>
              </a:solidFill>
              <a:latin typeface="Space Grotesk"/>
              <a:ea typeface="Space Grotesk"/>
              <a:cs typeface="Space Grotesk"/>
              <a:sym typeface="Space Grotesk"/>
            </a:endParaRPr>
          </a:p>
        </p:txBody>
      </p:sp>
      <p:sp>
        <p:nvSpPr>
          <p:cNvPr id="307" name="Google Shape;307;p49"/>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Representational State Transfer</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Estilo arquitectónico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Conjunto de principios</a:t>
            </a:r>
            <a:endParaRPr sz="2000">
              <a:solidFill>
                <a:srgbClr val="1D2939"/>
              </a:solidFill>
              <a:latin typeface="Space Grotesk"/>
              <a:ea typeface="Space Grotesk"/>
              <a:cs typeface="Space Grotesk"/>
              <a:sym typeface="Space Grotesk"/>
            </a:endParaRPr>
          </a:p>
          <a:p>
            <a:pPr marL="685800" lvl="2"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Describir y acceder a recursos en la red.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1"/>
        <p:cNvGrpSpPr/>
        <p:nvPr/>
      </p:nvGrpSpPr>
      <p:grpSpPr>
        <a:xfrm>
          <a:off x="0" y="0"/>
          <a:ext cx="0" cy="0"/>
          <a:chOff x="0" y="0"/>
          <a:chExt cx="0" cy="0"/>
        </a:xfrm>
      </p:grpSpPr>
      <p:sp>
        <p:nvSpPr>
          <p:cNvPr id="312" name="Google Shape;312;p50"/>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CARACTERÍSTICAS DE REST</a:t>
            </a:r>
            <a:endParaRPr sz="3000" b="1">
              <a:solidFill>
                <a:srgbClr val="F63D68"/>
              </a:solidFill>
              <a:latin typeface="Space Grotesk"/>
              <a:ea typeface="Space Grotesk"/>
              <a:cs typeface="Space Grotesk"/>
              <a:sym typeface="Space Grotesk"/>
            </a:endParaRPr>
          </a:p>
        </p:txBody>
      </p:sp>
      <p:sp>
        <p:nvSpPr>
          <p:cNvPr id="313" name="Google Shape;313;p50"/>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Basado en HTTP</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Arquitectura cliente-servidor</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Sin estado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Interfaz uniforme</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En capas</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7"/>
        <p:cNvGrpSpPr/>
        <p:nvPr/>
      </p:nvGrpSpPr>
      <p:grpSpPr>
        <a:xfrm>
          <a:off x="0" y="0"/>
          <a:ext cx="0" cy="0"/>
          <a:chOff x="0" y="0"/>
          <a:chExt cx="0" cy="0"/>
        </a:xfrm>
      </p:grpSpPr>
      <p:sp>
        <p:nvSpPr>
          <p:cNvPr id="318" name="Google Shape;318;p51"/>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REST</a:t>
            </a:r>
            <a:endParaRPr sz="3000" b="1">
              <a:solidFill>
                <a:srgbClr val="F63D68"/>
              </a:solidFill>
              <a:latin typeface="Space Grotesk"/>
              <a:ea typeface="Space Grotesk"/>
              <a:cs typeface="Space Grotesk"/>
              <a:sym typeface="Space Grotesk"/>
            </a:endParaRPr>
          </a:p>
        </p:txBody>
      </p:sp>
      <p:sp>
        <p:nvSpPr>
          <p:cNvPr id="319" name="Google Shape;319;p51"/>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Identificación de recursos (URIs)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/users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/users/123</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3"/>
        <p:cNvGrpSpPr/>
        <p:nvPr/>
      </p:nvGrpSpPr>
      <p:grpSpPr>
        <a:xfrm>
          <a:off x="0" y="0"/>
          <a:ext cx="0" cy="0"/>
          <a:chOff x="0" y="0"/>
          <a:chExt cx="0" cy="0"/>
        </a:xfrm>
      </p:grpSpPr>
      <p:sp>
        <p:nvSpPr>
          <p:cNvPr id="324" name="Google Shape;324;p5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REST</a:t>
            </a:r>
            <a:endParaRPr sz="3000" b="1">
              <a:solidFill>
                <a:srgbClr val="F63D68"/>
              </a:solidFill>
              <a:latin typeface="Space Grotesk"/>
              <a:ea typeface="Space Grotesk"/>
              <a:cs typeface="Space Grotesk"/>
              <a:sym typeface="Space Grotesk"/>
            </a:endParaRPr>
          </a:p>
        </p:txBody>
      </p:sp>
      <p:sp>
        <p:nvSpPr>
          <p:cNvPr id="325" name="Google Shape;325;p52"/>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Operaciones con verbos HTTP</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GET: recuperar un recurso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POST: crear un nuevo recurso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PUT: actualizar un recurso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DELETE: eliminar un recurso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9"/>
        <p:cNvGrpSpPr/>
        <p:nvPr/>
      </p:nvGrpSpPr>
      <p:grpSpPr>
        <a:xfrm>
          <a:off x="0" y="0"/>
          <a:ext cx="0" cy="0"/>
          <a:chOff x="0" y="0"/>
          <a:chExt cx="0" cy="0"/>
        </a:xfrm>
      </p:grpSpPr>
      <p:sp>
        <p:nvSpPr>
          <p:cNvPr id="330" name="Google Shape;330;p5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REST</a:t>
            </a:r>
            <a:endParaRPr sz="3000" b="1">
              <a:solidFill>
                <a:srgbClr val="F63D68"/>
              </a:solidFill>
              <a:latin typeface="Space Grotesk"/>
              <a:ea typeface="Space Grotesk"/>
              <a:cs typeface="Space Grotesk"/>
              <a:sym typeface="Space Grotesk"/>
            </a:endParaRPr>
          </a:p>
        </p:txBody>
      </p:sp>
      <p:sp>
        <p:nvSpPr>
          <p:cNvPr id="331" name="Google Shape;331;p53"/>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Recurso </a:t>
            </a:r>
            <a:r>
              <a:rPr lang="es-419" sz="2000" i="1">
                <a:solidFill>
                  <a:srgbClr val="1D2939"/>
                </a:solidFill>
                <a:latin typeface="Space Grotesk"/>
                <a:ea typeface="Space Grotesk"/>
                <a:cs typeface="Space Grotesk"/>
                <a:sym typeface="Space Grotesk"/>
              </a:rPr>
              <a:t>vs.</a:t>
            </a:r>
            <a:r>
              <a:rPr lang="es-419" sz="2000">
                <a:solidFill>
                  <a:srgbClr val="1D2939"/>
                </a:solidFill>
                <a:latin typeface="Space Grotesk"/>
                <a:ea typeface="Space Grotesk"/>
                <a:cs typeface="Space Grotesk"/>
                <a:sym typeface="Space Grotesk"/>
              </a:rPr>
              <a:t> Representación</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Diferentes representaciones para un recurso</a:t>
            </a:r>
            <a:endParaRPr sz="2000">
              <a:solidFill>
                <a:srgbClr val="1D2939"/>
              </a:solidFill>
              <a:latin typeface="Space Grotesk"/>
              <a:ea typeface="Space Grotesk"/>
              <a:cs typeface="Space Grotesk"/>
              <a:sym typeface="Space Grotesk"/>
            </a:endParaRPr>
          </a:p>
          <a:p>
            <a:pPr marL="685800" lvl="2"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/product/123</a:t>
            </a:r>
            <a:endParaRPr sz="2000">
              <a:solidFill>
                <a:srgbClr val="1D2939"/>
              </a:solidFill>
              <a:latin typeface="Space Grotesk"/>
              <a:ea typeface="Space Grotesk"/>
              <a:cs typeface="Space Grotesk"/>
              <a:sym typeface="Space Grotesk"/>
            </a:endParaRPr>
          </a:p>
          <a:p>
            <a:pPr marL="914400" lvl="3"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Accept : application/json</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5"/>
        <p:cNvGrpSpPr/>
        <p:nvPr/>
      </p:nvGrpSpPr>
      <p:grpSpPr>
        <a:xfrm>
          <a:off x="0" y="0"/>
          <a:ext cx="0" cy="0"/>
          <a:chOff x="0" y="0"/>
          <a:chExt cx="0" cy="0"/>
        </a:xfrm>
      </p:grpSpPr>
      <p:sp>
        <p:nvSpPr>
          <p:cNvPr id="336" name="Google Shape;336;p5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REST</a:t>
            </a:r>
            <a:endParaRPr sz="3000" b="1">
              <a:solidFill>
                <a:srgbClr val="F63D68"/>
              </a:solidFill>
              <a:latin typeface="Space Grotesk"/>
              <a:ea typeface="Space Grotesk"/>
              <a:cs typeface="Space Grotesk"/>
              <a:sym typeface="Space Grotesk"/>
            </a:endParaRPr>
          </a:p>
        </p:txBody>
      </p:sp>
      <p:sp>
        <p:nvSpPr>
          <p:cNvPr id="337" name="Google Shape;337;p54"/>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Aprovechamiento de los status code.</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200 OK: Operación exitosa.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201 Created: Recurso creado exitosamente.</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404 Not Found: Recurso no encontrado.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1"/>
        <p:cNvGrpSpPr/>
        <p:nvPr/>
      </p:nvGrpSpPr>
      <p:grpSpPr>
        <a:xfrm>
          <a:off x="0" y="0"/>
          <a:ext cx="0" cy="0"/>
          <a:chOff x="0" y="0"/>
          <a:chExt cx="0" cy="0"/>
        </a:xfrm>
      </p:grpSpPr>
      <p:sp>
        <p:nvSpPr>
          <p:cNvPr id="342" name="Google Shape;342;p5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JSON</a:t>
            </a:r>
            <a:endParaRPr sz="3000" b="1">
              <a:solidFill>
                <a:srgbClr val="F63D68"/>
              </a:solidFill>
              <a:latin typeface="Space Grotesk"/>
              <a:ea typeface="Space Grotesk"/>
              <a:cs typeface="Space Grotesk"/>
              <a:sym typeface="Space Grotesk"/>
            </a:endParaRPr>
          </a:p>
        </p:txBody>
      </p:sp>
      <p:pic>
        <p:nvPicPr>
          <p:cNvPr id="343" name="Google Shape;343;p55"/>
          <p:cNvPicPr preferRelativeResize="0"/>
          <p:nvPr/>
        </p:nvPicPr>
        <p:blipFill>
          <a:blip r:embed="rId3">
            <a:alphaModFix/>
          </a:blip>
          <a:stretch>
            <a:fillRect/>
          </a:stretch>
        </p:blipFill>
        <p:spPr>
          <a:xfrm>
            <a:off x="1708200" y="1926125"/>
            <a:ext cx="5715000" cy="17621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7"/>
        <p:cNvGrpSpPr/>
        <p:nvPr/>
      </p:nvGrpSpPr>
      <p:grpSpPr>
        <a:xfrm>
          <a:off x="0" y="0"/>
          <a:ext cx="0" cy="0"/>
          <a:chOff x="0" y="0"/>
          <a:chExt cx="0" cy="0"/>
        </a:xfrm>
      </p:grpSpPr>
      <p:sp>
        <p:nvSpPr>
          <p:cNvPr id="348" name="Google Shape;348;p5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NIVELES DE MADUREZ DE RICHARDSON</a:t>
            </a:r>
            <a:endParaRPr sz="3000" b="1">
              <a:solidFill>
                <a:srgbClr val="F63D68"/>
              </a:solidFill>
              <a:latin typeface="Space Grotesk"/>
              <a:ea typeface="Space Grotesk"/>
              <a:cs typeface="Space Grotesk"/>
              <a:sym typeface="Space Grotesk"/>
            </a:endParaRPr>
          </a:p>
        </p:txBody>
      </p:sp>
      <p:pic>
        <p:nvPicPr>
          <p:cNvPr id="349" name="Google Shape;349;p56"/>
          <p:cNvPicPr preferRelativeResize="0"/>
          <p:nvPr/>
        </p:nvPicPr>
        <p:blipFill>
          <a:blip r:embed="rId3">
            <a:alphaModFix/>
          </a:blip>
          <a:stretch>
            <a:fillRect/>
          </a:stretch>
        </p:blipFill>
        <p:spPr>
          <a:xfrm>
            <a:off x="2276027" y="1946350"/>
            <a:ext cx="4591949" cy="2706299"/>
          </a:xfrm>
          <a:prstGeom prst="rect">
            <a:avLst/>
          </a:prstGeom>
          <a:noFill/>
          <a:ln>
            <a:noFill/>
          </a:ln>
        </p:spPr>
      </p:pic>
      <p:sp>
        <p:nvSpPr>
          <p:cNvPr id="350" name="Google Shape;350;p56"/>
          <p:cNvSpPr txBox="1"/>
          <p:nvPr/>
        </p:nvSpPr>
        <p:spPr>
          <a:xfrm>
            <a:off x="2764575" y="4588259"/>
            <a:ext cx="38829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800">
                <a:latin typeface="Space Grotesk Light"/>
                <a:ea typeface="Space Grotesk Light"/>
                <a:cs typeface="Space Grotesk Light"/>
                <a:sym typeface="Space Grotesk Light"/>
              </a:rPr>
              <a:t>Imagen obtenida de la devopedia</a:t>
            </a:r>
            <a:endParaRPr sz="800">
              <a:latin typeface="Space Grotesk Light"/>
              <a:ea typeface="Space Grotesk Light"/>
              <a:cs typeface="Space Grotesk Light"/>
              <a:sym typeface="Space Grotesk Light"/>
            </a:endParaRPr>
          </a:p>
          <a:p>
            <a:pPr marL="0" lvl="0" indent="0" algn="ctr" rtl="0">
              <a:spcBef>
                <a:spcPts val="0"/>
              </a:spcBef>
              <a:spcAft>
                <a:spcPts val="0"/>
              </a:spcAft>
              <a:buNone/>
            </a:pPr>
            <a:r>
              <a:rPr lang="es-419" sz="800">
                <a:latin typeface="Space Grotesk Light"/>
                <a:ea typeface="Space Grotesk Light"/>
                <a:cs typeface="Space Grotesk Light"/>
                <a:sym typeface="Space Grotesk Light"/>
              </a:rPr>
              <a:t>https://devopedia.org/images/article/252/1821.1579540894.jpg</a:t>
            </a:r>
            <a:r>
              <a:rPr lang="es-419" sz="1100">
                <a:latin typeface="Space Grotesk Light"/>
                <a:ea typeface="Space Grotesk Light"/>
                <a:cs typeface="Space Grotesk Light"/>
                <a:sym typeface="Space Grotesk Light"/>
              </a:rPr>
              <a:t> </a:t>
            </a:r>
            <a:endParaRPr sz="1100">
              <a:latin typeface="Space Grotesk Light"/>
              <a:ea typeface="Space Grotesk Light"/>
              <a:cs typeface="Space Grotesk Light"/>
              <a:sym typeface="Space Grotesk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4"/>
        <p:cNvGrpSpPr/>
        <p:nvPr/>
      </p:nvGrpSpPr>
      <p:grpSpPr>
        <a:xfrm>
          <a:off x="0" y="0"/>
          <a:ext cx="0" cy="0"/>
          <a:chOff x="0" y="0"/>
          <a:chExt cx="0" cy="0"/>
        </a:xfrm>
      </p:grpSpPr>
      <p:sp>
        <p:nvSpPr>
          <p:cNvPr id="355" name="Google Shape;355;p57"/>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SPRING BOOT</a:t>
            </a:r>
            <a:endParaRPr sz="3200" b="1">
              <a:solidFill>
                <a:srgbClr val="F63D68"/>
              </a:solidFill>
              <a:latin typeface="Space Grotesk"/>
              <a:ea typeface="Space Grotesk"/>
              <a:cs typeface="Space Grotesk"/>
              <a:sym typeface="Space Grotesk"/>
            </a:endParaRPr>
          </a:p>
        </p:txBody>
      </p:sp>
      <p:sp>
        <p:nvSpPr>
          <p:cNvPr id="356" name="Google Shape;356;p57"/>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0"/>
        <p:cNvGrpSpPr/>
        <p:nvPr/>
      </p:nvGrpSpPr>
      <p:grpSpPr>
        <a:xfrm>
          <a:off x="0" y="0"/>
          <a:ext cx="0" cy="0"/>
          <a:chOff x="0" y="0"/>
          <a:chExt cx="0" cy="0"/>
        </a:xfrm>
      </p:grpSpPr>
      <p:sp>
        <p:nvSpPr>
          <p:cNvPr id="361" name="Google Shape;361;p5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¿QUÉ ES?</a:t>
            </a:r>
            <a:endParaRPr sz="3000" b="1">
              <a:solidFill>
                <a:srgbClr val="F63D68"/>
              </a:solidFill>
              <a:latin typeface="Space Grotesk"/>
              <a:ea typeface="Space Grotesk"/>
              <a:cs typeface="Space Grotesk"/>
              <a:sym typeface="Space Grotesk"/>
            </a:endParaRPr>
          </a:p>
        </p:txBody>
      </p:sp>
      <p:sp>
        <p:nvSpPr>
          <p:cNvPr id="362" name="Google Shape;362;p58"/>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chemeClr val="lt1"/>
              </a:buClr>
              <a:buSzPts val="2000"/>
              <a:buFont typeface="Space Grotesk"/>
              <a:buChar char="●"/>
            </a:pPr>
            <a:r>
              <a:rPr lang="es-419" sz="2000">
                <a:solidFill>
                  <a:schemeClr val="lt1"/>
                </a:solidFill>
                <a:latin typeface="Space Grotesk"/>
                <a:ea typeface="Space Grotesk"/>
                <a:cs typeface="Space Grotesk"/>
                <a:sym typeface="Space Grotesk"/>
              </a:rPr>
              <a:t>Un framework opinionado del ecosistema Spring</a:t>
            </a:r>
            <a:endParaRPr sz="2000">
              <a:solidFill>
                <a:schemeClr val="lt1"/>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chemeClr val="lt1"/>
              </a:buClr>
              <a:buSzPts val="2000"/>
              <a:buFont typeface="Space Grotesk"/>
              <a:buChar char="●"/>
            </a:pPr>
            <a:r>
              <a:rPr lang="es-419" sz="2000">
                <a:solidFill>
                  <a:schemeClr val="lt1"/>
                </a:solidFill>
                <a:latin typeface="Space Grotesk"/>
                <a:ea typeface="Space Grotesk"/>
                <a:cs typeface="Space Grotesk"/>
                <a:sym typeface="Space Grotesk"/>
              </a:rPr>
              <a:t>Simplifica la creación de aplicaciones listas para producción</a:t>
            </a:r>
            <a:endParaRPr sz="2000">
              <a:solidFill>
                <a:schemeClr val="lt1"/>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chemeClr val="lt1"/>
              </a:buClr>
              <a:buSzPts val="2000"/>
              <a:buFont typeface="Space Grotesk"/>
              <a:buChar char="●"/>
            </a:pPr>
            <a:r>
              <a:rPr lang="es-419" sz="2000">
                <a:solidFill>
                  <a:schemeClr val="lt1"/>
                </a:solidFill>
                <a:latin typeface="Space Grotesk"/>
                <a:ea typeface="Space Grotesk"/>
                <a:cs typeface="Space Grotesk"/>
                <a:sym typeface="Space Grotesk"/>
              </a:rPr>
              <a:t>Convención sobre configuración</a:t>
            </a:r>
            <a:endParaRPr sz="2000">
              <a:solidFill>
                <a:schemeClr val="lt1"/>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chemeClr val="lt1"/>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chemeClr val="lt1"/>
              </a:solidFill>
              <a:latin typeface="Space Grotesk"/>
              <a:ea typeface="Space Grotesk"/>
              <a:cs typeface="Space Grotesk"/>
              <a:sym typeface="Space Grotesk"/>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59"/>
          <p:cNvSpPr txBox="1"/>
          <p:nvPr/>
        </p:nvSpPr>
        <p:spPr>
          <a:xfrm>
            <a:off x="1827600" y="5006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CREAR UNA APLICACIÓN DE SPRING SIN SPRING BOOT</a:t>
            </a:r>
            <a:endParaRPr sz="3000" b="1">
              <a:solidFill>
                <a:srgbClr val="F63D68"/>
              </a:solidFill>
              <a:latin typeface="Space Grotesk"/>
              <a:ea typeface="Space Grotesk"/>
              <a:cs typeface="Space Grotesk"/>
              <a:sym typeface="Space Grotesk"/>
            </a:endParaRPr>
          </a:p>
        </p:txBody>
      </p:sp>
      <p:pic>
        <p:nvPicPr>
          <p:cNvPr id="368" name="Google Shape;368;p59"/>
          <p:cNvPicPr preferRelativeResize="0"/>
          <p:nvPr/>
        </p:nvPicPr>
        <p:blipFill>
          <a:blip r:embed="rId3">
            <a:alphaModFix/>
          </a:blip>
          <a:stretch>
            <a:fillRect/>
          </a:stretch>
        </p:blipFill>
        <p:spPr>
          <a:xfrm>
            <a:off x="2597674" y="1898300"/>
            <a:ext cx="3948650" cy="26317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p:cNvGrpSpPr/>
        <p:nvPr/>
      </p:nvGrpSpPr>
      <p:grpSpPr>
        <a:xfrm>
          <a:off x="0" y="0"/>
          <a:ext cx="0" cy="0"/>
          <a:chOff x="0" y="0"/>
          <a:chExt cx="0" cy="0"/>
        </a:xfrm>
      </p:grpSpPr>
      <p:sp>
        <p:nvSpPr>
          <p:cNvPr id="373" name="Google Shape;373;p60"/>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CARACTERÍSTICAS DE SPRING BOOT</a:t>
            </a:r>
            <a:endParaRPr sz="3000" b="1">
              <a:solidFill>
                <a:srgbClr val="F63D68"/>
              </a:solidFill>
              <a:latin typeface="Space Grotesk"/>
              <a:ea typeface="Space Grotesk"/>
              <a:cs typeface="Space Grotesk"/>
              <a:sym typeface="Space Grotesk"/>
            </a:endParaRPr>
          </a:p>
        </p:txBody>
      </p:sp>
      <p:sp>
        <p:nvSpPr>
          <p:cNvPr id="374" name="Google Shape;374;p60"/>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Aplicaciones autónomas</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Servidor incrustado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Dependencias predefinidas</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Configuración automática</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8"/>
        <p:cNvGrpSpPr/>
        <p:nvPr/>
      </p:nvGrpSpPr>
      <p:grpSpPr>
        <a:xfrm>
          <a:off x="0" y="0"/>
          <a:ext cx="0" cy="0"/>
          <a:chOff x="0" y="0"/>
          <a:chExt cx="0" cy="0"/>
        </a:xfrm>
      </p:grpSpPr>
      <p:sp>
        <p:nvSpPr>
          <p:cNvPr id="379" name="Google Shape;379;p61"/>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CARACTERÍSTICAS DE SPRING BOOT</a:t>
            </a:r>
            <a:endParaRPr sz="3000" b="1">
              <a:solidFill>
                <a:srgbClr val="F63D68"/>
              </a:solidFill>
              <a:latin typeface="Space Grotesk"/>
              <a:ea typeface="Space Grotesk"/>
              <a:cs typeface="Space Grotesk"/>
              <a:sym typeface="Space Grotesk"/>
            </a:endParaRPr>
          </a:p>
        </p:txBody>
      </p:sp>
      <p:sp>
        <p:nvSpPr>
          <p:cNvPr id="380" name="Google Shape;380;p61"/>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Lista para producción</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Sin generación de código o configuración XML</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Spring Initializr</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4"/>
        <p:cNvGrpSpPr/>
        <p:nvPr/>
      </p:nvGrpSpPr>
      <p:grpSpPr>
        <a:xfrm>
          <a:off x="0" y="0"/>
          <a:ext cx="0" cy="0"/>
          <a:chOff x="0" y="0"/>
          <a:chExt cx="0" cy="0"/>
        </a:xfrm>
      </p:grpSpPr>
      <p:sp>
        <p:nvSpPr>
          <p:cNvPr id="385" name="Google Shape;385;p6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TIPOS DE APLICACIONES A CREAR CON SPRING BOOT</a:t>
            </a:r>
            <a:endParaRPr sz="3000" b="1">
              <a:solidFill>
                <a:srgbClr val="F63D68"/>
              </a:solidFill>
              <a:latin typeface="Space Grotesk"/>
              <a:ea typeface="Space Grotesk"/>
              <a:cs typeface="Space Grotesk"/>
              <a:sym typeface="Space Grotesk"/>
            </a:endParaRPr>
          </a:p>
        </p:txBody>
      </p:sp>
      <p:sp>
        <p:nvSpPr>
          <p:cNvPr id="386" name="Google Shape;386;p62"/>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Todo tipo de aplicaciones Java (Kotlin, Groovy)</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CLI</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Web</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
        <p:nvSpPr>
          <p:cNvPr id="387" name="Google Shape;387;p62"/>
          <p:cNvSpPr txBox="1"/>
          <p:nvPr/>
        </p:nvSpPr>
        <p:spPr>
          <a:xfrm>
            <a:off x="4639625" y="2978175"/>
            <a:ext cx="2435700" cy="2275500"/>
          </a:xfrm>
          <a:prstGeom prst="rect">
            <a:avLst/>
          </a:prstGeom>
          <a:noFill/>
          <a:ln>
            <a:noFill/>
          </a:ln>
        </p:spPr>
        <p:txBody>
          <a:bodyPr spcFirstLastPara="1" wrap="square" lIns="91425" tIns="91425" rIns="91425" bIns="91425" anchor="t" anchorCtr="0">
            <a:noAutofit/>
          </a:bodyPr>
          <a:lstStyle/>
          <a:p>
            <a:pPr marL="457200" lvl="1" indent="-241300" algn="l" rtl="0">
              <a:lnSpc>
                <a:spcPct val="115000"/>
              </a:lnSpc>
              <a:spcBef>
                <a:spcPts val="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API REST</a:t>
            </a:r>
            <a:endParaRPr sz="2000" b="1">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1500"/>
              </a:spcAft>
              <a:buClr>
                <a:srgbClr val="1D2939"/>
              </a:buClr>
              <a:buSzPts val="2000"/>
              <a:buFont typeface="Space Grotesk"/>
              <a:buChar char="○"/>
            </a:pPr>
            <a:r>
              <a:rPr lang="es-419" sz="2000" i="1">
                <a:solidFill>
                  <a:srgbClr val="1D2939"/>
                </a:solidFill>
                <a:latin typeface="Space Grotesk"/>
                <a:ea typeface="Space Grotesk"/>
                <a:cs typeface="Space Grotesk"/>
                <a:sym typeface="Space Grotesk"/>
              </a:rPr>
              <a:t>Microservicios</a:t>
            </a:r>
            <a:endParaRPr sz="2000" i="1">
              <a:solidFill>
                <a:srgbClr val="1D2939"/>
              </a:solidFill>
              <a:latin typeface="Space Grotesk"/>
              <a:ea typeface="Space Grotesk"/>
              <a:cs typeface="Space Grotesk"/>
              <a:sym typeface="Space Grotesk"/>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1"/>
        <p:cNvGrpSpPr/>
        <p:nvPr/>
      </p:nvGrpSpPr>
      <p:grpSpPr>
        <a:xfrm>
          <a:off x="0" y="0"/>
          <a:ext cx="0" cy="0"/>
          <a:chOff x="0" y="0"/>
          <a:chExt cx="0" cy="0"/>
        </a:xfrm>
      </p:grpSpPr>
      <p:sp>
        <p:nvSpPr>
          <p:cNvPr id="392" name="Google Shape;392;p6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BENEFICIOS DE SPRING BOOT</a:t>
            </a:r>
            <a:endParaRPr sz="3000" b="1">
              <a:solidFill>
                <a:srgbClr val="F63D68"/>
              </a:solidFill>
              <a:latin typeface="Space Grotesk"/>
              <a:ea typeface="Space Grotesk"/>
              <a:cs typeface="Space Grotesk"/>
              <a:sym typeface="Space Grotesk"/>
            </a:endParaRPr>
          </a:p>
        </p:txBody>
      </p:sp>
      <p:sp>
        <p:nvSpPr>
          <p:cNvPr id="393" name="Google Shape;393;p63"/>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Rapidez en el desarrollo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Menos código </a:t>
            </a:r>
            <a:r>
              <a:rPr lang="es-419" sz="2000" i="1">
                <a:solidFill>
                  <a:srgbClr val="1D2939"/>
                </a:solidFill>
                <a:latin typeface="Space Grotesk"/>
                <a:ea typeface="Space Grotesk"/>
                <a:cs typeface="Space Grotesk"/>
                <a:sym typeface="Space Grotesk"/>
              </a:rPr>
              <a:t>boilerplate</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Facilidad de despliegue</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Escalabilidad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7"/>
        <p:cNvGrpSpPr/>
        <p:nvPr/>
      </p:nvGrpSpPr>
      <p:grpSpPr>
        <a:xfrm>
          <a:off x="0" y="0"/>
          <a:ext cx="0" cy="0"/>
          <a:chOff x="0" y="0"/>
          <a:chExt cx="0" cy="0"/>
        </a:xfrm>
      </p:grpSpPr>
      <p:sp>
        <p:nvSpPr>
          <p:cNvPr id="398" name="Google Shape;398;p6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INYECCIÓN DE DEPENDENCIAS</a:t>
            </a:r>
            <a:endParaRPr sz="3000" b="1">
              <a:solidFill>
                <a:srgbClr val="F63D68"/>
              </a:solidFill>
              <a:latin typeface="Space Grotesk"/>
              <a:ea typeface="Space Grotesk"/>
              <a:cs typeface="Space Grotesk"/>
              <a:sym typeface="Space Grotesk"/>
            </a:endParaRPr>
          </a:p>
        </p:txBody>
      </p:sp>
      <p:sp>
        <p:nvSpPr>
          <p:cNvPr id="399" name="Google Shape;399;p64"/>
          <p:cNvSpPr txBox="1"/>
          <p:nvPr/>
        </p:nvSpPr>
        <p:spPr>
          <a:xfrm>
            <a:off x="2045750" y="1455250"/>
            <a:ext cx="50985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Una clase declara una </a:t>
            </a:r>
            <a:r>
              <a:rPr lang="es-419" sz="2000" i="1">
                <a:solidFill>
                  <a:srgbClr val="1D2939"/>
                </a:solidFill>
                <a:latin typeface="Space Grotesk"/>
                <a:ea typeface="Space Grotesk"/>
                <a:cs typeface="Space Grotesk"/>
                <a:sym typeface="Space Grotesk"/>
              </a:rPr>
              <a:t>lista de requisitos</a:t>
            </a:r>
            <a:r>
              <a:rPr lang="es-419" sz="2000">
                <a:solidFill>
                  <a:srgbClr val="1D2939"/>
                </a:solidFill>
                <a:latin typeface="Space Grotesk"/>
                <a:ea typeface="Space Grotesk"/>
                <a:cs typeface="Space Grotesk"/>
                <a:sym typeface="Space Grotesk"/>
              </a:rPr>
              <a:t> necesarios para llevar a cabo su cometido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400" name="Google Shape;400;p64"/>
          <p:cNvPicPr preferRelativeResize="0"/>
          <p:nvPr/>
        </p:nvPicPr>
        <p:blipFill>
          <a:blip r:embed="rId3">
            <a:alphaModFix/>
          </a:blip>
          <a:stretch>
            <a:fillRect/>
          </a:stretch>
        </p:blipFill>
        <p:spPr>
          <a:xfrm>
            <a:off x="3846925" y="3108350"/>
            <a:ext cx="1437550" cy="14375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4"/>
        <p:cNvGrpSpPr/>
        <p:nvPr/>
      </p:nvGrpSpPr>
      <p:grpSpPr>
        <a:xfrm>
          <a:off x="0" y="0"/>
          <a:ext cx="0" cy="0"/>
          <a:chOff x="0" y="0"/>
          <a:chExt cx="0" cy="0"/>
        </a:xfrm>
      </p:grpSpPr>
      <p:sp>
        <p:nvSpPr>
          <p:cNvPr id="405" name="Google Shape;405;p6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INYECCIÓN DE DEPENDENCIAS</a:t>
            </a:r>
            <a:endParaRPr sz="3000" b="1">
              <a:solidFill>
                <a:srgbClr val="F63D68"/>
              </a:solidFill>
              <a:latin typeface="Space Grotesk"/>
              <a:ea typeface="Space Grotesk"/>
              <a:cs typeface="Space Grotesk"/>
              <a:sym typeface="Space Grotesk"/>
            </a:endParaRPr>
          </a:p>
        </p:txBody>
      </p:sp>
      <p:sp>
        <p:nvSpPr>
          <p:cNvPr id="406" name="Google Shape;406;p65"/>
          <p:cNvSpPr txBox="1"/>
          <p:nvPr/>
        </p:nvSpPr>
        <p:spPr>
          <a:xfrm>
            <a:off x="20457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Una clase </a:t>
            </a:r>
            <a:r>
              <a:rPr lang="es-419" sz="2000" b="1">
                <a:solidFill>
                  <a:srgbClr val="1D2939"/>
                </a:solidFill>
                <a:latin typeface="Space Grotesk"/>
                <a:ea typeface="Space Grotesk"/>
                <a:cs typeface="Space Grotesk"/>
                <a:sym typeface="Space Grotesk"/>
              </a:rPr>
              <a:t>no es responsable de crear las instancias de los objetos</a:t>
            </a:r>
            <a:r>
              <a:rPr lang="es-419" sz="2000">
                <a:solidFill>
                  <a:srgbClr val="1D2939"/>
                </a:solidFill>
                <a:latin typeface="Space Grotesk"/>
                <a:ea typeface="Space Grotesk"/>
                <a:cs typeface="Space Grotesk"/>
                <a:sym typeface="Space Grotesk"/>
              </a:rPr>
              <a:t> de los que dependen</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Estos objetos son proporcionados </a:t>
            </a:r>
            <a:r>
              <a:rPr lang="es-419" sz="2000" b="1">
                <a:solidFill>
                  <a:srgbClr val="1D2939"/>
                </a:solidFill>
                <a:latin typeface="Space Grotesk"/>
                <a:ea typeface="Space Grotesk"/>
                <a:cs typeface="Space Grotesk"/>
                <a:sym typeface="Space Grotesk"/>
              </a:rPr>
              <a:t>desde fuera de la clase</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0"/>
        <p:cNvGrpSpPr/>
        <p:nvPr/>
      </p:nvGrpSpPr>
      <p:grpSpPr>
        <a:xfrm>
          <a:off x="0" y="0"/>
          <a:ext cx="0" cy="0"/>
          <a:chOff x="0" y="0"/>
          <a:chExt cx="0" cy="0"/>
        </a:xfrm>
      </p:grpSpPr>
      <p:sp>
        <p:nvSpPr>
          <p:cNvPr id="411" name="Google Shape;411;p6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SIN INYECCIÓN DE DEPENDENCIAS</a:t>
            </a:r>
            <a:endParaRPr sz="3000" b="1">
              <a:solidFill>
                <a:srgbClr val="F63D68"/>
              </a:solidFill>
              <a:latin typeface="Space Grotesk"/>
              <a:ea typeface="Space Grotesk"/>
              <a:cs typeface="Space Grotesk"/>
              <a:sym typeface="Space Grotesk"/>
            </a:endParaRPr>
          </a:p>
        </p:txBody>
      </p:sp>
      <p:pic>
        <p:nvPicPr>
          <p:cNvPr id="412" name="Google Shape;412;p66"/>
          <p:cNvPicPr preferRelativeResize="0"/>
          <p:nvPr/>
        </p:nvPicPr>
        <p:blipFill>
          <a:blip r:embed="rId3">
            <a:alphaModFix/>
          </a:blip>
          <a:stretch>
            <a:fillRect/>
          </a:stretch>
        </p:blipFill>
        <p:spPr>
          <a:xfrm>
            <a:off x="1949225" y="2101790"/>
            <a:ext cx="5245551" cy="204867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6"/>
        <p:cNvGrpSpPr/>
        <p:nvPr/>
      </p:nvGrpSpPr>
      <p:grpSpPr>
        <a:xfrm>
          <a:off x="0" y="0"/>
          <a:ext cx="0" cy="0"/>
          <a:chOff x="0" y="0"/>
          <a:chExt cx="0" cy="0"/>
        </a:xfrm>
      </p:grpSpPr>
      <p:sp>
        <p:nvSpPr>
          <p:cNvPr id="417" name="Google Shape;417;p67"/>
          <p:cNvSpPr txBox="1"/>
          <p:nvPr/>
        </p:nvSpPr>
        <p:spPr>
          <a:xfrm>
            <a:off x="1827600" y="5768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CON INYECCIÓN DE DEPENDENCIAS</a:t>
            </a:r>
            <a:endParaRPr sz="3000" b="1">
              <a:solidFill>
                <a:srgbClr val="F63D68"/>
              </a:solidFill>
              <a:latin typeface="Space Grotesk"/>
              <a:ea typeface="Space Grotesk"/>
              <a:cs typeface="Space Grotesk"/>
              <a:sym typeface="Space Grotesk"/>
            </a:endParaRPr>
          </a:p>
        </p:txBody>
      </p:sp>
      <p:pic>
        <p:nvPicPr>
          <p:cNvPr id="418" name="Google Shape;418;p67"/>
          <p:cNvPicPr preferRelativeResize="0"/>
          <p:nvPr/>
        </p:nvPicPr>
        <p:blipFill>
          <a:blip r:embed="rId3">
            <a:alphaModFix/>
          </a:blip>
          <a:stretch>
            <a:fillRect/>
          </a:stretch>
        </p:blipFill>
        <p:spPr>
          <a:xfrm>
            <a:off x="2031475" y="2096160"/>
            <a:ext cx="5081050" cy="223797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2"/>
        <p:cNvGrpSpPr/>
        <p:nvPr/>
      </p:nvGrpSpPr>
      <p:grpSpPr>
        <a:xfrm>
          <a:off x="0" y="0"/>
          <a:ext cx="0" cy="0"/>
          <a:chOff x="0" y="0"/>
          <a:chExt cx="0" cy="0"/>
        </a:xfrm>
      </p:grpSpPr>
      <p:sp>
        <p:nvSpPr>
          <p:cNvPr id="423" name="Google Shape;423;p6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INYECCIÓN DE DEPENDENCIAS ENTRE BEANS</a:t>
            </a:r>
            <a:endParaRPr sz="3000" b="1">
              <a:solidFill>
                <a:srgbClr val="F63D68"/>
              </a:solidFill>
              <a:latin typeface="Space Grotesk"/>
              <a:ea typeface="Space Grotesk"/>
              <a:cs typeface="Space Grotesk"/>
              <a:sym typeface="Space Grotesk"/>
            </a:endParaRPr>
          </a:p>
        </p:txBody>
      </p:sp>
      <p:sp>
        <p:nvSpPr>
          <p:cNvPr id="424" name="Google Shape;424;p68"/>
          <p:cNvSpPr/>
          <p:nvPr/>
        </p:nvSpPr>
        <p:spPr>
          <a:xfrm>
            <a:off x="2334300" y="2507925"/>
            <a:ext cx="4475400" cy="1465500"/>
          </a:xfrm>
          <a:prstGeom prst="cube">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425" name="Google Shape;425;p68"/>
          <p:cNvSpPr/>
          <p:nvPr/>
        </p:nvSpPr>
        <p:spPr>
          <a:xfrm>
            <a:off x="2486450" y="3013950"/>
            <a:ext cx="880200" cy="324900"/>
          </a:xfrm>
          <a:prstGeom prst="roundRect">
            <a:avLst>
              <a:gd name="adj" fmla="val 16667"/>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chemeClr val="lt2"/>
                </a:solidFill>
                <a:latin typeface="Space Grotesk"/>
                <a:ea typeface="Space Grotesk"/>
                <a:cs typeface="Space Grotesk"/>
                <a:sym typeface="Space Grotesk"/>
              </a:rPr>
              <a:t>ReportGen</a:t>
            </a:r>
            <a:endParaRPr sz="1000" b="1">
              <a:solidFill>
                <a:schemeClr val="lt2"/>
              </a:solidFill>
              <a:latin typeface="Space Grotesk"/>
              <a:ea typeface="Space Grotesk"/>
              <a:cs typeface="Space Grotesk"/>
              <a:sym typeface="Space Grotesk"/>
            </a:endParaRPr>
          </a:p>
        </p:txBody>
      </p:sp>
      <p:sp>
        <p:nvSpPr>
          <p:cNvPr id="426" name="Google Shape;426;p68"/>
          <p:cNvSpPr txBox="1"/>
          <p:nvPr/>
        </p:nvSpPr>
        <p:spPr>
          <a:xfrm>
            <a:off x="3072000" y="4081100"/>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b="1">
                <a:solidFill>
                  <a:schemeClr val="lt1"/>
                </a:solidFill>
                <a:latin typeface="Space Grotesk"/>
                <a:ea typeface="Space Grotesk"/>
                <a:cs typeface="Space Grotesk"/>
                <a:sym typeface="Space Grotesk"/>
              </a:rPr>
              <a:t>Contenedor Spring IoC</a:t>
            </a:r>
            <a:endParaRPr b="1">
              <a:solidFill>
                <a:schemeClr val="lt1"/>
              </a:solidFill>
              <a:latin typeface="Space Grotesk"/>
              <a:ea typeface="Space Grotesk"/>
              <a:cs typeface="Space Grotesk"/>
              <a:sym typeface="Space Grotesk"/>
            </a:endParaRPr>
          </a:p>
        </p:txBody>
      </p:sp>
      <p:sp>
        <p:nvSpPr>
          <p:cNvPr id="427" name="Google Shape;427;p68"/>
          <p:cNvSpPr/>
          <p:nvPr/>
        </p:nvSpPr>
        <p:spPr>
          <a:xfrm>
            <a:off x="3391800" y="3534300"/>
            <a:ext cx="666900" cy="324900"/>
          </a:xfrm>
          <a:prstGeom prst="roundRect">
            <a:avLst>
              <a:gd name="adj" fmla="val 16667"/>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chemeClr val="lt2"/>
                </a:solidFill>
                <a:latin typeface="Space Grotesk"/>
                <a:ea typeface="Space Grotesk"/>
                <a:cs typeface="Space Grotesk"/>
                <a:sym typeface="Space Grotesk"/>
              </a:rPr>
              <a:t>Repo</a:t>
            </a:r>
            <a:endParaRPr sz="1000" b="1">
              <a:solidFill>
                <a:schemeClr val="lt2"/>
              </a:solidFill>
              <a:latin typeface="Space Grotesk"/>
              <a:ea typeface="Space Grotesk"/>
              <a:cs typeface="Space Grotesk"/>
              <a:sym typeface="Space Grotesk"/>
            </a:endParaRPr>
          </a:p>
        </p:txBody>
      </p:sp>
      <p:sp>
        <p:nvSpPr>
          <p:cNvPr id="428" name="Google Shape;428;p68"/>
          <p:cNvSpPr/>
          <p:nvPr/>
        </p:nvSpPr>
        <p:spPr>
          <a:xfrm>
            <a:off x="4058700" y="3013950"/>
            <a:ext cx="666900" cy="324900"/>
          </a:xfrm>
          <a:prstGeom prst="roundRect">
            <a:avLst>
              <a:gd name="adj" fmla="val 16667"/>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chemeClr val="lt2"/>
                </a:solidFill>
                <a:latin typeface="Space Grotesk"/>
                <a:ea typeface="Space Grotesk"/>
                <a:cs typeface="Space Grotesk"/>
                <a:sym typeface="Space Grotesk"/>
              </a:rPr>
              <a:t>Query </a:t>
            </a:r>
            <a:endParaRPr sz="1000" b="1">
              <a:solidFill>
                <a:schemeClr val="lt2"/>
              </a:solidFill>
              <a:latin typeface="Space Grotesk"/>
              <a:ea typeface="Space Grotesk"/>
              <a:cs typeface="Space Grotesk"/>
              <a:sym typeface="Space Grotesk"/>
            </a:endParaRPr>
          </a:p>
        </p:txBody>
      </p:sp>
      <p:sp>
        <p:nvSpPr>
          <p:cNvPr id="429" name="Google Shape;429;p68"/>
          <p:cNvSpPr/>
          <p:nvPr/>
        </p:nvSpPr>
        <p:spPr>
          <a:xfrm>
            <a:off x="4520875" y="3534300"/>
            <a:ext cx="732900" cy="324900"/>
          </a:xfrm>
          <a:prstGeom prst="roundRect">
            <a:avLst>
              <a:gd name="adj" fmla="val 16667"/>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chemeClr val="lt2"/>
                </a:solidFill>
                <a:latin typeface="Space Grotesk"/>
                <a:ea typeface="Space Grotesk"/>
                <a:cs typeface="Space Grotesk"/>
                <a:sym typeface="Space Grotesk"/>
              </a:rPr>
              <a:t>Mapper</a:t>
            </a:r>
            <a:endParaRPr sz="1000" b="1">
              <a:solidFill>
                <a:schemeClr val="lt2"/>
              </a:solidFill>
              <a:latin typeface="Space Grotesk"/>
              <a:ea typeface="Space Grotesk"/>
              <a:cs typeface="Space Grotesk"/>
              <a:sym typeface="Space Grotesk"/>
            </a:endParaRPr>
          </a:p>
        </p:txBody>
      </p:sp>
      <p:sp>
        <p:nvSpPr>
          <p:cNvPr id="430" name="Google Shape;430;p68"/>
          <p:cNvSpPr txBox="1"/>
          <p:nvPr/>
        </p:nvSpPr>
        <p:spPr>
          <a:xfrm>
            <a:off x="5573700" y="3134100"/>
            <a:ext cx="63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a:latin typeface="Space Grotesk"/>
                <a:ea typeface="Space Grotesk"/>
                <a:cs typeface="Space Grotesk"/>
                <a:sym typeface="Space Grotesk"/>
              </a:rPr>
              <a:t>…</a:t>
            </a:r>
            <a:endParaRPr>
              <a:latin typeface="Space Grotesk"/>
              <a:ea typeface="Space Grotesk"/>
              <a:cs typeface="Space Grotesk"/>
              <a:sym typeface="Space Grotesk"/>
            </a:endParaRPr>
          </a:p>
        </p:txBody>
      </p:sp>
      <p:cxnSp>
        <p:nvCxnSpPr>
          <p:cNvPr id="431" name="Google Shape;431;p68"/>
          <p:cNvCxnSpPr>
            <a:stCxn id="425" idx="3"/>
            <a:endCxn id="428" idx="1"/>
          </p:cNvCxnSpPr>
          <p:nvPr/>
        </p:nvCxnSpPr>
        <p:spPr>
          <a:xfrm>
            <a:off x="3366650" y="3176400"/>
            <a:ext cx="692100" cy="0"/>
          </a:xfrm>
          <a:prstGeom prst="straightConnector1">
            <a:avLst/>
          </a:prstGeom>
          <a:noFill/>
          <a:ln w="9525" cap="flat" cmpd="sng">
            <a:solidFill>
              <a:srgbClr val="D9D9D9"/>
            </a:solidFill>
            <a:prstDash val="dot"/>
            <a:round/>
            <a:headEnd type="none" w="med" len="med"/>
            <a:tailEnd type="triangle" w="med" len="med"/>
          </a:ln>
        </p:spPr>
      </p:cxnSp>
      <p:cxnSp>
        <p:nvCxnSpPr>
          <p:cNvPr id="432" name="Google Shape;432;p68"/>
          <p:cNvCxnSpPr>
            <a:stCxn id="428" idx="2"/>
            <a:endCxn id="427" idx="0"/>
          </p:cNvCxnSpPr>
          <p:nvPr/>
        </p:nvCxnSpPr>
        <p:spPr>
          <a:xfrm flipH="1">
            <a:off x="3725250" y="3338850"/>
            <a:ext cx="666900" cy="195600"/>
          </a:xfrm>
          <a:prstGeom prst="straightConnector1">
            <a:avLst/>
          </a:prstGeom>
          <a:noFill/>
          <a:ln w="9525" cap="flat" cmpd="sng">
            <a:solidFill>
              <a:srgbClr val="D9D9D9"/>
            </a:solidFill>
            <a:prstDash val="dot"/>
            <a:round/>
            <a:headEnd type="none" w="med" len="med"/>
            <a:tailEnd type="triangle" w="med" len="med"/>
          </a:ln>
        </p:spPr>
      </p:cxnSp>
      <p:cxnSp>
        <p:nvCxnSpPr>
          <p:cNvPr id="433" name="Google Shape;433;p68"/>
          <p:cNvCxnSpPr>
            <a:endCxn id="429" idx="0"/>
          </p:cNvCxnSpPr>
          <p:nvPr/>
        </p:nvCxnSpPr>
        <p:spPr>
          <a:xfrm>
            <a:off x="4552825" y="3331800"/>
            <a:ext cx="334500" cy="202500"/>
          </a:xfrm>
          <a:prstGeom prst="straightConnector1">
            <a:avLst/>
          </a:prstGeom>
          <a:noFill/>
          <a:ln w="9525" cap="flat" cmpd="sng">
            <a:solidFill>
              <a:srgbClr val="D9D9D9"/>
            </a:solidFill>
            <a:prstDash val="dot"/>
            <a:round/>
            <a:headEnd type="none" w="med" len="med"/>
            <a:tailEnd type="triangle" w="med" len="med"/>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7"/>
        <p:cNvGrpSpPr/>
        <p:nvPr/>
      </p:nvGrpSpPr>
      <p:grpSpPr>
        <a:xfrm>
          <a:off x="0" y="0"/>
          <a:ext cx="0" cy="0"/>
          <a:chOff x="0" y="0"/>
          <a:chExt cx="0" cy="0"/>
        </a:xfrm>
      </p:grpSpPr>
      <p:sp>
        <p:nvSpPr>
          <p:cNvPr id="438" name="Google Shape;438;p69"/>
          <p:cNvSpPr txBox="1"/>
          <p:nvPr/>
        </p:nvSpPr>
        <p:spPr>
          <a:xfrm>
            <a:off x="1827600" y="5006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CONFIGURACIÓN BASADA EN ANOTACIONES</a:t>
            </a:r>
            <a:endParaRPr sz="3000" b="1">
              <a:solidFill>
                <a:srgbClr val="F63D68"/>
              </a:solidFill>
              <a:latin typeface="Space Grotesk"/>
              <a:ea typeface="Space Grotesk"/>
              <a:cs typeface="Space Grotesk"/>
              <a:sym typeface="Space Grotesk"/>
            </a:endParaRPr>
          </a:p>
        </p:txBody>
      </p:sp>
      <p:sp>
        <p:nvSpPr>
          <p:cNvPr id="439" name="Google Shape;439;p69"/>
          <p:cNvSpPr txBox="1"/>
          <p:nvPr/>
        </p:nvSpPr>
        <p:spPr>
          <a:xfrm>
            <a:off x="2121950" y="18362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Estereotipos</a:t>
            </a:r>
            <a:r>
              <a:rPr lang="es-419" sz="2000">
                <a:solidFill>
                  <a:srgbClr val="1D2939"/>
                </a:solidFill>
                <a:latin typeface="Space Grotesk"/>
                <a:ea typeface="Space Grotesk"/>
                <a:cs typeface="Space Grotesk"/>
                <a:sym typeface="Space Grotesk"/>
              </a:rPr>
              <a:t> (a nivel de clase)</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@Component</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@Service</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@Repository</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@Controller</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3"/>
        <p:cNvGrpSpPr/>
        <p:nvPr/>
      </p:nvGrpSpPr>
      <p:grpSpPr>
        <a:xfrm>
          <a:off x="0" y="0"/>
          <a:ext cx="0" cy="0"/>
          <a:chOff x="0" y="0"/>
          <a:chExt cx="0" cy="0"/>
        </a:xfrm>
      </p:grpSpPr>
      <p:sp>
        <p:nvSpPr>
          <p:cNvPr id="444" name="Google Shape;444;p70"/>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INYECCIÓN AUTOMÁTICA (AUTOWIRING)</a:t>
            </a:r>
            <a:endParaRPr sz="3000" b="1">
              <a:solidFill>
                <a:srgbClr val="F63D68"/>
              </a:solidFill>
              <a:latin typeface="Space Grotesk"/>
              <a:ea typeface="Space Grotesk"/>
              <a:cs typeface="Space Grotesk"/>
              <a:sym typeface="Space Grotesk"/>
            </a:endParaRPr>
          </a:p>
        </p:txBody>
      </p:sp>
      <p:sp>
        <p:nvSpPr>
          <p:cNvPr id="445" name="Google Shape;445;p70"/>
          <p:cNvSpPr txBox="1"/>
          <p:nvPr/>
        </p:nvSpPr>
        <p:spPr>
          <a:xfrm>
            <a:off x="2121950" y="1988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chemeClr val="lt1"/>
              </a:buClr>
              <a:buSzPts val="2000"/>
              <a:buFont typeface="Space Grotesk"/>
              <a:buChar char="●"/>
            </a:pPr>
            <a:r>
              <a:rPr lang="es-419" sz="2000">
                <a:solidFill>
                  <a:schemeClr val="lt1"/>
                </a:solidFill>
                <a:latin typeface="Space Grotesk"/>
                <a:ea typeface="Space Grotesk"/>
                <a:cs typeface="Space Grotesk"/>
                <a:sym typeface="Space Grotesk"/>
              </a:rPr>
              <a:t>Búsqueda de candidatos en el </a:t>
            </a:r>
            <a:r>
              <a:rPr lang="es-419" sz="2000" b="1">
                <a:solidFill>
                  <a:schemeClr val="lt1"/>
                </a:solidFill>
                <a:latin typeface="Space Grotesk"/>
                <a:ea typeface="Space Grotesk"/>
                <a:cs typeface="Space Grotesk"/>
                <a:sym typeface="Space Grotesk"/>
              </a:rPr>
              <a:t>IoC container</a:t>
            </a:r>
            <a:endParaRPr sz="2000" b="1">
              <a:solidFill>
                <a:schemeClr val="lt1"/>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chemeClr val="lt1"/>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chemeClr val="lt1"/>
              </a:solidFill>
              <a:latin typeface="Space Grotesk"/>
              <a:ea typeface="Space Grotesk"/>
              <a:cs typeface="Space Grotesk"/>
              <a:sym typeface="Space Grotesk"/>
            </a:endParaRPr>
          </a:p>
        </p:txBody>
      </p:sp>
      <p:sp>
        <p:nvSpPr>
          <p:cNvPr id="446" name="Google Shape;446;p70"/>
          <p:cNvSpPr/>
          <p:nvPr/>
        </p:nvSpPr>
        <p:spPr>
          <a:xfrm>
            <a:off x="2457175" y="2929200"/>
            <a:ext cx="4475400" cy="1465500"/>
          </a:xfrm>
          <a:prstGeom prst="cube">
            <a:avLst>
              <a:gd name="adj" fmla="val 25000"/>
            </a:avLst>
          </a:prstGeom>
          <a:solidFill>
            <a:srgbClr val="FFFFFF"/>
          </a:solidFill>
          <a:ln w="9525" cap="flat" cmpd="sng">
            <a:solidFill>
              <a:srgbClr val="9B8AF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447" name="Google Shape;447;p70"/>
          <p:cNvSpPr/>
          <p:nvPr/>
        </p:nvSpPr>
        <p:spPr>
          <a:xfrm>
            <a:off x="2609325" y="3435225"/>
            <a:ext cx="965400" cy="792300"/>
          </a:xfrm>
          <a:prstGeom prst="roundRect">
            <a:avLst>
              <a:gd name="adj" fmla="val 16667"/>
            </a:avLst>
          </a:prstGeom>
          <a:solidFill>
            <a:srgbClr val="9B8AF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rgbClr val="FFFFFF"/>
                </a:solidFill>
                <a:latin typeface="Space Grotesk"/>
                <a:ea typeface="Space Grotesk"/>
                <a:cs typeface="Space Grotesk"/>
                <a:sym typeface="Space Grotesk"/>
              </a:rPr>
              <a:t>ReportGen</a:t>
            </a:r>
            <a:endParaRPr sz="10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endParaRPr sz="10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s-419" sz="1000">
                <a:solidFill>
                  <a:srgbClr val="EFEFEF"/>
                </a:solidFill>
                <a:latin typeface="Consolas"/>
                <a:ea typeface="Consolas"/>
                <a:cs typeface="Consolas"/>
                <a:sym typeface="Consolas"/>
              </a:rPr>
              <a:t>Query q;</a:t>
            </a:r>
            <a:endParaRPr sz="1000">
              <a:solidFill>
                <a:srgbClr val="EFEFEF"/>
              </a:solidFill>
              <a:latin typeface="Consolas"/>
              <a:ea typeface="Consolas"/>
              <a:cs typeface="Consolas"/>
              <a:sym typeface="Consolas"/>
            </a:endParaRPr>
          </a:p>
        </p:txBody>
      </p:sp>
      <p:sp>
        <p:nvSpPr>
          <p:cNvPr id="448" name="Google Shape;448;p70"/>
          <p:cNvSpPr/>
          <p:nvPr/>
        </p:nvSpPr>
        <p:spPr>
          <a:xfrm>
            <a:off x="5628000" y="3435225"/>
            <a:ext cx="666900" cy="324900"/>
          </a:xfrm>
          <a:prstGeom prst="roundRect">
            <a:avLst>
              <a:gd name="adj" fmla="val 16667"/>
            </a:avLst>
          </a:prstGeom>
          <a:solidFill>
            <a:srgbClr val="9B8AF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rgbClr val="FFFFFF"/>
                </a:solidFill>
                <a:latin typeface="Space Grotesk"/>
                <a:ea typeface="Space Grotesk"/>
                <a:cs typeface="Space Grotesk"/>
                <a:sym typeface="Space Grotesk"/>
              </a:rPr>
              <a:t>Repo</a:t>
            </a:r>
            <a:endParaRPr sz="1000" b="1">
              <a:solidFill>
                <a:srgbClr val="FFFFFF"/>
              </a:solidFill>
              <a:latin typeface="Space Grotesk"/>
              <a:ea typeface="Space Grotesk"/>
              <a:cs typeface="Space Grotesk"/>
              <a:sym typeface="Space Grotesk"/>
            </a:endParaRPr>
          </a:p>
        </p:txBody>
      </p:sp>
      <p:sp>
        <p:nvSpPr>
          <p:cNvPr id="449" name="Google Shape;449;p70"/>
          <p:cNvSpPr/>
          <p:nvPr/>
        </p:nvSpPr>
        <p:spPr>
          <a:xfrm>
            <a:off x="4867825" y="3435225"/>
            <a:ext cx="666900" cy="324900"/>
          </a:xfrm>
          <a:prstGeom prst="roundRect">
            <a:avLst>
              <a:gd name="adj" fmla="val 16667"/>
            </a:avLst>
          </a:prstGeom>
          <a:solidFill>
            <a:srgbClr val="9B8AF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rgbClr val="FFFFFF"/>
                </a:solidFill>
                <a:latin typeface="Space Grotesk"/>
                <a:ea typeface="Space Grotesk"/>
                <a:cs typeface="Space Grotesk"/>
                <a:sym typeface="Space Grotesk"/>
              </a:rPr>
              <a:t>Query </a:t>
            </a:r>
            <a:endParaRPr sz="1000" b="1">
              <a:solidFill>
                <a:srgbClr val="FFFFFF"/>
              </a:solidFill>
              <a:latin typeface="Space Grotesk"/>
              <a:ea typeface="Space Grotesk"/>
              <a:cs typeface="Space Grotesk"/>
              <a:sym typeface="Space Grotesk"/>
            </a:endParaRPr>
          </a:p>
        </p:txBody>
      </p:sp>
      <p:sp>
        <p:nvSpPr>
          <p:cNvPr id="450" name="Google Shape;450;p70"/>
          <p:cNvSpPr/>
          <p:nvPr/>
        </p:nvSpPr>
        <p:spPr>
          <a:xfrm>
            <a:off x="5595000" y="3968800"/>
            <a:ext cx="732900" cy="324900"/>
          </a:xfrm>
          <a:prstGeom prst="roundRect">
            <a:avLst>
              <a:gd name="adj" fmla="val 16667"/>
            </a:avLst>
          </a:prstGeom>
          <a:solidFill>
            <a:srgbClr val="9B8AF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000" b="1">
                <a:solidFill>
                  <a:srgbClr val="FFFFFF"/>
                </a:solidFill>
                <a:latin typeface="Space Grotesk"/>
                <a:ea typeface="Space Grotesk"/>
                <a:cs typeface="Space Grotesk"/>
                <a:sym typeface="Space Grotesk"/>
              </a:rPr>
              <a:t>Mapper</a:t>
            </a:r>
            <a:endParaRPr sz="1000" b="1">
              <a:solidFill>
                <a:srgbClr val="FFFFFF"/>
              </a:solidFill>
              <a:latin typeface="Space Grotesk"/>
              <a:ea typeface="Space Grotesk"/>
              <a:cs typeface="Space Grotesk"/>
              <a:sym typeface="Space Grotesk"/>
            </a:endParaRPr>
          </a:p>
        </p:txBody>
      </p:sp>
      <p:sp>
        <p:nvSpPr>
          <p:cNvPr id="451" name="Google Shape;451;p70"/>
          <p:cNvSpPr/>
          <p:nvPr/>
        </p:nvSpPr>
        <p:spPr>
          <a:xfrm>
            <a:off x="3595025" y="3588950"/>
            <a:ext cx="1290975" cy="452825"/>
          </a:xfrm>
          <a:custGeom>
            <a:avLst/>
            <a:gdLst/>
            <a:ahLst/>
            <a:cxnLst/>
            <a:rect l="l" t="t" r="r" b="b"/>
            <a:pathLst>
              <a:path w="51639" h="18113" extrusionOk="0">
                <a:moveTo>
                  <a:pt x="0" y="10871"/>
                </a:moveTo>
                <a:cubicBezTo>
                  <a:pt x="1676" y="12049"/>
                  <a:pt x="6840" y="19161"/>
                  <a:pt x="10056" y="17938"/>
                </a:cubicBezTo>
                <a:cubicBezTo>
                  <a:pt x="13272" y="16715"/>
                  <a:pt x="15356" y="5390"/>
                  <a:pt x="19297" y="3533"/>
                </a:cubicBezTo>
                <a:cubicBezTo>
                  <a:pt x="23238" y="1676"/>
                  <a:pt x="29941" y="6976"/>
                  <a:pt x="33701" y="6795"/>
                </a:cubicBezTo>
                <a:cubicBezTo>
                  <a:pt x="37461" y="6614"/>
                  <a:pt x="38865" y="3579"/>
                  <a:pt x="41855" y="2446"/>
                </a:cubicBezTo>
                <a:cubicBezTo>
                  <a:pt x="44845" y="1314"/>
                  <a:pt x="50008" y="408"/>
                  <a:pt x="51639" y="0"/>
                </a:cubicBezTo>
              </a:path>
            </a:pathLst>
          </a:custGeom>
          <a:noFill/>
          <a:ln w="19050" cap="flat" cmpd="sng">
            <a:solidFill>
              <a:srgbClr val="CCCCCC"/>
            </a:solidFill>
            <a:prstDash val="dot"/>
            <a:round/>
            <a:headEnd type="none" w="med" len="med"/>
            <a:tailEnd type="triangle" w="med" len="med"/>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5"/>
        <p:cNvGrpSpPr/>
        <p:nvPr/>
      </p:nvGrpSpPr>
      <p:grpSpPr>
        <a:xfrm>
          <a:off x="0" y="0"/>
          <a:ext cx="0" cy="0"/>
          <a:chOff x="0" y="0"/>
          <a:chExt cx="0" cy="0"/>
        </a:xfrm>
      </p:grpSpPr>
      <p:sp>
        <p:nvSpPr>
          <p:cNvPr id="456" name="Google Shape;456;p71"/>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MI PRIMER ENDPOINT</a:t>
            </a:r>
            <a:endParaRPr sz="3200" b="1">
              <a:solidFill>
                <a:srgbClr val="F63D68"/>
              </a:solidFill>
              <a:latin typeface="Space Grotesk"/>
              <a:ea typeface="Space Grotesk"/>
              <a:cs typeface="Space Grotesk"/>
              <a:sym typeface="Space Grotesk"/>
            </a:endParaRPr>
          </a:p>
        </p:txBody>
      </p:sp>
      <p:sp>
        <p:nvSpPr>
          <p:cNvPr id="457" name="Google Shape;457;p71"/>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1"/>
        <p:cNvGrpSpPr/>
        <p:nvPr/>
      </p:nvGrpSpPr>
      <p:grpSpPr>
        <a:xfrm>
          <a:off x="0" y="0"/>
          <a:ext cx="0" cy="0"/>
          <a:chOff x="0" y="0"/>
          <a:chExt cx="0" cy="0"/>
        </a:xfrm>
      </p:grpSpPr>
      <p:sp>
        <p:nvSpPr>
          <p:cNvPr id="462" name="Google Shape;462;p7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ESTEREOTIPOS</a:t>
            </a:r>
            <a:endParaRPr sz="3000" b="1">
              <a:solidFill>
                <a:srgbClr val="F63D68"/>
              </a:solidFill>
              <a:latin typeface="Space Grotesk"/>
              <a:ea typeface="Space Grotesk"/>
              <a:cs typeface="Space Grotesk"/>
              <a:sym typeface="Space Grotesk"/>
            </a:endParaRPr>
          </a:p>
        </p:txBody>
      </p:sp>
      <p:sp>
        <p:nvSpPr>
          <p:cNvPr id="463" name="Google Shape;463;p72"/>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@Component</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@Service</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@Repository</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b="1" i="1">
                <a:solidFill>
                  <a:srgbClr val="1D2939"/>
                </a:solidFill>
                <a:latin typeface="Space Grotesk"/>
                <a:ea typeface="Space Grotesk"/>
                <a:cs typeface="Space Grotesk"/>
                <a:sym typeface="Space Grotesk"/>
              </a:rPr>
              <a:t>@Controller</a:t>
            </a:r>
            <a:endParaRPr sz="2000" b="1" i="1">
              <a:solidFill>
                <a:srgbClr val="1D2939"/>
              </a:solidFill>
              <a:latin typeface="Space Grotesk"/>
              <a:ea typeface="Space Grotesk"/>
              <a:cs typeface="Space Grotesk"/>
              <a:sym typeface="Space Grotesk"/>
            </a:endParaRPr>
          </a:p>
          <a:p>
            <a:pPr marL="685800" lvl="2" indent="-241300" algn="l" rtl="0">
              <a:lnSpc>
                <a:spcPct val="115000"/>
              </a:lnSpc>
              <a:spcBef>
                <a:spcPts val="150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@RestController</a:t>
            </a:r>
            <a:endParaRPr sz="2000" b="1">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7"/>
        <p:cNvGrpSpPr/>
        <p:nvPr/>
      </p:nvGrpSpPr>
      <p:grpSpPr>
        <a:xfrm>
          <a:off x="0" y="0"/>
          <a:ext cx="0" cy="0"/>
          <a:chOff x="0" y="0"/>
          <a:chExt cx="0" cy="0"/>
        </a:xfrm>
      </p:grpSpPr>
      <p:sp>
        <p:nvSpPr>
          <p:cNvPr id="468" name="Google Shape;468;p7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CONTROLADOR REST</a:t>
            </a:r>
            <a:endParaRPr sz="3000" b="1">
              <a:solidFill>
                <a:srgbClr val="F63D68"/>
              </a:solidFill>
              <a:latin typeface="Space Grotesk"/>
              <a:ea typeface="Space Grotesk"/>
              <a:cs typeface="Space Grotesk"/>
              <a:sym typeface="Space Grotesk"/>
            </a:endParaRPr>
          </a:p>
        </p:txBody>
      </p:sp>
      <p:sp>
        <p:nvSpPr>
          <p:cNvPr id="469" name="Google Shape;469;p73"/>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Clase POJO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i="1">
                <a:solidFill>
                  <a:srgbClr val="1D2939"/>
                </a:solidFill>
                <a:latin typeface="Space Grotesk"/>
                <a:ea typeface="Space Grotesk"/>
                <a:cs typeface="Space Grotesk"/>
                <a:sym typeface="Space Grotesk"/>
              </a:rPr>
              <a:t>@RestController</a:t>
            </a:r>
            <a:r>
              <a:rPr lang="es-419" sz="2000">
                <a:solidFill>
                  <a:srgbClr val="1D2939"/>
                </a:solidFill>
                <a:latin typeface="Space Grotesk"/>
                <a:ea typeface="Space Grotesk"/>
                <a:cs typeface="Space Grotesk"/>
                <a:sym typeface="Space Grotesk"/>
              </a:rPr>
              <a:t> a nivel de clase</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Incluirá un conjunto de endpoints</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3"/>
        <p:cNvGrpSpPr/>
        <p:nvPr/>
      </p:nvGrpSpPr>
      <p:grpSpPr>
        <a:xfrm>
          <a:off x="0" y="0"/>
          <a:ext cx="0" cy="0"/>
          <a:chOff x="0" y="0"/>
          <a:chExt cx="0" cy="0"/>
        </a:xfrm>
      </p:grpSpPr>
      <p:sp>
        <p:nvSpPr>
          <p:cNvPr id="474" name="Google Shape;474;p7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ENDPOINT</a:t>
            </a:r>
            <a:endParaRPr sz="3000" b="1">
              <a:solidFill>
                <a:srgbClr val="F63D68"/>
              </a:solidFill>
              <a:latin typeface="Space Grotesk"/>
              <a:ea typeface="Space Grotesk"/>
              <a:cs typeface="Space Grotesk"/>
              <a:sym typeface="Space Grotesk"/>
            </a:endParaRPr>
          </a:p>
        </p:txBody>
      </p:sp>
      <p:sp>
        <p:nvSpPr>
          <p:cNvPr id="475" name="Google Shape;475;p74"/>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Identificador de recurso + Verbo HTTP</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GET /users/1234</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POST /product/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9"/>
        <p:cNvGrpSpPr/>
        <p:nvPr/>
      </p:nvGrpSpPr>
      <p:grpSpPr>
        <a:xfrm>
          <a:off x="0" y="0"/>
          <a:ext cx="0" cy="0"/>
          <a:chOff x="0" y="0"/>
          <a:chExt cx="0" cy="0"/>
        </a:xfrm>
      </p:grpSpPr>
      <p:sp>
        <p:nvSpPr>
          <p:cNvPr id="480" name="Google Shape;480;p7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VERBOS HTTP EN SPRING BOOT</a:t>
            </a:r>
            <a:endParaRPr sz="3000" b="1">
              <a:solidFill>
                <a:srgbClr val="F63D68"/>
              </a:solidFill>
              <a:latin typeface="Space Grotesk"/>
              <a:ea typeface="Space Grotesk"/>
              <a:cs typeface="Space Grotesk"/>
              <a:sym typeface="Space Grotesk"/>
            </a:endParaRPr>
          </a:p>
        </p:txBody>
      </p:sp>
      <p:sp>
        <p:nvSpPr>
          <p:cNvPr id="481" name="Google Shape;481;p75"/>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@RequestMapping(method=...)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@GetMapping</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@PostMapping</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@XXXMapping</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5"/>
        <p:cNvGrpSpPr/>
        <p:nvPr/>
      </p:nvGrpSpPr>
      <p:grpSpPr>
        <a:xfrm>
          <a:off x="0" y="0"/>
          <a:ext cx="0" cy="0"/>
          <a:chOff x="0" y="0"/>
          <a:chExt cx="0" cy="0"/>
        </a:xfrm>
      </p:grpSpPr>
      <p:sp>
        <p:nvSpPr>
          <p:cNvPr id="486" name="Google Shape;486;p7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ESTRUCTURA DEL MÉTODO</a:t>
            </a:r>
            <a:endParaRPr sz="3000" b="1">
              <a:solidFill>
                <a:srgbClr val="F63D68"/>
              </a:solidFill>
              <a:latin typeface="Space Grotesk"/>
              <a:ea typeface="Space Grotesk"/>
              <a:cs typeface="Space Grotesk"/>
              <a:sym typeface="Space Grotesk"/>
            </a:endParaRPr>
          </a:p>
        </p:txBody>
      </p:sp>
      <p:grpSp>
        <p:nvGrpSpPr>
          <p:cNvPr id="487" name="Google Shape;487;p76"/>
          <p:cNvGrpSpPr/>
          <p:nvPr/>
        </p:nvGrpSpPr>
        <p:grpSpPr>
          <a:xfrm>
            <a:off x="2610675" y="2313200"/>
            <a:ext cx="3893375" cy="1411350"/>
            <a:chOff x="2699375" y="2770400"/>
            <a:chExt cx="3893375" cy="1411350"/>
          </a:xfrm>
        </p:grpSpPr>
        <p:pic>
          <p:nvPicPr>
            <p:cNvPr id="488" name="Google Shape;488;p76"/>
            <p:cNvPicPr preferRelativeResize="0"/>
            <p:nvPr/>
          </p:nvPicPr>
          <p:blipFill>
            <a:blip r:embed="rId3">
              <a:alphaModFix/>
            </a:blip>
            <a:stretch>
              <a:fillRect/>
            </a:stretch>
          </p:blipFill>
          <p:spPr>
            <a:xfrm>
              <a:off x="2699375" y="2770400"/>
              <a:ext cx="3893375" cy="1411350"/>
            </a:xfrm>
            <a:prstGeom prst="rect">
              <a:avLst/>
            </a:prstGeom>
            <a:noFill/>
            <a:ln>
              <a:noFill/>
            </a:ln>
          </p:spPr>
        </p:pic>
        <p:sp>
          <p:nvSpPr>
            <p:cNvPr id="489" name="Google Shape;489;p76"/>
            <p:cNvSpPr/>
            <p:nvPr/>
          </p:nvSpPr>
          <p:spPr>
            <a:xfrm>
              <a:off x="4882475" y="2828325"/>
              <a:ext cx="1652700" cy="325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90" name="Google Shape;490;p76"/>
          <p:cNvSpPr txBox="1"/>
          <p:nvPr/>
        </p:nvSpPr>
        <p:spPr>
          <a:xfrm>
            <a:off x="3198425" y="1720975"/>
            <a:ext cx="36759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700" b="1">
                <a:solidFill>
                  <a:schemeClr val="dk2"/>
                </a:solidFill>
                <a:latin typeface="Space Grotesk"/>
                <a:ea typeface="Space Grotesk"/>
                <a:cs typeface="Space Grotesk"/>
                <a:sym typeface="Space Grotesk"/>
              </a:rPr>
              <a:t>Ruta del endpoint</a:t>
            </a:r>
            <a:endParaRPr sz="1700" b="1">
              <a:solidFill>
                <a:schemeClr val="dk2"/>
              </a:solidFill>
              <a:latin typeface="Space Grotesk"/>
              <a:ea typeface="Space Grotesk"/>
              <a:cs typeface="Space Grotesk"/>
              <a:sym typeface="Space Grotesk"/>
            </a:endParaRPr>
          </a:p>
        </p:txBody>
      </p:sp>
      <p:pic>
        <p:nvPicPr>
          <p:cNvPr id="491" name="Google Shape;491;p76"/>
          <p:cNvPicPr preferRelativeResize="0"/>
          <p:nvPr/>
        </p:nvPicPr>
        <p:blipFill>
          <a:blip r:embed="rId4">
            <a:alphaModFix/>
          </a:blip>
          <a:stretch>
            <a:fillRect/>
          </a:stretch>
        </p:blipFill>
        <p:spPr>
          <a:xfrm>
            <a:off x="2610675" y="2313200"/>
            <a:ext cx="3308721" cy="1411350"/>
          </a:xfrm>
          <a:prstGeom prst="rect">
            <a:avLst/>
          </a:prstGeom>
          <a:noFill/>
          <a:ln>
            <a:noFill/>
          </a:ln>
        </p:spPr>
      </p:pic>
      <p:sp>
        <p:nvSpPr>
          <p:cNvPr id="492" name="Google Shape;492;p76"/>
          <p:cNvSpPr/>
          <p:nvPr/>
        </p:nvSpPr>
        <p:spPr>
          <a:xfrm>
            <a:off x="4857600" y="2096725"/>
            <a:ext cx="457500" cy="479600"/>
          </a:xfrm>
          <a:custGeom>
            <a:avLst/>
            <a:gdLst/>
            <a:ahLst/>
            <a:cxnLst/>
            <a:rect l="l" t="t" r="r" b="b"/>
            <a:pathLst>
              <a:path w="18300" h="19184" extrusionOk="0">
                <a:moveTo>
                  <a:pt x="5106" y="0"/>
                </a:moveTo>
                <a:cubicBezTo>
                  <a:pt x="7276" y="894"/>
                  <a:pt x="17061" y="2383"/>
                  <a:pt x="18124" y="5361"/>
                </a:cubicBezTo>
                <a:cubicBezTo>
                  <a:pt x="19188" y="8339"/>
                  <a:pt x="14508" y="15613"/>
                  <a:pt x="11487" y="17868"/>
                </a:cubicBezTo>
                <a:cubicBezTo>
                  <a:pt x="8466" y="20123"/>
                  <a:pt x="1915" y="18719"/>
                  <a:pt x="0" y="18889"/>
                </a:cubicBezTo>
              </a:path>
            </a:pathLst>
          </a:custGeom>
          <a:noFill/>
          <a:ln w="19050" cap="flat" cmpd="sng">
            <a:solidFill>
              <a:srgbClr val="B7B7B7"/>
            </a:solidFill>
            <a:prstDash val="solid"/>
            <a:round/>
            <a:headEnd type="none" w="med" len="med"/>
            <a:tailEnd type="stealth" w="med" len="med"/>
          </a:ln>
        </p:spPr>
      </p:sp>
      <p:sp>
        <p:nvSpPr>
          <p:cNvPr id="493" name="Google Shape;493;p76"/>
          <p:cNvSpPr txBox="1"/>
          <p:nvPr/>
        </p:nvSpPr>
        <p:spPr>
          <a:xfrm>
            <a:off x="5379400" y="3127050"/>
            <a:ext cx="19119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700" b="1">
                <a:solidFill>
                  <a:schemeClr val="dk2"/>
                </a:solidFill>
                <a:latin typeface="Space Grotesk"/>
                <a:ea typeface="Space Grotesk"/>
                <a:cs typeface="Space Grotesk"/>
                <a:sym typeface="Space Grotesk"/>
              </a:rPr>
              <a:t>No hay argumentos</a:t>
            </a:r>
            <a:endParaRPr sz="1700" b="1">
              <a:solidFill>
                <a:schemeClr val="dk2"/>
              </a:solidFill>
              <a:latin typeface="Space Grotesk"/>
              <a:ea typeface="Space Grotesk"/>
              <a:cs typeface="Space Grotesk"/>
              <a:sym typeface="Space Grotesk"/>
            </a:endParaRPr>
          </a:p>
          <a:p>
            <a:pPr marL="0" lvl="0" indent="0" algn="l" rtl="0">
              <a:spcBef>
                <a:spcPts val="0"/>
              </a:spcBef>
              <a:spcAft>
                <a:spcPts val="0"/>
              </a:spcAft>
              <a:buNone/>
            </a:pPr>
            <a:r>
              <a:rPr lang="es-419" sz="1700" b="1">
                <a:solidFill>
                  <a:schemeClr val="lt1"/>
                </a:solidFill>
                <a:latin typeface="Space Grotesk"/>
                <a:ea typeface="Space Grotesk"/>
                <a:cs typeface="Space Grotesk"/>
                <a:sym typeface="Space Grotesk"/>
              </a:rPr>
              <a:t>obligatorios</a:t>
            </a:r>
            <a:endParaRPr sz="1700" b="1">
              <a:solidFill>
                <a:schemeClr val="lt1"/>
              </a:solidFill>
              <a:latin typeface="Space Grotesk"/>
              <a:ea typeface="Space Grotesk"/>
              <a:cs typeface="Space Grotesk"/>
              <a:sym typeface="Space Grotesk"/>
            </a:endParaRPr>
          </a:p>
        </p:txBody>
      </p:sp>
      <p:sp>
        <p:nvSpPr>
          <p:cNvPr id="494" name="Google Shape;494;p76"/>
          <p:cNvSpPr/>
          <p:nvPr/>
        </p:nvSpPr>
        <p:spPr>
          <a:xfrm>
            <a:off x="5160475" y="2519775"/>
            <a:ext cx="1109940" cy="674575"/>
          </a:xfrm>
          <a:custGeom>
            <a:avLst/>
            <a:gdLst/>
            <a:ahLst/>
            <a:cxnLst/>
            <a:rect l="l" t="t" r="r" b="b"/>
            <a:pathLst>
              <a:path w="32773" h="26983" extrusionOk="0">
                <a:moveTo>
                  <a:pt x="31397" y="26983"/>
                </a:moveTo>
                <a:cubicBezTo>
                  <a:pt x="31397" y="23112"/>
                  <a:pt x="34333" y="8136"/>
                  <a:pt x="31397" y="3754"/>
                </a:cubicBezTo>
                <a:cubicBezTo>
                  <a:pt x="28462" y="-628"/>
                  <a:pt x="19017" y="-373"/>
                  <a:pt x="13784" y="691"/>
                </a:cubicBezTo>
                <a:cubicBezTo>
                  <a:pt x="8551" y="1755"/>
                  <a:pt x="2297" y="8562"/>
                  <a:pt x="0" y="10136"/>
                </a:cubicBezTo>
              </a:path>
            </a:pathLst>
          </a:custGeom>
          <a:noFill/>
          <a:ln w="19050" cap="flat" cmpd="sng">
            <a:solidFill>
              <a:srgbClr val="B7B7B7"/>
            </a:solidFill>
            <a:prstDash val="solid"/>
            <a:round/>
            <a:headEnd type="none" w="med" len="med"/>
            <a:tailEnd type="stealth" w="med" len="med"/>
          </a:ln>
        </p:spPr>
      </p:sp>
      <p:sp>
        <p:nvSpPr>
          <p:cNvPr id="495" name="Google Shape;495;p76"/>
          <p:cNvSpPr txBox="1"/>
          <p:nvPr/>
        </p:nvSpPr>
        <p:spPr>
          <a:xfrm>
            <a:off x="2309900" y="3724550"/>
            <a:ext cx="36759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700" b="1">
                <a:solidFill>
                  <a:schemeClr val="dk2"/>
                </a:solidFill>
                <a:latin typeface="Space Grotesk"/>
                <a:ea typeface="Space Grotesk"/>
                <a:cs typeface="Space Grotesk"/>
                <a:sym typeface="Space Grotesk"/>
              </a:rPr>
              <a:t>Valor de retorno</a:t>
            </a:r>
            <a:endParaRPr sz="1700" b="1">
              <a:solidFill>
                <a:schemeClr val="dk2"/>
              </a:solidFill>
              <a:latin typeface="Space Grotesk"/>
              <a:ea typeface="Space Grotesk"/>
              <a:cs typeface="Space Grotesk"/>
              <a:sym typeface="Space Grotesk"/>
            </a:endParaRPr>
          </a:p>
        </p:txBody>
      </p:sp>
      <p:sp>
        <p:nvSpPr>
          <p:cNvPr id="496" name="Google Shape;496;p76"/>
          <p:cNvSpPr/>
          <p:nvPr/>
        </p:nvSpPr>
        <p:spPr>
          <a:xfrm>
            <a:off x="2387684" y="3130525"/>
            <a:ext cx="644800" cy="701975"/>
          </a:xfrm>
          <a:custGeom>
            <a:avLst/>
            <a:gdLst/>
            <a:ahLst/>
            <a:cxnLst/>
            <a:rect l="l" t="t" r="r" b="b"/>
            <a:pathLst>
              <a:path w="25792" h="28079" extrusionOk="0">
                <a:moveTo>
                  <a:pt x="6904" y="28079"/>
                </a:moveTo>
                <a:cubicBezTo>
                  <a:pt x="5755" y="25782"/>
                  <a:pt x="-74" y="18422"/>
                  <a:pt x="11" y="14295"/>
                </a:cubicBezTo>
                <a:cubicBezTo>
                  <a:pt x="96" y="10168"/>
                  <a:pt x="3117" y="5702"/>
                  <a:pt x="7414" y="3319"/>
                </a:cubicBezTo>
                <a:cubicBezTo>
                  <a:pt x="11711" y="937"/>
                  <a:pt x="22730" y="553"/>
                  <a:pt x="25793" y="0"/>
                </a:cubicBezTo>
              </a:path>
            </a:pathLst>
          </a:custGeom>
          <a:noFill/>
          <a:ln w="19050" cap="flat" cmpd="sng">
            <a:solidFill>
              <a:srgbClr val="B7B7B7"/>
            </a:solidFill>
            <a:prstDash val="solid"/>
            <a:round/>
            <a:headEnd type="none" w="med" len="med"/>
            <a:tailEnd type="stealth" w="med" len="med"/>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0"/>
        <p:cNvGrpSpPr/>
        <p:nvPr/>
      </p:nvGrpSpPr>
      <p:grpSpPr>
        <a:xfrm>
          <a:off x="0" y="0"/>
          <a:ext cx="0" cy="0"/>
          <a:chOff x="0" y="0"/>
          <a:chExt cx="0" cy="0"/>
        </a:xfrm>
      </p:grpSpPr>
      <p:sp>
        <p:nvSpPr>
          <p:cNvPr id="501" name="Google Shape;501;p77"/>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HTTPMESSAGECONVERTER POR DEFECTO</a:t>
            </a:r>
            <a:endParaRPr sz="3000" b="1">
              <a:solidFill>
                <a:srgbClr val="F63D68"/>
              </a:solidFill>
              <a:latin typeface="Space Grotesk"/>
              <a:ea typeface="Space Grotesk"/>
              <a:cs typeface="Space Grotesk"/>
              <a:sym typeface="Space Grotesk"/>
            </a:endParaRPr>
          </a:p>
        </p:txBody>
      </p:sp>
      <p:sp>
        <p:nvSpPr>
          <p:cNvPr id="502" name="Google Shape;502;p77"/>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String → </a:t>
            </a:r>
            <a:r>
              <a:rPr lang="es-419" sz="2000" i="1">
                <a:solidFill>
                  <a:srgbClr val="1D2939"/>
                </a:solidFill>
                <a:latin typeface="Space Grotesk"/>
                <a:ea typeface="Space Grotesk"/>
                <a:cs typeface="Space Grotesk"/>
                <a:sym typeface="Space Grotesk"/>
              </a:rPr>
              <a:t>StringHttpMessageConverter</a:t>
            </a:r>
            <a:endParaRPr sz="2000" i="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chemeClr val="dk2"/>
              </a:buClr>
              <a:buSzPts val="2000"/>
              <a:buFont typeface="Space Grotesk"/>
              <a:buChar char="●"/>
            </a:pPr>
            <a:r>
              <a:rPr lang="es-419" sz="2000">
                <a:solidFill>
                  <a:schemeClr val="dk2"/>
                </a:solidFill>
                <a:latin typeface="Space Grotesk"/>
                <a:ea typeface="Space Grotesk"/>
                <a:cs typeface="Space Grotesk"/>
                <a:sym typeface="Space Grotesk"/>
              </a:rPr>
              <a:t>Objeto Java → </a:t>
            </a:r>
            <a:r>
              <a:rPr lang="es-419" sz="2000" i="1">
                <a:solidFill>
                  <a:schemeClr val="dk2"/>
                </a:solidFill>
                <a:latin typeface="Space Grotesk"/>
                <a:ea typeface="Space Grotesk"/>
                <a:cs typeface="Space Grotesk"/>
                <a:sym typeface="Space Grotesk"/>
              </a:rPr>
              <a:t>MappingJackson2HttpMessageCon…</a:t>
            </a:r>
            <a:endParaRPr sz="2000" i="1">
              <a:solidFill>
                <a:schemeClr val="dk2"/>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6"/>
        <p:cNvGrpSpPr/>
        <p:nvPr/>
      </p:nvGrpSpPr>
      <p:grpSpPr>
        <a:xfrm>
          <a:off x="0" y="0"/>
          <a:ext cx="0" cy="0"/>
          <a:chOff x="0" y="0"/>
          <a:chExt cx="0" cy="0"/>
        </a:xfrm>
      </p:grpSpPr>
      <p:sp>
        <p:nvSpPr>
          <p:cNvPr id="507" name="Google Shape;507;p7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HTTPMESSAGECONVERTER POR DEFECTO</a:t>
            </a:r>
            <a:endParaRPr sz="3000" b="1">
              <a:solidFill>
                <a:srgbClr val="F63D68"/>
              </a:solidFill>
              <a:latin typeface="Space Grotesk"/>
              <a:ea typeface="Space Grotesk"/>
              <a:cs typeface="Space Grotesk"/>
              <a:sym typeface="Space Grotesk"/>
            </a:endParaRPr>
          </a:p>
        </p:txBody>
      </p:sp>
      <p:sp>
        <p:nvSpPr>
          <p:cNvPr id="508" name="Google Shape;508;p78"/>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Formulario HTML → </a:t>
            </a:r>
            <a:r>
              <a:rPr lang="es-419" sz="2000" i="1">
                <a:solidFill>
                  <a:srgbClr val="1D2939"/>
                </a:solidFill>
                <a:latin typeface="Space Grotesk"/>
                <a:ea typeface="Space Grotesk"/>
                <a:cs typeface="Space Grotesk"/>
                <a:sym typeface="Space Grotesk"/>
              </a:rPr>
              <a:t>FormHttpMessageConverter</a:t>
            </a:r>
            <a:endParaRPr sz="2000" i="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Otros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XML, Atom, RSS, ByteArray, …</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2"/>
        <p:cNvGrpSpPr/>
        <p:nvPr/>
      </p:nvGrpSpPr>
      <p:grpSpPr>
        <a:xfrm>
          <a:off x="0" y="0"/>
          <a:ext cx="0" cy="0"/>
          <a:chOff x="0" y="0"/>
          <a:chExt cx="0" cy="0"/>
        </a:xfrm>
      </p:grpSpPr>
      <p:sp>
        <p:nvSpPr>
          <p:cNvPr id="513" name="Google Shape;513;p79"/>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ESTRUCTURA DEL MÉTODO</a:t>
            </a:r>
            <a:endParaRPr sz="3000" b="1">
              <a:solidFill>
                <a:srgbClr val="F63D68"/>
              </a:solidFill>
              <a:latin typeface="Space Grotesk"/>
              <a:ea typeface="Space Grotesk"/>
              <a:cs typeface="Space Grotesk"/>
              <a:sym typeface="Space Grotesk"/>
            </a:endParaRPr>
          </a:p>
        </p:txBody>
      </p:sp>
      <p:grpSp>
        <p:nvGrpSpPr>
          <p:cNvPr id="514" name="Google Shape;514;p79"/>
          <p:cNvGrpSpPr/>
          <p:nvPr/>
        </p:nvGrpSpPr>
        <p:grpSpPr>
          <a:xfrm>
            <a:off x="2610675" y="2313200"/>
            <a:ext cx="3893375" cy="1411350"/>
            <a:chOff x="2699375" y="2770400"/>
            <a:chExt cx="3893375" cy="1411350"/>
          </a:xfrm>
        </p:grpSpPr>
        <p:pic>
          <p:nvPicPr>
            <p:cNvPr id="515" name="Google Shape;515;p79"/>
            <p:cNvPicPr preferRelativeResize="0"/>
            <p:nvPr/>
          </p:nvPicPr>
          <p:blipFill>
            <a:blip r:embed="rId3">
              <a:alphaModFix/>
            </a:blip>
            <a:stretch>
              <a:fillRect/>
            </a:stretch>
          </p:blipFill>
          <p:spPr>
            <a:xfrm>
              <a:off x="2699375" y="2770400"/>
              <a:ext cx="3893375" cy="1411350"/>
            </a:xfrm>
            <a:prstGeom prst="rect">
              <a:avLst/>
            </a:prstGeom>
            <a:noFill/>
            <a:ln>
              <a:noFill/>
            </a:ln>
          </p:spPr>
        </p:pic>
        <p:sp>
          <p:nvSpPr>
            <p:cNvPr id="516" name="Google Shape;516;p79"/>
            <p:cNvSpPr/>
            <p:nvPr/>
          </p:nvSpPr>
          <p:spPr>
            <a:xfrm>
              <a:off x="4882475" y="2828325"/>
              <a:ext cx="1652700" cy="325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517" name="Google Shape;517;p79"/>
          <p:cNvPicPr preferRelativeResize="0"/>
          <p:nvPr/>
        </p:nvPicPr>
        <p:blipFill>
          <a:blip r:embed="rId4">
            <a:alphaModFix/>
          </a:blip>
          <a:stretch>
            <a:fillRect/>
          </a:stretch>
        </p:blipFill>
        <p:spPr>
          <a:xfrm>
            <a:off x="2610675" y="2313200"/>
            <a:ext cx="3308721" cy="1411350"/>
          </a:xfrm>
          <a:prstGeom prst="rect">
            <a:avLst/>
          </a:prstGeom>
          <a:noFill/>
          <a:ln>
            <a:noFill/>
          </a:ln>
        </p:spPr>
      </p:pic>
      <p:sp>
        <p:nvSpPr>
          <p:cNvPr id="518" name="Google Shape;518;p79"/>
          <p:cNvSpPr txBox="1"/>
          <p:nvPr/>
        </p:nvSpPr>
        <p:spPr>
          <a:xfrm>
            <a:off x="1688725" y="3724550"/>
            <a:ext cx="46812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700" b="1">
                <a:solidFill>
                  <a:schemeClr val="dk2"/>
                </a:solidFill>
                <a:latin typeface="Space Grotesk"/>
                <a:ea typeface="Space Grotesk"/>
                <a:cs typeface="Space Grotesk"/>
                <a:sym typeface="Space Grotesk"/>
              </a:rPr>
              <a:t>Valor de retorno que se transforma a JSON</a:t>
            </a:r>
            <a:endParaRPr sz="1700" b="1">
              <a:solidFill>
                <a:schemeClr val="dk2"/>
              </a:solidFill>
              <a:latin typeface="Space Grotesk"/>
              <a:ea typeface="Space Grotesk"/>
              <a:cs typeface="Space Grotesk"/>
              <a:sym typeface="Space Grotesk"/>
            </a:endParaRPr>
          </a:p>
        </p:txBody>
      </p:sp>
      <p:pic>
        <p:nvPicPr>
          <p:cNvPr id="519" name="Google Shape;519;p79"/>
          <p:cNvPicPr preferRelativeResize="0"/>
          <p:nvPr/>
        </p:nvPicPr>
        <p:blipFill>
          <a:blip r:embed="rId5">
            <a:alphaModFix/>
          </a:blip>
          <a:stretch>
            <a:fillRect/>
          </a:stretch>
        </p:blipFill>
        <p:spPr>
          <a:xfrm>
            <a:off x="1758375" y="2313201"/>
            <a:ext cx="6230574" cy="1411350"/>
          </a:xfrm>
          <a:prstGeom prst="rect">
            <a:avLst/>
          </a:prstGeom>
          <a:noFill/>
          <a:ln>
            <a:noFill/>
          </a:ln>
        </p:spPr>
      </p:pic>
      <p:sp>
        <p:nvSpPr>
          <p:cNvPr id="520" name="Google Shape;520;p79"/>
          <p:cNvSpPr/>
          <p:nvPr/>
        </p:nvSpPr>
        <p:spPr>
          <a:xfrm>
            <a:off x="1583434" y="3130525"/>
            <a:ext cx="644800" cy="701975"/>
          </a:xfrm>
          <a:custGeom>
            <a:avLst/>
            <a:gdLst/>
            <a:ahLst/>
            <a:cxnLst/>
            <a:rect l="l" t="t" r="r" b="b"/>
            <a:pathLst>
              <a:path w="25792" h="28079" extrusionOk="0">
                <a:moveTo>
                  <a:pt x="6904" y="28079"/>
                </a:moveTo>
                <a:cubicBezTo>
                  <a:pt x="5755" y="25782"/>
                  <a:pt x="-74" y="18422"/>
                  <a:pt x="11" y="14295"/>
                </a:cubicBezTo>
                <a:cubicBezTo>
                  <a:pt x="96" y="10168"/>
                  <a:pt x="3117" y="5702"/>
                  <a:pt x="7414" y="3319"/>
                </a:cubicBezTo>
                <a:cubicBezTo>
                  <a:pt x="11711" y="937"/>
                  <a:pt x="22730" y="553"/>
                  <a:pt x="25793" y="0"/>
                </a:cubicBezTo>
              </a:path>
            </a:pathLst>
          </a:custGeom>
          <a:noFill/>
          <a:ln w="19050" cap="flat" cmpd="sng">
            <a:solidFill>
              <a:srgbClr val="B7B7B7"/>
            </a:solidFill>
            <a:prstDash val="solid"/>
            <a:round/>
            <a:headEnd type="none" w="med" len="med"/>
            <a:tailEnd type="stealth" w="med" len="me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4"/>
        <p:cNvGrpSpPr/>
        <p:nvPr/>
      </p:nvGrpSpPr>
      <p:grpSpPr>
        <a:xfrm>
          <a:off x="0" y="0"/>
          <a:ext cx="0" cy="0"/>
          <a:chOff x="0" y="0"/>
          <a:chExt cx="0" cy="0"/>
        </a:xfrm>
      </p:grpSpPr>
      <p:sp>
        <p:nvSpPr>
          <p:cNvPr id="525" name="Google Shape;525;p80"/>
          <p:cNvSpPr txBox="1"/>
          <p:nvPr/>
        </p:nvSpPr>
        <p:spPr>
          <a:xfrm>
            <a:off x="1827600" y="5006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POSTMAN</a:t>
            </a:r>
            <a:endParaRPr sz="3000" b="1">
              <a:solidFill>
                <a:srgbClr val="F63D68"/>
              </a:solidFill>
              <a:latin typeface="Space Grotesk"/>
              <a:ea typeface="Space Grotesk"/>
              <a:cs typeface="Space Grotesk"/>
              <a:sym typeface="Space Grotesk"/>
            </a:endParaRPr>
          </a:p>
        </p:txBody>
      </p:sp>
      <p:pic>
        <p:nvPicPr>
          <p:cNvPr id="526" name="Google Shape;526;p80"/>
          <p:cNvPicPr preferRelativeResize="0"/>
          <p:nvPr/>
        </p:nvPicPr>
        <p:blipFill>
          <a:blip r:embed="rId3">
            <a:alphaModFix/>
          </a:blip>
          <a:stretch>
            <a:fillRect/>
          </a:stretch>
        </p:blipFill>
        <p:spPr>
          <a:xfrm>
            <a:off x="1949225" y="1458639"/>
            <a:ext cx="5245550" cy="314512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0"/>
        <p:cNvGrpSpPr/>
        <p:nvPr/>
      </p:nvGrpSpPr>
      <p:grpSpPr>
        <a:xfrm>
          <a:off x="0" y="0"/>
          <a:ext cx="0" cy="0"/>
          <a:chOff x="0" y="0"/>
          <a:chExt cx="0" cy="0"/>
        </a:xfrm>
      </p:grpSpPr>
      <p:sp>
        <p:nvSpPr>
          <p:cNvPr id="531" name="Google Shape;531;p81"/>
          <p:cNvSpPr txBox="1"/>
          <p:nvPr/>
        </p:nvSpPr>
        <p:spPr>
          <a:xfrm>
            <a:off x="1827600" y="272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PRUEBA DE LA APLICACIÓN CON POSTMAN</a:t>
            </a:r>
            <a:endParaRPr sz="3000" b="1">
              <a:solidFill>
                <a:srgbClr val="F63D68"/>
              </a:solidFill>
              <a:latin typeface="Space Grotesk"/>
              <a:ea typeface="Space Grotesk"/>
              <a:cs typeface="Space Grotesk"/>
              <a:sym typeface="Space Grotesk"/>
            </a:endParaRPr>
          </a:p>
        </p:txBody>
      </p:sp>
      <p:pic>
        <p:nvPicPr>
          <p:cNvPr id="532" name="Google Shape;532;p81"/>
          <p:cNvPicPr preferRelativeResize="0"/>
          <p:nvPr/>
        </p:nvPicPr>
        <p:blipFill>
          <a:blip r:embed="rId3">
            <a:alphaModFix/>
          </a:blip>
          <a:stretch>
            <a:fillRect/>
          </a:stretch>
        </p:blipFill>
        <p:spPr>
          <a:xfrm>
            <a:off x="2051711" y="1702675"/>
            <a:ext cx="5040573" cy="292392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6"/>
        <p:cNvGrpSpPr/>
        <p:nvPr/>
      </p:nvGrpSpPr>
      <p:grpSpPr>
        <a:xfrm>
          <a:off x="0" y="0"/>
          <a:ext cx="0" cy="0"/>
          <a:chOff x="0" y="0"/>
          <a:chExt cx="0" cy="0"/>
        </a:xfrm>
      </p:grpSpPr>
      <p:sp>
        <p:nvSpPr>
          <p:cNvPr id="537" name="Google Shape;537;p8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PETICIÓN POST</a:t>
            </a:r>
            <a:endParaRPr sz="3000" b="1">
              <a:solidFill>
                <a:srgbClr val="F63D68"/>
              </a:solidFill>
              <a:latin typeface="Space Grotesk"/>
              <a:ea typeface="Space Grotesk"/>
              <a:cs typeface="Space Grotesk"/>
              <a:sym typeface="Space Grotesk"/>
            </a:endParaRPr>
          </a:p>
        </p:txBody>
      </p:sp>
      <p:sp>
        <p:nvSpPr>
          <p:cNvPr id="538" name="Google Shape;538;p82"/>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i="1">
                <a:solidFill>
                  <a:srgbClr val="1D2939"/>
                </a:solidFill>
                <a:latin typeface="Space Grotesk"/>
                <a:ea typeface="Space Grotesk"/>
                <a:cs typeface="Space Grotesk"/>
                <a:sym typeface="Space Grotesk"/>
              </a:rPr>
              <a:t>@PostMapping</a:t>
            </a:r>
            <a:endParaRPr sz="2000" i="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i="1">
                <a:solidFill>
                  <a:srgbClr val="1D2939"/>
                </a:solidFill>
                <a:latin typeface="Space Grotesk"/>
                <a:ea typeface="Space Grotesk"/>
                <a:cs typeface="Space Grotesk"/>
                <a:sym typeface="Space Grotesk"/>
              </a:rPr>
              <a:t>@RequestBody</a:t>
            </a:r>
            <a:r>
              <a:rPr lang="es-419" sz="2000">
                <a:solidFill>
                  <a:srgbClr val="1D2939"/>
                </a:solidFill>
                <a:latin typeface="Space Grotesk"/>
                <a:ea typeface="Space Grotesk"/>
                <a:cs typeface="Space Grotesk"/>
                <a:sym typeface="Space Grotesk"/>
              </a:rPr>
              <a:t> para recoger el cuerpo de la petición.</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539" name="Google Shape;539;p82"/>
          <p:cNvPicPr preferRelativeResize="0"/>
          <p:nvPr/>
        </p:nvPicPr>
        <p:blipFill>
          <a:blip r:embed="rId3">
            <a:alphaModFix/>
          </a:blip>
          <a:stretch>
            <a:fillRect/>
          </a:stretch>
        </p:blipFill>
        <p:spPr>
          <a:xfrm>
            <a:off x="2278289" y="3424598"/>
            <a:ext cx="4574828" cy="12554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83"/>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ESTRUCTURA DE UN CONTROLADOR</a:t>
            </a:r>
            <a:endParaRPr sz="3200" b="1">
              <a:solidFill>
                <a:srgbClr val="F63D68"/>
              </a:solidFill>
              <a:latin typeface="Space Grotesk"/>
              <a:ea typeface="Space Grotesk"/>
              <a:cs typeface="Space Grotesk"/>
              <a:sym typeface="Space Grotesk"/>
            </a:endParaRPr>
          </a:p>
        </p:txBody>
      </p:sp>
      <p:sp>
        <p:nvSpPr>
          <p:cNvPr id="545" name="Google Shape;545;p83"/>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9"/>
        <p:cNvGrpSpPr/>
        <p:nvPr/>
      </p:nvGrpSpPr>
      <p:grpSpPr>
        <a:xfrm>
          <a:off x="0" y="0"/>
          <a:ext cx="0" cy="0"/>
          <a:chOff x="0" y="0"/>
          <a:chExt cx="0" cy="0"/>
        </a:xfrm>
      </p:grpSpPr>
      <p:sp>
        <p:nvSpPr>
          <p:cNvPr id="550" name="Google Shape;550;p84"/>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ORGANIZACIÓN DEL CONTROLADOR</a:t>
            </a:r>
            <a:endParaRPr sz="3000" b="1">
              <a:solidFill>
                <a:srgbClr val="F63D68"/>
              </a:solidFill>
              <a:latin typeface="Space Grotesk"/>
              <a:ea typeface="Space Grotesk"/>
              <a:cs typeface="Space Grotesk"/>
              <a:sym typeface="Space Grotesk"/>
            </a:endParaRPr>
          </a:p>
        </p:txBody>
      </p:sp>
      <p:sp>
        <p:nvSpPr>
          <p:cNvPr id="551" name="Google Shape;551;p84"/>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Anotaciones comunes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@RestController</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@RequestMapping</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5"/>
        <p:cNvGrpSpPr/>
        <p:nvPr/>
      </p:nvGrpSpPr>
      <p:grpSpPr>
        <a:xfrm>
          <a:off x="0" y="0"/>
          <a:ext cx="0" cy="0"/>
          <a:chOff x="0" y="0"/>
          <a:chExt cx="0" cy="0"/>
        </a:xfrm>
      </p:grpSpPr>
      <p:sp>
        <p:nvSpPr>
          <p:cNvPr id="556" name="Google Shape;556;p8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ORGANIZACIÓN DEL CONTROLADOR</a:t>
            </a:r>
            <a:endParaRPr sz="3000" b="1">
              <a:solidFill>
                <a:srgbClr val="F63D68"/>
              </a:solidFill>
              <a:latin typeface="Space Grotesk"/>
              <a:ea typeface="Space Grotesk"/>
              <a:cs typeface="Space Grotesk"/>
              <a:sym typeface="Space Grotesk"/>
            </a:endParaRPr>
          </a:p>
        </p:txBody>
      </p:sp>
      <p:sp>
        <p:nvSpPr>
          <p:cNvPr id="557" name="Google Shape;557;p85"/>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Buenas prácticas para rutas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Sustantivos (no verbos)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Nombres claros e intuitivos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Minúsculas</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No caracteres especiales</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1"/>
        <p:cNvGrpSpPr/>
        <p:nvPr/>
      </p:nvGrpSpPr>
      <p:grpSpPr>
        <a:xfrm>
          <a:off x="0" y="0"/>
          <a:ext cx="0" cy="0"/>
          <a:chOff x="0" y="0"/>
          <a:chExt cx="0" cy="0"/>
        </a:xfrm>
      </p:grpSpPr>
      <p:sp>
        <p:nvSpPr>
          <p:cNvPr id="562" name="Google Shape;562;p8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MÉTODOS BÁSICOS DE UN CONTROLADOR</a:t>
            </a:r>
            <a:endParaRPr sz="3000" b="1">
              <a:solidFill>
                <a:srgbClr val="F63D68"/>
              </a:solidFill>
              <a:latin typeface="Space Grotesk"/>
              <a:ea typeface="Space Grotesk"/>
              <a:cs typeface="Space Grotesk"/>
              <a:sym typeface="Space Grotesk"/>
            </a:endParaRPr>
          </a:p>
        </p:txBody>
      </p:sp>
      <p:sp>
        <p:nvSpPr>
          <p:cNvPr id="563" name="Google Shape;563;p86"/>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Peticiones CRUD</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Crear un recurso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Obtener todos/un recurso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Actualizar un recurso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Borrar un recurso</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7"/>
        <p:cNvGrpSpPr/>
        <p:nvPr/>
      </p:nvGrpSpPr>
      <p:grpSpPr>
        <a:xfrm>
          <a:off x="0" y="0"/>
          <a:ext cx="0" cy="0"/>
          <a:chOff x="0" y="0"/>
          <a:chExt cx="0" cy="0"/>
        </a:xfrm>
      </p:grpSpPr>
      <p:sp>
        <p:nvSpPr>
          <p:cNvPr id="568" name="Google Shape;568;p87"/>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CÓDIGO DE RESPUESTA</a:t>
            </a:r>
            <a:endParaRPr sz="3000" b="1">
              <a:solidFill>
                <a:srgbClr val="F63D68"/>
              </a:solidFill>
              <a:latin typeface="Space Grotesk"/>
              <a:ea typeface="Space Grotesk"/>
              <a:cs typeface="Space Grotesk"/>
              <a:sym typeface="Space Grotesk"/>
            </a:endParaRPr>
          </a:p>
        </p:txBody>
      </p:sp>
      <p:sp>
        <p:nvSpPr>
          <p:cNvPr id="569" name="Google Shape;569;p87"/>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i="1">
                <a:solidFill>
                  <a:srgbClr val="1D2939"/>
                </a:solidFill>
                <a:latin typeface="Space Grotesk"/>
                <a:ea typeface="Space Grotesk"/>
                <a:cs typeface="Space Grotesk"/>
                <a:sym typeface="Space Grotesk"/>
              </a:rPr>
              <a:t>ResponseEntity&lt;?&gt;</a:t>
            </a:r>
            <a:endParaRPr sz="2000" i="1">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Tipo de retorno del endpoint</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Permite construir la respuesta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Código, encabezados, cuerpo, …</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3"/>
        <p:cNvGrpSpPr/>
        <p:nvPr/>
      </p:nvGrpSpPr>
      <p:grpSpPr>
        <a:xfrm>
          <a:off x="0" y="0"/>
          <a:ext cx="0" cy="0"/>
          <a:chOff x="0" y="0"/>
          <a:chExt cx="0" cy="0"/>
        </a:xfrm>
      </p:grpSpPr>
      <p:sp>
        <p:nvSpPr>
          <p:cNvPr id="574" name="Google Shape;574;p8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CORRESPONDENCIA CRUD - HTTP</a:t>
            </a:r>
            <a:endParaRPr sz="3000" b="1">
              <a:solidFill>
                <a:srgbClr val="F63D68"/>
              </a:solidFill>
              <a:latin typeface="Space Grotesk"/>
              <a:ea typeface="Space Grotesk"/>
              <a:cs typeface="Space Grotesk"/>
              <a:sym typeface="Space Grotesk"/>
            </a:endParaRPr>
          </a:p>
        </p:txBody>
      </p:sp>
      <p:sp>
        <p:nvSpPr>
          <p:cNvPr id="575" name="Google Shape;575;p88"/>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Obtener (C</a:t>
            </a:r>
            <a:r>
              <a:rPr lang="es-419" sz="2000" b="1">
                <a:solidFill>
                  <a:srgbClr val="1D2939"/>
                </a:solidFill>
                <a:latin typeface="Space Grotesk"/>
                <a:ea typeface="Space Grotesk"/>
                <a:cs typeface="Space Grotesk"/>
                <a:sym typeface="Space Grotesk"/>
              </a:rPr>
              <a:t>R</a:t>
            </a:r>
            <a:r>
              <a:rPr lang="es-419" sz="2000">
                <a:solidFill>
                  <a:srgbClr val="1D2939"/>
                </a:solidFill>
                <a:latin typeface="Space Grotesk"/>
                <a:ea typeface="Space Grotesk"/>
                <a:cs typeface="Space Grotesk"/>
                <a:sym typeface="Space Grotesk"/>
              </a:rPr>
              <a:t>UD)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Método HTTP: </a:t>
            </a:r>
            <a:r>
              <a:rPr lang="es-419" sz="2000" b="1">
                <a:solidFill>
                  <a:srgbClr val="1D2939"/>
                </a:solidFill>
                <a:latin typeface="Space Grotesk"/>
                <a:ea typeface="Space Grotesk"/>
                <a:cs typeface="Space Grotesk"/>
                <a:sym typeface="Space Grotesk"/>
              </a:rPr>
              <a:t>GET</a:t>
            </a:r>
            <a:endParaRPr sz="2000" b="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Códigos de respuesta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200 OK</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404 Not found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9"/>
        <p:cNvGrpSpPr/>
        <p:nvPr/>
      </p:nvGrpSpPr>
      <p:grpSpPr>
        <a:xfrm>
          <a:off x="0" y="0"/>
          <a:ext cx="0" cy="0"/>
          <a:chOff x="0" y="0"/>
          <a:chExt cx="0" cy="0"/>
        </a:xfrm>
      </p:grpSpPr>
      <p:sp>
        <p:nvSpPr>
          <p:cNvPr id="580" name="Google Shape;580;p89"/>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CORRESPONDENCIA CRUD - HTTP</a:t>
            </a:r>
            <a:endParaRPr sz="3000" b="1">
              <a:solidFill>
                <a:srgbClr val="F63D68"/>
              </a:solidFill>
              <a:latin typeface="Space Grotesk"/>
              <a:ea typeface="Space Grotesk"/>
              <a:cs typeface="Space Grotesk"/>
              <a:sym typeface="Space Grotesk"/>
            </a:endParaRPr>
          </a:p>
        </p:txBody>
      </p:sp>
      <p:sp>
        <p:nvSpPr>
          <p:cNvPr id="581" name="Google Shape;581;p89"/>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Crear (</a:t>
            </a:r>
            <a:r>
              <a:rPr lang="es-419" sz="2000" b="1">
                <a:solidFill>
                  <a:srgbClr val="1D2939"/>
                </a:solidFill>
                <a:latin typeface="Space Grotesk"/>
                <a:ea typeface="Space Grotesk"/>
                <a:cs typeface="Space Grotesk"/>
                <a:sym typeface="Space Grotesk"/>
              </a:rPr>
              <a:t>C</a:t>
            </a:r>
            <a:r>
              <a:rPr lang="es-419" sz="2000">
                <a:solidFill>
                  <a:srgbClr val="1D2939"/>
                </a:solidFill>
                <a:latin typeface="Space Grotesk"/>
                <a:ea typeface="Space Grotesk"/>
                <a:cs typeface="Space Grotesk"/>
                <a:sym typeface="Space Grotesk"/>
              </a:rPr>
              <a:t>RUD)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Método HTTP: </a:t>
            </a:r>
            <a:r>
              <a:rPr lang="es-419" sz="2000" b="1">
                <a:solidFill>
                  <a:srgbClr val="1D2939"/>
                </a:solidFill>
                <a:latin typeface="Space Grotesk"/>
                <a:ea typeface="Space Grotesk"/>
                <a:cs typeface="Space Grotesk"/>
                <a:sym typeface="Space Grotesk"/>
              </a:rPr>
              <a:t>POST</a:t>
            </a:r>
            <a:endParaRPr sz="2000" b="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Códigos de respuesta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201 Created</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400 Bad Request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5"/>
        <p:cNvGrpSpPr/>
        <p:nvPr/>
      </p:nvGrpSpPr>
      <p:grpSpPr>
        <a:xfrm>
          <a:off x="0" y="0"/>
          <a:ext cx="0" cy="0"/>
          <a:chOff x="0" y="0"/>
          <a:chExt cx="0" cy="0"/>
        </a:xfrm>
      </p:grpSpPr>
      <p:sp>
        <p:nvSpPr>
          <p:cNvPr id="586" name="Google Shape;586;p90"/>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CORRESPONDENCIA CRUD - HTTP</a:t>
            </a:r>
            <a:endParaRPr sz="3000" b="1">
              <a:solidFill>
                <a:srgbClr val="F63D68"/>
              </a:solidFill>
              <a:latin typeface="Space Grotesk"/>
              <a:ea typeface="Space Grotesk"/>
              <a:cs typeface="Space Grotesk"/>
              <a:sym typeface="Space Grotesk"/>
            </a:endParaRPr>
          </a:p>
        </p:txBody>
      </p:sp>
      <p:sp>
        <p:nvSpPr>
          <p:cNvPr id="587" name="Google Shape;587;p90"/>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Actualizar (CR</a:t>
            </a:r>
            <a:r>
              <a:rPr lang="es-419" sz="2000" b="1">
                <a:solidFill>
                  <a:srgbClr val="1D2939"/>
                </a:solidFill>
                <a:latin typeface="Space Grotesk"/>
                <a:ea typeface="Space Grotesk"/>
                <a:cs typeface="Space Grotesk"/>
                <a:sym typeface="Space Grotesk"/>
              </a:rPr>
              <a:t>U</a:t>
            </a:r>
            <a:r>
              <a:rPr lang="es-419" sz="2000">
                <a:solidFill>
                  <a:srgbClr val="1D2939"/>
                </a:solidFill>
                <a:latin typeface="Space Grotesk"/>
                <a:ea typeface="Space Grotesk"/>
                <a:cs typeface="Space Grotesk"/>
                <a:sym typeface="Space Grotesk"/>
              </a:rPr>
              <a:t>D)</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Método HTTP: </a:t>
            </a:r>
            <a:r>
              <a:rPr lang="es-419" sz="2000" b="1">
                <a:solidFill>
                  <a:srgbClr val="1D2939"/>
                </a:solidFill>
                <a:latin typeface="Space Grotesk"/>
                <a:ea typeface="Space Grotesk"/>
                <a:cs typeface="Space Grotesk"/>
                <a:sym typeface="Space Grotesk"/>
              </a:rPr>
              <a:t>PUT</a:t>
            </a:r>
            <a:endParaRPr sz="2000" b="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Códigos de respuesta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200 OK</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400 Bad Request, 404 Not found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1"/>
        <p:cNvGrpSpPr/>
        <p:nvPr/>
      </p:nvGrpSpPr>
      <p:grpSpPr>
        <a:xfrm>
          <a:off x="0" y="0"/>
          <a:ext cx="0" cy="0"/>
          <a:chOff x="0" y="0"/>
          <a:chExt cx="0" cy="0"/>
        </a:xfrm>
      </p:grpSpPr>
      <p:sp>
        <p:nvSpPr>
          <p:cNvPr id="592" name="Google Shape;592;p91"/>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CORRESPONDENCIA CRUD - HTTP</a:t>
            </a:r>
            <a:endParaRPr sz="3000" b="1">
              <a:solidFill>
                <a:srgbClr val="F63D68"/>
              </a:solidFill>
              <a:latin typeface="Space Grotesk"/>
              <a:ea typeface="Space Grotesk"/>
              <a:cs typeface="Space Grotesk"/>
              <a:sym typeface="Space Grotesk"/>
            </a:endParaRPr>
          </a:p>
        </p:txBody>
      </p:sp>
      <p:sp>
        <p:nvSpPr>
          <p:cNvPr id="593" name="Google Shape;593;p91"/>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Actualizar (CRU</a:t>
            </a:r>
            <a:r>
              <a:rPr lang="es-419" sz="2000" b="1">
                <a:solidFill>
                  <a:srgbClr val="1D2939"/>
                </a:solidFill>
                <a:latin typeface="Space Grotesk"/>
                <a:ea typeface="Space Grotesk"/>
                <a:cs typeface="Space Grotesk"/>
                <a:sym typeface="Space Grotesk"/>
              </a:rPr>
              <a:t>D</a:t>
            </a:r>
            <a:r>
              <a:rPr lang="es-419" sz="2000">
                <a:solidFill>
                  <a:srgbClr val="1D2939"/>
                </a:solidFill>
                <a:latin typeface="Space Grotesk"/>
                <a:ea typeface="Space Grotesk"/>
                <a:cs typeface="Space Grotesk"/>
                <a:sym typeface="Space Grotesk"/>
              </a:rPr>
              <a:t>)</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Método HTTP: </a:t>
            </a:r>
            <a:r>
              <a:rPr lang="es-419" sz="2000" b="1">
                <a:solidFill>
                  <a:srgbClr val="1D2939"/>
                </a:solidFill>
                <a:latin typeface="Space Grotesk"/>
                <a:ea typeface="Space Grotesk"/>
                <a:cs typeface="Space Grotesk"/>
                <a:sym typeface="Space Grotesk"/>
              </a:rPr>
              <a:t>DELETE</a:t>
            </a:r>
            <a:endParaRPr sz="2000" b="1">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Códigos de respuesta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204 No Content</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¿404 Not found?</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7"/>
        <p:cNvGrpSpPr/>
        <p:nvPr/>
      </p:nvGrpSpPr>
      <p:grpSpPr>
        <a:xfrm>
          <a:off x="0" y="0"/>
          <a:ext cx="0" cy="0"/>
          <a:chOff x="0" y="0"/>
          <a:chExt cx="0" cy="0"/>
        </a:xfrm>
      </p:grpSpPr>
      <p:sp>
        <p:nvSpPr>
          <p:cNvPr id="598" name="Google Shape;598;p9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CÓDIGOS DE ERROR COMUNES</a:t>
            </a:r>
            <a:endParaRPr sz="3000" b="1">
              <a:solidFill>
                <a:srgbClr val="F63D68"/>
              </a:solidFill>
              <a:latin typeface="Space Grotesk"/>
              <a:ea typeface="Space Grotesk"/>
              <a:cs typeface="Space Grotesk"/>
              <a:sym typeface="Space Grotesk"/>
            </a:endParaRPr>
          </a:p>
        </p:txBody>
      </p:sp>
      <p:sp>
        <p:nvSpPr>
          <p:cNvPr id="599" name="Google Shape;599;p92"/>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401, 403: errores de autenticación o control de acceso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405: Método no permitido.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415: tipo no soportado</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3"/>
        <p:cNvGrpSpPr/>
        <p:nvPr/>
      </p:nvGrpSpPr>
      <p:grpSpPr>
        <a:xfrm>
          <a:off x="0" y="0"/>
          <a:ext cx="0" cy="0"/>
          <a:chOff x="0" y="0"/>
          <a:chExt cx="0" cy="0"/>
        </a:xfrm>
      </p:grpSpPr>
      <p:sp>
        <p:nvSpPr>
          <p:cNvPr id="604" name="Google Shape;604;p9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RESUMEN</a:t>
            </a:r>
            <a:endParaRPr sz="3000" b="1">
              <a:solidFill>
                <a:srgbClr val="F63D68"/>
              </a:solidFill>
              <a:latin typeface="Space Grotesk"/>
              <a:ea typeface="Space Grotesk"/>
              <a:cs typeface="Space Grotesk"/>
              <a:sym typeface="Space Grotesk"/>
            </a:endParaRPr>
          </a:p>
        </p:txBody>
      </p:sp>
      <p:graphicFrame>
        <p:nvGraphicFramePr>
          <p:cNvPr id="605" name="Google Shape;605;p93"/>
          <p:cNvGraphicFramePr/>
          <p:nvPr/>
        </p:nvGraphicFramePr>
        <p:xfrm>
          <a:off x="946200" y="1625250"/>
          <a:ext cx="3000000" cy="3000000"/>
        </p:xfrm>
        <a:graphic>
          <a:graphicData uri="http://schemas.openxmlformats.org/drawingml/2006/table">
            <a:tbl>
              <a:tblPr>
                <a:noFill/>
                <a:tableStyleId>{DABD0CFC-DEC1-4E6F-9715-22E8D36C3251}</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s-419" b="1">
                          <a:latin typeface="Space Grotesk"/>
                          <a:ea typeface="Space Grotesk"/>
                          <a:cs typeface="Space Grotesk"/>
                          <a:sym typeface="Space Grotesk"/>
                        </a:rPr>
                        <a:t>ACCIÓN - MÉTODO</a:t>
                      </a:r>
                      <a:endParaRPr b="1">
                        <a:latin typeface="Space Grotesk"/>
                        <a:ea typeface="Space Grotesk"/>
                        <a:cs typeface="Space Grotesk"/>
                        <a:sym typeface="Space Grotesk"/>
                      </a:endParaRPr>
                    </a:p>
                  </a:txBody>
                  <a:tcPr marL="91425" marR="91425" marT="91425" marB="91425"/>
                </a:tc>
                <a:tc>
                  <a:txBody>
                    <a:bodyPr/>
                    <a:lstStyle/>
                    <a:p>
                      <a:pPr marL="0" lvl="0" indent="0" algn="ctr" rtl="0">
                        <a:spcBef>
                          <a:spcPts val="0"/>
                        </a:spcBef>
                        <a:spcAft>
                          <a:spcPts val="0"/>
                        </a:spcAft>
                        <a:buNone/>
                      </a:pPr>
                      <a:r>
                        <a:rPr lang="es-419" b="1">
                          <a:latin typeface="Space Grotesk"/>
                          <a:ea typeface="Space Grotesk"/>
                          <a:cs typeface="Space Grotesk"/>
                          <a:sym typeface="Space Grotesk"/>
                        </a:rPr>
                        <a:t>RUTA</a:t>
                      </a:r>
                      <a:endParaRPr b="1">
                        <a:latin typeface="Space Grotesk"/>
                        <a:ea typeface="Space Grotesk"/>
                        <a:cs typeface="Space Grotesk"/>
                        <a:sym typeface="Space Grotesk"/>
                      </a:endParaRPr>
                    </a:p>
                  </a:txBody>
                  <a:tcPr marL="91425" marR="91425" marT="91425" marB="91425"/>
                </a:tc>
                <a:tc>
                  <a:txBody>
                    <a:bodyPr/>
                    <a:lstStyle/>
                    <a:p>
                      <a:pPr marL="0" lvl="0" indent="0" algn="ctr" rtl="0">
                        <a:spcBef>
                          <a:spcPts val="0"/>
                        </a:spcBef>
                        <a:spcAft>
                          <a:spcPts val="0"/>
                        </a:spcAft>
                        <a:buNone/>
                      </a:pPr>
                      <a:r>
                        <a:rPr lang="es-419" b="1">
                          <a:latin typeface="Space Grotesk"/>
                          <a:ea typeface="Space Grotesk"/>
                          <a:cs typeface="Space Grotesk"/>
                          <a:sym typeface="Space Grotesk"/>
                        </a:rPr>
                        <a:t>RESP. CORRECTA</a:t>
                      </a:r>
                      <a:endParaRPr b="1">
                        <a:latin typeface="Space Grotesk"/>
                        <a:ea typeface="Space Grotesk"/>
                        <a:cs typeface="Space Grotesk"/>
                        <a:sym typeface="Space Grotesk"/>
                      </a:endParaRPr>
                    </a:p>
                  </a:txBody>
                  <a:tcPr marL="91425" marR="91425" marT="91425" marB="91425"/>
                </a:tc>
                <a:tc>
                  <a:txBody>
                    <a:bodyPr/>
                    <a:lstStyle/>
                    <a:p>
                      <a:pPr marL="0" lvl="0" indent="0" algn="ctr" rtl="0">
                        <a:spcBef>
                          <a:spcPts val="0"/>
                        </a:spcBef>
                        <a:spcAft>
                          <a:spcPts val="0"/>
                        </a:spcAft>
                        <a:buNone/>
                      </a:pPr>
                      <a:r>
                        <a:rPr lang="es-419" b="1">
                          <a:latin typeface="Space Grotesk"/>
                          <a:ea typeface="Space Grotesk"/>
                          <a:cs typeface="Space Grotesk"/>
                          <a:sym typeface="Space Grotesk"/>
                        </a:rPr>
                        <a:t>RESP. ERRÓNEA</a:t>
                      </a:r>
                      <a:endParaRPr b="1">
                        <a:latin typeface="Space Grotesk"/>
                        <a:ea typeface="Space Grotesk"/>
                        <a:cs typeface="Space Grotesk"/>
                        <a:sym typeface="Space Grotesk"/>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419">
                          <a:latin typeface="Space Grotesk"/>
                          <a:ea typeface="Space Grotesk"/>
                          <a:cs typeface="Space Grotesk"/>
                          <a:sym typeface="Space Grotesk"/>
                        </a:rPr>
                        <a:t>Obtener - GET</a:t>
                      </a:r>
                      <a:endParaRPr>
                        <a:latin typeface="Space Grotesk"/>
                        <a:ea typeface="Space Grotesk"/>
                        <a:cs typeface="Space Grotesk"/>
                        <a:sym typeface="Space Grotesk"/>
                      </a:endParaRPr>
                    </a:p>
                  </a:txBody>
                  <a:tcPr marL="91425" marR="91425" marT="91425" marB="91425">
                    <a:solidFill>
                      <a:srgbClr val="FFF2CC"/>
                    </a:solidFill>
                  </a:tcPr>
                </a:tc>
                <a:tc>
                  <a:txBody>
                    <a:bodyPr/>
                    <a:lstStyle/>
                    <a:p>
                      <a:pPr marL="0" lvl="0" indent="0" algn="l" rtl="0">
                        <a:spcBef>
                          <a:spcPts val="0"/>
                        </a:spcBef>
                        <a:spcAft>
                          <a:spcPts val="0"/>
                        </a:spcAft>
                        <a:buNone/>
                      </a:pPr>
                      <a:r>
                        <a:rPr lang="es-419">
                          <a:latin typeface="Space Grotesk"/>
                          <a:ea typeface="Space Grotesk"/>
                          <a:cs typeface="Space Grotesk"/>
                          <a:sym typeface="Space Grotesk"/>
                        </a:rPr>
                        <a:t>/product/</a:t>
                      </a:r>
                      <a:endParaRPr>
                        <a:latin typeface="Space Grotesk"/>
                        <a:ea typeface="Space Grotesk"/>
                        <a:cs typeface="Space Grotesk"/>
                        <a:sym typeface="Space Grotesk"/>
                      </a:endParaRPr>
                    </a:p>
                  </a:txBody>
                  <a:tcPr marL="91425" marR="91425" marT="91425" marB="91425">
                    <a:solidFill>
                      <a:srgbClr val="FFF2CC"/>
                    </a:solidFill>
                  </a:tcPr>
                </a:tc>
                <a:tc>
                  <a:txBody>
                    <a:bodyPr/>
                    <a:lstStyle/>
                    <a:p>
                      <a:pPr marL="0" lvl="0" indent="0" algn="l" rtl="0">
                        <a:spcBef>
                          <a:spcPts val="0"/>
                        </a:spcBef>
                        <a:spcAft>
                          <a:spcPts val="0"/>
                        </a:spcAft>
                        <a:buNone/>
                      </a:pPr>
                      <a:r>
                        <a:rPr lang="es-419">
                          <a:latin typeface="Space Grotesk"/>
                          <a:ea typeface="Space Grotesk"/>
                          <a:cs typeface="Space Grotesk"/>
                          <a:sym typeface="Space Grotesk"/>
                        </a:rPr>
                        <a:t>200 OK</a:t>
                      </a:r>
                      <a:endParaRPr>
                        <a:latin typeface="Space Grotesk"/>
                        <a:ea typeface="Space Grotesk"/>
                        <a:cs typeface="Space Grotesk"/>
                        <a:sym typeface="Space Grotesk"/>
                      </a:endParaRPr>
                    </a:p>
                  </a:txBody>
                  <a:tcPr marL="91425" marR="91425" marT="91425" marB="91425">
                    <a:solidFill>
                      <a:srgbClr val="FFF2CC"/>
                    </a:solidFill>
                  </a:tcPr>
                </a:tc>
                <a:tc>
                  <a:txBody>
                    <a:bodyPr/>
                    <a:lstStyle/>
                    <a:p>
                      <a:pPr marL="0" lvl="0" indent="0" algn="l" rtl="0">
                        <a:spcBef>
                          <a:spcPts val="0"/>
                        </a:spcBef>
                        <a:spcAft>
                          <a:spcPts val="0"/>
                        </a:spcAft>
                        <a:buNone/>
                      </a:pPr>
                      <a:r>
                        <a:rPr lang="es-419">
                          <a:latin typeface="Space Grotesk"/>
                          <a:ea typeface="Space Grotesk"/>
                          <a:cs typeface="Space Grotesk"/>
                          <a:sym typeface="Space Grotesk"/>
                        </a:rPr>
                        <a:t>404 Not found</a:t>
                      </a:r>
                      <a:endParaRPr>
                        <a:latin typeface="Space Grotesk"/>
                        <a:ea typeface="Space Grotesk"/>
                        <a:cs typeface="Space Grotesk"/>
                        <a:sym typeface="Space Grotesk"/>
                      </a:endParaRPr>
                    </a:p>
                  </a:txBody>
                  <a:tcPr marL="91425" marR="91425" marT="91425" marB="91425">
                    <a:solidFill>
                      <a:srgbClr val="FFF2CC"/>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419">
                          <a:latin typeface="Space Grotesk"/>
                          <a:ea typeface="Space Grotesk"/>
                          <a:cs typeface="Space Grotesk"/>
                          <a:sym typeface="Space Grotesk"/>
                        </a:rPr>
                        <a:t>Obtener - GET</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/product/{id}</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200 OK</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404 Not found</a:t>
                      </a:r>
                      <a:endParaRPr>
                        <a:latin typeface="Space Grotesk"/>
                        <a:ea typeface="Space Grotesk"/>
                        <a:cs typeface="Space Grotesk"/>
                        <a:sym typeface="Space Grotesk"/>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419">
                          <a:latin typeface="Space Grotesk"/>
                          <a:ea typeface="Space Grotesk"/>
                          <a:cs typeface="Space Grotesk"/>
                          <a:sym typeface="Space Grotesk"/>
                        </a:rPr>
                        <a:t>Crear - POST</a:t>
                      </a:r>
                      <a:endParaRPr>
                        <a:latin typeface="Space Grotesk"/>
                        <a:ea typeface="Space Grotesk"/>
                        <a:cs typeface="Space Grotesk"/>
                        <a:sym typeface="Space Grotesk"/>
                      </a:endParaRPr>
                    </a:p>
                  </a:txBody>
                  <a:tcPr marL="91425" marR="91425" marT="91425" marB="91425">
                    <a:solidFill>
                      <a:srgbClr val="FFF2CC"/>
                    </a:solidFill>
                  </a:tcPr>
                </a:tc>
                <a:tc>
                  <a:txBody>
                    <a:bodyPr/>
                    <a:lstStyle/>
                    <a:p>
                      <a:pPr marL="0" lvl="0" indent="0" algn="l" rtl="0">
                        <a:spcBef>
                          <a:spcPts val="0"/>
                        </a:spcBef>
                        <a:spcAft>
                          <a:spcPts val="0"/>
                        </a:spcAft>
                        <a:buNone/>
                      </a:pPr>
                      <a:r>
                        <a:rPr lang="es-419">
                          <a:latin typeface="Space Grotesk"/>
                          <a:ea typeface="Space Grotesk"/>
                          <a:cs typeface="Space Grotesk"/>
                          <a:sym typeface="Space Grotesk"/>
                        </a:rPr>
                        <a:t>/product/</a:t>
                      </a:r>
                      <a:endParaRPr>
                        <a:latin typeface="Space Grotesk"/>
                        <a:ea typeface="Space Grotesk"/>
                        <a:cs typeface="Space Grotesk"/>
                        <a:sym typeface="Space Grotesk"/>
                      </a:endParaRPr>
                    </a:p>
                  </a:txBody>
                  <a:tcPr marL="91425" marR="91425" marT="91425" marB="91425">
                    <a:solidFill>
                      <a:srgbClr val="FFF2CC"/>
                    </a:solidFill>
                  </a:tcPr>
                </a:tc>
                <a:tc>
                  <a:txBody>
                    <a:bodyPr/>
                    <a:lstStyle/>
                    <a:p>
                      <a:pPr marL="0" lvl="0" indent="0" algn="l" rtl="0">
                        <a:spcBef>
                          <a:spcPts val="0"/>
                        </a:spcBef>
                        <a:spcAft>
                          <a:spcPts val="0"/>
                        </a:spcAft>
                        <a:buNone/>
                      </a:pPr>
                      <a:r>
                        <a:rPr lang="es-419">
                          <a:latin typeface="Space Grotesk"/>
                          <a:ea typeface="Space Grotesk"/>
                          <a:cs typeface="Space Grotesk"/>
                          <a:sym typeface="Space Grotesk"/>
                        </a:rPr>
                        <a:t>201 Created</a:t>
                      </a:r>
                      <a:endParaRPr>
                        <a:latin typeface="Space Grotesk"/>
                        <a:ea typeface="Space Grotesk"/>
                        <a:cs typeface="Space Grotesk"/>
                        <a:sym typeface="Space Grotesk"/>
                      </a:endParaRPr>
                    </a:p>
                  </a:txBody>
                  <a:tcPr marL="91425" marR="91425" marT="91425" marB="91425">
                    <a:solidFill>
                      <a:srgbClr val="FFF2CC"/>
                    </a:solidFill>
                  </a:tcPr>
                </a:tc>
                <a:tc>
                  <a:txBody>
                    <a:bodyPr/>
                    <a:lstStyle/>
                    <a:p>
                      <a:pPr marL="0" lvl="0" indent="0" algn="l" rtl="0">
                        <a:spcBef>
                          <a:spcPts val="0"/>
                        </a:spcBef>
                        <a:spcAft>
                          <a:spcPts val="0"/>
                        </a:spcAft>
                        <a:buNone/>
                      </a:pPr>
                      <a:r>
                        <a:rPr lang="es-419">
                          <a:latin typeface="Space Grotesk"/>
                          <a:ea typeface="Space Grotesk"/>
                          <a:cs typeface="Space Grotesk"/>
                          <a:sym typeface="Space Grotesk"/>
                        </a:rPr>
                        <a:t>400 Bad Request</a:t>
                      </a:r>
                      <a:endParaRPr>
                        <a:latin typeface="Space Grotesk"/>
                        <a:ea typeface="Space Grotesk"/>
                        <a:cs typeface="Space Grotesk"/>
                        <a:sym typeface="Space Grotesk"/>
                      </a:endParaRPr>
                    </a:p>
                  </a:txBody>
                  <a:tcPr marL="91425" marR="91425" marT="91425" marB="91425">
                    <a:solidFill>
                      <a:srgbClr val="FFF2CC"/>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419">
                          <a:latin typeface="Space Grotesk"/>
                          <a:ea typeface="Space Grotesk"/>
                          <a:cs typeface="Space Grotesk"/>
                          <a:sym typeface="Space Grotesk"/>
                        </a:rPr>
                        <a:t>Actualizar - PUT</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/product/{id}</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200 OK</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400 Bad Request</a:t>
                      </a:r>
                      <a:endParaRPr>
                        <a:latin typeface="Space Grotesk"/>
                        <a:ea typeface="Space Grotesk"/>
                        <a:cs typeface="Space Grotesk"/>
                        <a:sym typeface="Space Grotesk"/>
                      </a:endParaRPr>
                    </a:p>
                    <a:p>
                      <a:pPr marL="0" lvl="0" indent="0" algn="l" rtl="0">
                        <a:spcBef>
                          <a:spcPts val="0"/>
                        </a:spcBef>
                        <a:spcAft>
                          <a:spcPts val="0"/>
                        </a:spcAft>
                        <a:buNone/>
                      </a:pPr>
                      <a:r>
                        <a:rPr lang="es-419">
                          <a:latin typeface="Space Grotesk"/>
                          <a:ea typeface="Space Grotesk"/>
                          <a:cs typeface="Space Grotesk"/>
                          <a:sym typeface="Space Grotesk"/>
                        </a:rPr>
                        <a:t>404 Not found</a:t>
                      </a:r>
                      <a:endParaRPr>
                        <a:latin typeface="Space Grotesk"/>
                        <a:ea typeface="Space Grotesk"/>
                        <a:cs typeface="Space Grotesk"/>
                        <a:sym typeface="Space Grotesk"/>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419">
                          <a:latin typeface="Space Grotesk"/>
                          <a:ea typeface="Space Grotesk"/>
                          <a:cs typeface="Space Grotesk"/>
                          <a:sym typeface="Space Grotesk"/>
                        </a:rPr>
                        <a:t>Borrar</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/product/{id}</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204 No content</a:t>
                      </a:r>
                      <a:endParaRPr>
                        <a:latin typeface="Space Grotesk"/>
                        <a:ea typeface="Space Grotesk"/>
                        <a:cs typeface="Space Grotesk"/>
                        <a:sym typeface="Space Grotesk"/>
                      </a:endParaRPr>
                    </a:p>
                  </a:txBody>
                  <a:tcPr marL="91425" marR="91425" marT="91425" marB="91425"/>
                </a:tc>
                <a:tc>
                  <a:txBody>
                    <a:bodyPr/>
                    <a:lstStyle/>
                    <a:p>
                      <a:pPr marL="0" lvl="0" indent="0" algn="l" rtl="0">
                        <a:spcBef>
                          <a:spcPts val="0"/>
                        </a:spcBef>
                        <a:spcAft>
                          <a:spcPts val="0"/>
                        </a:spcAft>
                        <a:buNone/>
                      </a:pPr>
                      <a:r>
                        <a:rPr lang="es-419">
                          <a:latin typeface="Space Grotesk"/>
                          <a:ea typeface="Space Grotesk"/>
                          <a:cs typeface="Space Grotesk"/>
                          <a:sym typeface="Space Grotesk"/>
                        </a:rPr>
                        <a:t>404 Not found</a:t>
                      </a:r>
                      <a:endParaRPr>
                        <a:latin typeface="Space Grotesk"/>
                        <a:ea typeface="Space Grotesk"/>
                        <a:cs typeface="Space Grotesk"/>
                        <a:sym typeface="Space Grotesk"/>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9"/>
        <p:cNvGrpSpPr/>
        <p:nvPr/>
      </p:nvGrpSpPr>
      <p:grpSpPr>
        <a:xfrm>
          <a:off x="0" y="0"/>
          <a:ext cx="0" cy="0"/>
          <a:chOff x="0" y="0"/>
          <a:chExt cx="0" cy="0"/>
        </a:xfrm>
      </p:grpSpPr>
      <p:sp>
        <p:nvSpPr>
          <p:cNvPr id="610" name="Google Shape;610;p94"/>
          <p:cNvSpPr txBox="1">
            <a:spLocks noGrp="1"/>
          </p:cNvSpPr>
          <p:nvPr>
            <p:ph type="title"/>
          </p:nvPr>
        </p:nvSpPr>
        <p:spPr>
          <a:xfrm>
            <a:off x="2094900" y="1718850"/>
            <a:ext cx="4954200" cy="8418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r>
              <a:rPr lang="es-419" sz="3200"/>
              <a:t>MÉTODOS DE UN CONTROLADOR</a:t>
            </a:r>
            <a:endParaRPr sz="3200" b="1">
              <a:solidFill>
                <a:srgbClr val="F63D68"/>
              </a:solidFill>
              <a:latin typeface="Space Grotesk"/>
              <a:ea typeface="Space Grotesk"/>
              <a:cs typeface="Space Grotesk"/>
              <a:sym typeface="Space Grotesk"/>
            </a:endParaRPr>
          </a:p>
        </p:txBody>
      </p:sp>
      <p:sp>
        <p:nvSpPr>
          <p:cNvPr id="611" name="Google Shape;611;p94"/>
          <p:cNvSpPr txBox="1">
            <a:spLocks noGrp="1"/>
          </p:cNvSpPr>
          <p:nvPr>
            <p:ph type="title" idx="2"/>
          </p:nvPr>
        </p:nvSpPr>
        <p:spPr>
          <a:xfrm>
            <a:off x="2094900" y="2789250"/>
            <a:ext cx="4954200" cy="559200"/>
          </a:xfrm>
          <a:prstGeom prst="rect">
            <a:avLst/>
          </a:prstGeom>
        </p:spPr>
        <p:txBody>
          <a:bodyPr spcFirstLastPara="1" wrap="square" lIns="91650" tIns="91650" rIns="91650" bIns="91650" anchor="ctr" anchorCtr="0">
            <a:noAutofit/>
          </a:bodyPr>
          <a:lstStyle/>
          <a:p>
            <a:pPr marL="0" lvl="0" indent="0" algn="ctr" rtl="0">
              <a:spcBef>
                <a:spcPts val="0"/>
              </a:spcBef>
              <a:spcAft>
                <a:spcPts val="0"/>
              </a:spcAft>
              <a:buNone/>
            </a:pP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5"/>
        <p:cNvGrpSpPr/>
        <p:nvPr/>
      </p:nvGrpSpPr>
      <p:grpSpPr>
        <a:xfrm>
          <a:off x="0" y="0"/>
          <a:ext cx="0" cy="0"/>
          <a:chOff x="0" y="0"/>
          <a:chExt cx="0" cy="0"/>
        </a:xfrm>
      </p:grpSpPr>
      <p:sp>
        <p:nvSpPr>
          <p:cNvPr id="616" name="Google Shape;616;p95"/>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HASTA AHORA</a:t>
            </a:r>
            <a:endParaRPr sz="3000" b="1">
              <a:solidFill>
                <a:srgbClr val="F63D68"/>
              </a:solidFill>
              <a:latin typeface="Space Grotesk"/>
              <a:ea typeface="Space Grotesk"/>
              <a:cs typeface="Space Grotesk"/>
              <a:sym typeface="Space Grotesk"/>
            </a:endParaRPr>
          </a:p>
        </p:txBody>
      </p:sp>
      <p:sp>
        <p:nvSpPr>
          <p:cNvPr id="617" name="Google Shape;617;p95"/>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Cada método sirve para un endpoint</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Entrada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Cuerpo de petición @RequestBody</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Salida</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ResponseEntity&lt;?&gt;</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1"/>
        <p:cNvGrpSpPr/>
        <p:nvPr/>
      </p:nvGrpSpPr>
      <p:grpSpPr>
        <a:xfrm>
          <a:off x="0" y="0"/>
          <a:ext cx="0" cy="0"/>
          <a:chOff x="0" y="0"/>
          <a:chExt cx="0" cy="0"/>
        </a:xfrm>
      </p:grpSpPr>
      <p:sp>
        <p:nvSpPr>
          <p:cNvPr id="622" name="Google Shape;622;p96"/>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OTRAS ENTRADAS DATOS</a:t>
            </a:r>
            <a:endParaRPr sz="3000" b="1">
              <a:solidFill>
                <a:srgbClr val="F63D68"/>
              </a:solidFill>
              <a:latin typeface="Space Grotesk"/>
              <a:ea typeface="Space Grotesk"/>
              <a:cs typeface="Space Grotesk"/>
              <a:sym typeface="Space Grotesk"/>
            </a:endParaRPr>
          </a:p>
        </p:txBody>
      </p:sp>
      <p:sp>
        <p:nvSpPr>
          <p:cNvPr id="623" name="Google Shape;623;p96"/>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PathVariable</a:t>
            </a:r>
            <a:endParaRPr sz="2000">
              <a:solidFill>
                <a:srgbClr val="1D2939"/>
              </a:solidFill>
              <a:latin typeface="Space Grotesk"/>
              <a:ea typeface="Space Grotesk"/>
              <a:cs typeface="Space Grotesk"/>
              <a:sym typeface="Space Grotesk"/>
            </a:endParaRPr>
          </a:p>
          <a:p>
            <a:pPr marL="457200" lvl="1" indent="-228600" algn="l" rtl="0">
              <a:lnSpc>
                <a:spcPct val="115000"/>
              </a:lnSpc>
              <a:spcBef>
                <a:spcPts val="1500"/>
              </a:spcBef>
              <a:spcAft>
                <a:spcPts val="0"/>
              </a:spcAft>
              <a:buClr>
                <a:srgbClr val="1D2939"/>
              </a:buClr>
              <a:buSzPts val="1800"/>
              <a:buFont typeface="Space Grotesk"/>
              <a:buChar char="○"/>
            </a:pPr>
            <a:r>
              <a:rPr lang="es-419" sz="1800">
                <a:solidFill>
                  <a:srgbClr val="1D2939"/>
                </a:solidFill>
                <a:latin typeface="Space Grotesk"/>
                <a:ea typeface="Space Grotesk"/>
                <a:cs typeface="Space Grotesk"/>
                <a:sym typeface="Space Grotesk"/>
              </a:rPr>
              <a:t>/product/</a:t>
            </a:r>
            <a:r>
              <a:rPr lang="es-419" sz="1800" b="1">
                <a:solidFill>
                  <a:srgbClr val="1D2939"/>
                </a:solidFill>
                <a:latin typeface="Space Grotesk"/>
                <a:ea typeface="Space Grotesk"/>
                <a:cs typeface="Space Grotesk"/>
                <a:sym typeface="Space Grotesk"/>
              </a:rPr>
              <a:t>{id}</a:t>
            </a:r>
            <a:endParaRPr sz="1800" b="1">
              <a:solidFill>
                <a:srgbClr val="1D2939"/>
              </a:solidFill>
              <a:latin typeface="Space Grotesk"/>
              <a:ea typeface="Space Grotesk"/>
              <a:cs typeface="Space Grotesk"/>
              <a:sym typeface="Space Grotesk"/>
            </a:endParaRPr>
          </a:p>
          <a:p>
            <a:pPr marL="457200" lvl="1" indent="-228600" algn="l" rtl="0">
              <a:lnSpc>
                <a:spcPct val="115000"/>
              </a:lnSpc>
              <a:spcBef>
                <a:spcPts val="1500"/>
              </a:spcBef>
              <a:spcAft>
                <a:spcPts val="0"/>
              </a:spcAft>
              <a:buClr>
                <a:srgbClr val="1D2939"/>
              </a:buClr>
              <a:buSzPts val="1800"/>
              <a:buFont typeface="Space Grotesk"/>
              <a:buChar char="○"/>
            </a:pPr>
            <a:r>
              <a:rPr lang="es-419" sz="1800">
                <a:solidFill>
                  <a:srgbClr val="1D2939"/>
                </a:solidFill>
                <a:latin typeface="Space Grotesk"/>
                <a:ea typeface="Space Grotesk"/>
                <a:cs typeface="Space Grotesk"/>
                <a:sym typeface="Space Grotesk"/>
              </a:rPr>
              <a:t>/post/</a:t>
            </a:r>
            <a:r>
              <a:rPr lang="es-419" sz="1800" b="1">
                <a:solidFill>
                  <a:srgbClr val="1D2939"/>
                </a:solidFill>
                <a:latin typeface="Space Grotesk"/>
                <a:ea typeface="Space Grotesk"/>
                <a:cs typeface="Space Grotesk"/>
                <a:sym typeface="Space Grotesk"/>
              </a:rPr>
              <a:t>{postId}</a:t>
            </a:r>
            <a:r>
              <a:rPr lang="es-419" sz="1800">
                <a:solidFill>
                  <a:srgbClr val="1D2939"/>
                </a:solidFill>
                <a:latin typeface="Space Grotesk"/>
                <a:ea typeface="Space Grotesk"/>
                <a:cs typeface="Space Grotesk"/>
                <a:sym typeface="Space Grotesk"/>
              </a:rPr>
              <a:t>/comment/</a:t>
            </a:r>
            <a:r>
              <a:rPr lang="es-419" sz="1800" b="1">
                <a:solidFill>
                  <a:srgbClr val="1D2939"/>
                </a:solidFill>
                <a:latin typeface="Space Grotesk"/>
                <a:ea typeface="Space Grotesk"/>
                <a:cs typeface="Space Grotesk"/>
                <a:sym typeface="Space Grotesk"/>
              </a:rPr>
              <a:t>{commentId}</a:t>
            </a:r>
            <a:endParaRPr sz="1800" b="1">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7"/>
        <p:cNvGrpSpPr/>
        <p:nvPr/>
      </p:nvGrpSpPr>
      <p:grpSpPr>
        <a:xfrm>
          <a:off x="0" y="0"/>
          <a:ext cx="0" cy="0"/>
          <a:chOff x="0" y="0"/>
          <a:chExt cx="0" cy="0"/>
        </a:xfrm>
      </p:grpSpPr>
      <p:sp>
        <p:nvSpPr>
          <p:cNvPr id="628" name="Google Shape;628;p97"/>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OTRAS ENTRADAS DATOS</a:t>
            </a:r>
            <a:endParaRPr sz="3000" b="1">
              <a:solidFill>
                <a:srgbClr val="F63D68"/>
              </a:solidFill>
              <a:latin typeface="Space Grotesk"/>
              <a:ea typeface="Space Grotesk"/>
              <a:cs typeface="Space Grotesk"/>
              <a:sym typeface="Space Grotesk"/>
            </a:endParaRPr>
          </a:p>
        </p:txBody>
      </p:sp>
      <p:sp>
        <p:nvSpPr>
          <p:cNvPr id="629" name="Google Shape;629;p97"/>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RequestParams</a:t>
            </a:r>
            <a:endParaRPr sz="2000">
              <a:solidFill>
                <a:srgbClr val="1D2939"/>
              </a:solidFill>
              <a:latin typeface="Space Grotesk"/>
              <a:ea typeface="Space Grotesk"/>
              <a:cs typeface="Space Grotesk"/>
              <a:sym typeface="Space Grotesk"/>
            </a:endParaRPr>
          </a:p>
          <a:p>
            <a:pPr marL="457200" lvl="1" indent="-228600" algn="l" rtl="0">
              <a:lnSpc>
                <a:spcPct val="115000"/>
              </a:lnSpc>
              <a:spcBef>
                <a:spcPts val="1500"/>
              </a:spcBef>
              <a:spcAft>
                <a:spcPts val="0"/>
              </a:spcAft>
              <a:buClr>
                <a:srgbClr val="1D2939"/>
              </a:buClr>
              <a:buSzPts val="1800"/>
              <a:buFont typeface="Space Grotesk"/>
              <a:buChar char="○"/>
            </a:pPr>
            <a:r>
              <a:rPr lang="es-419" sz="1800">
                <a:solidFill>
                  <a:srgbClr val="1D2939"/>
                </a:solidFill>
                <a:latin typeface="Space Grotesk"/>
                <a:ea typeface="Space Grotesk"/>
                <a:cs typeface="Space Grotesk"/>
                <a:sym typeface="Space Grotesk"/>
              </a:rPr>
              <a:t>/product/?maxPrice=23.45&amp;sort=desc</a:t>
            </a:r>
            <a:endParaRPr sz="18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3"/>
        <p:cNvGrpSpPr/>
        <p:nvPr/>
      </p:nvGrpSpPr>
      <p:grpSpPr>
        <a:xfrm>
          <a:off x="0" y="0"/>
          <a:ext cx="0" cy="0"/>
          <a:chOff x="0" y="0"/>
          <a:chExt cx="0" cy="0"/>
        </a:xfrm>
      </p:grpSpPr>
      <p:sp>
        <p:nvSpPr>
          <p:cNvPr id="634" name="Google Shape;634;p98"/>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@PATHVARIABLE</a:t>
            </a:r>
            <a:endParaRPr sz="3000" b="1">
              <a:solidFill>
                <a:srgbClr val="F63D68"/>
              </a:solidFill>
              <a:latin typeface="Space Grotesk"/>
              <a:ea typeface="Space Grotesk"/>
              <a:cs typeface="Space Grotesk"/>
              <a:sym typeface="Space Grotesk"/>
            </a:endParaRPr>
          </a:p>
        </p:txBody>
      </p:sp>
      <p:sp>
        <p:nvSpPr>
          <p:cNvPr id="635" name="Google Shape;635;p98"/>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Sirve para inyectar un path variable como argumento de método. </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pic>
        <p:nvPicPr>
          <p:cNvPr id="636" name="Google Shape;636;p98"/>
          <p:cNvPicPr preferRelativeResize="0"/>
          <p:nvPr/>
        </p:nvPicPr>
        <p:blipFill>
          <a:blip r:embed="rId3">
            <a:alphaModFix/>
          </a:blip>
          <a:stretch>
            <a:fillRect/>
          </a:stretch>
        </p:blipFill>
        <p:spPr>
          <a:xfrm>
            <a:off x="2215726" y="3039546"/>
            <a:ext cx="5420899" cy="1360025"/>
          </a:xfrm>
          <a:prstGeom prst="rect">
            <a:avLst/>
          </a:prstGeom>
          <a:noFill/>
          <a:ln>
            <a:noFill/>
          </a:ln>
        </p:spPr>
      </p:pic>
      <p:sp>
        <p:nvSpPr>
          <p:cNvPr id="637" name="Google Shape;637;p98"/>
          <p:cNvSpPr/>
          <p:nvPr/>
        </p:nvSpPr>
        <p:spPr>
          <a:xfrm>
            <a:off x="3199025" y="2999700"/>
            <a:ext cx="572700" cy="362100"/>
          </a:xfrm>
          <a:prstGeom prst="ellipse">
            <a:avLst/>
          </a:prstGeom>
          <a:noFill/>
          <a:ln w="9525" cap="flat" cmpd="sng">
            <a:solidFill>
              <a:srgbClr val="1D293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8" name="Google Shape;638;p98"/>
          <p:cNvSpPr/>
          <p:nvPr/>
        </p:nvSpPr>
        <p:spPr>
          <a:xfrm>
            <a:off x="3685275" y="2930670"/>
            <a:ext cx="1653275" cy="344575"/>
          </a:xfrm>
          <a:custGeom>
            <a:avLst/>
            <a:gdLst/>
            <a:ahLst/>
            <a:cxnLst/>
            <a:rect l="l" t="t" r="r" b="b"/>
            <a:pathLst>
              <a:path w="66131" h="13783" extrusionOk="0">
                <a:moveTo>
                  <a:pt x="0" y="3841"/>
                </a:moveTo>
                <a:cubicBezTo>
                  <a:pt x="5583" y="3265"/>
                  <a:pt x="22475" y="-1273"/>
                  <a:pt x="33497" y="384"/>
                </a:cubicBezTo>
                <a:cubicBezTo>
                  <a:pt x="44519" y="2041"/>
                  <a:pt x="60692" y="11550"/>
                  <a:pt x="66131" y="13783"/>
                </a:cubicBezTo>
              </a:path>
            </a:pathLst>
          </a:custGeom>
          <a:noFill/>
          <a:ln w="9525" cap="flat" cmpd="sng">
            <a:solidFill>
              <a:schemeClr val="dk2"/>
            </a:solidFill>
            <a:prstDash val="solid"/>
            <a:round/>
            <a:headEnd type="none" w="med" len="med"/>
            <a:tailEnd type="triangle" w="med" len="med"/>
          </a:ln>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2"/>
        <p:cNvGrpSpPr/>
        <p:nvPr/>
      </p:nvGrpSpPr>
      <p:grpSpPr>
        <a:xfrm>
          <a:off x="0" y="0"/>
          <a:ext cx="0" cy="0"/>
          <a:chOff x="0" y="0"/>
          <a:chExt cx="0" cy="0"/>
        </a:xfrm>
      </p:grpSpPr>
      <p:sp>
        <p:nvSpPr>
          <p:cNvPr id="643" name="Google Shape;643;p99"/>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@PATHVARIABLE</a:t>
            </a:r>
            <a:endParaRPr sz="3000" b="1">
              <a:solidFill>
                <a:srgbClr val="F63D68"/>
              </a:solidFill>
              <a:latin typeface="Space Grotesk"/>
              <a:ea typeface="Space Grotesk"/>
              <a:cs typeface="Space Grotesk"/>
              <a:sym typeface="Space Grotesk"/>
            </a:endParaRPr>
          </a:p>
        </p:txBody>
      </p:sp>
      <p:sp>
        <p:nvSpPr>
          <p:cNvPr id="644" name="Google Shape;644;p99"/>
          <p:cNvSpPr txBox="1"/>
          <p:nvPr/>
        </p:nvSpPr>
        <p:spPr>
          <a:xfrm>
            <a:off x="2121950" y="1683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b="1">
                <a:solidFill>
                  <a:srgbClr val="1D2939"/>
                </a:solidFill>
                <a:latin typeface="Space Grotesk"/>
                <a:ea typeface="Space Grotesk"/>
                <a:cs typeface="Space Grotesk"/>
                <a:sym typeface="Space Grotesk"/>
              </a:rPr>
              <a:t>PathPattern </a:t>
            </a:r>
            <a:r>
              <a:rPr lang="es-419" sz="2000">
                <a:solidFill>
                  <a:srgbClr val="1D2939"/>
                </a:solidFill>
                <a:latin typeface="Space Grotesk"/>
                <a:ea typeface="Space Grotesk"/>
                <a:cs typeface="Space Grotesk"/>
                <a:sym typeface="Space Grotesk"/>
              </a:rPr>
              <a:t>permite que se usen expresiones complejas para rescatar una variable</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{var:regex} → @PathVariable(“var”)</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/product/{id:[0-9]+}</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8"/>
        <p:cNvGrpSpPr/>
        <p:nvPr/>
      </p:nvGrpSpPr>
      <p:grpSpPr>
        <a:xfrm>
          <a:off x="0" y="0"/>
          <a:ext cx="0" cy="0"/>
          <a:chOff x="0" y="0"/>
          <a:chExt cx="0" cy="0"/>
        </a:xfrm>
      </p:grpSpPr>
      <p:sp>
        <p:nvSpPr>
          <p:cNvPr id="649" name="Google Shape;649;p100"/>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QUERY DE UNA URL</a:t>
            </a:r>
            <a:endParaRPr sz="3000" b="1">
              <a:solidFill>
                <a:srgbClr val="F63D68"/>
              </a:solidFill>
              <a:latin typeface="Space Grotesk"/>
              <a:ea typeface="Space Grotesk"/>
              <a:cs typeface="Space Grotesk"/>
              <a:sym typeface="Space Grotesk"/>
            </a:endParaRPr>
          </a:p>
        </p:txBody>
      </p:sp>
      <p:sp>
        <p:nvSpPr>
          <p:cNvPr id="650" name="Google Shape;650;p100"/>
          <p:cNvSpPr txBox="1"/>
          <p:nvPr/>
        </p:nvSpPr>
        <p:spPr>
          <a:xfrm>
            <a:off x="2121950" y="17600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A continuación de ?</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Pares key=value separados por &amp;</a:t>
            </a:r>
            <a:endParaRPr sz="2000">
              <a:solidFill>
                <a:srgbClr val="1D2939"/>
              </a:solidFill>
              <a:latin typeface="Space Grotesk"/>
              <a:ea typeface="Space Grotesk"/>
              <a:cs typeface="Space Grotesk"/>
              <a:sym typeface="Space Grotesk"/>
            </a:endParaRPr>
          </a:p>
          <a:p>
            <a:pPr marL="457200" lvl="0" indent="0" algn="l" rtl="0">
              <a:lnSpc>
                <a:spcPct val="115000"/>
              </a:lnSpc>
              <a:spcBef>
                <a:spcPts val="1500"/>
              </a:spcBef>
              <a:spcAft>
                <a:spcPts val="0"/>
              </a:spcAft>
              <a:buNone/>
            </a:pPr>
            <a:r>
              <a:rPr lang="es-419" sz="2000" b="1">
                <a:solidFill>
                  <a:srgbClr val="1D2939"/>
                </a:solidFill>
                <a:latin typeface="Space Grotesk"/>
                <a:ea typeface="Space Grotesk"/>
                <a:cs typeface="Space Grotesk"/>
                <a:sym typeface="Space Grotesk"/>
              </a:rPr>
              <a:t>/?sort=date</a:t>
            </a:r>
            <a:endParaRPr sz="2000" b="1">
              <a:solidFill>
                <a:srgbClr val="1D2939"/>
              </a:solidFill>
              <a:latin typeface="Space Grotesk"/>
              <a:ea typeface="Space Grotesk"/>
              <a:cs typeface="Space Grotesk"/>
              <a:sym typeface="Space Grotesk"/>
            </a:endParaRPr>
          </a:p>
          <a:p>
            <a:pPr marL="457200" lvl="0" indent="0" algn="l" rtl="0">
              <a:lnSpc>
                <a:spcPct val="115000"/>
              </a:lnSpc>
              <a:spcBef>
                <a:spcPts val="1500"/>
              </a:spcBef>
              <a:spcAft>
                <a:spcPts val="0"/>
              </a:spcAft>
              <a:buNone/>
            </a:pPr>
            <a:r>
              <a:rPr lang="es-419" sz="2000" b="1">
                <a:solidFill>
                  <a:srgbClr val="1D2939"/>
                </a:solidFill>
                <a:latin typeface="Space Grotesk"/>
                <a:ea typeface="Space Grotesk"/>
                <a:cs typeface="Space Grotesk"/>
                <a:sym typeface="Space Grotesk"/>
              </a:rPr>
              <a:t>/?city=Sevilla&amp;date=April</a:t>
            </a:r>
            <a:endParaRPr sz="2000" b="1">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4"/>
        <p:cNvGrpSpPr/>
        <p:nvPr/>
      </p:nvGrpSpPr>
      <p:grpSpPr>
        <a:xfrm>
          <a:off x="0" y="0"/>
          <a:ext cx="0" cy="0"/>
          <a:chOff x="0" y="0"/>
          <a:chExt cx="0" cy="0"/>
        </a:xfrm>
      </p:grpSpPr>
      <p:sp>
        <p:nvSpPr>
          <p:cNvPr id="655" name="Google Shape;655;p101"/>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@REQUESTPARAM</a:t>
            </a:r>
            <a:endParaRPr sz="3000" b="1">
              <a:solidFill>
                <a:srgbClr val="F63D68"/>
              </a:solidFill>
              <a:latin typeface="Space Grotesk"/>
              <a:ea typeface="Space Grotesk"/>
              <a:cs typeface="Space Grotesk"/>
              <a:sym typeface="Space Grotesk"/>
            </a:endParaRPr>
          </a:p>
        </p:txBody>
      </p:sp>
      <p:sp>
        <p:nvSpPr>
          <p:cNvPr id="656" name="Google Shape;656;p101"/>
          <p:cNvSpPr txBox="1"/>
          <p:nvPr/>
        </p:nvSpPr>
        <p:spPr>
          <a:xfrm>
            <a:off x="2121950" y="1683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Permite rescatar un parámetros de la query</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@RequestParam</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required=false → no obligatorio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defaultValue=value → valor por defecto</a:t>
            </a:r>
            <a:endParaRPr sz="2000">
              <a:solidFill>
                <a:srgbClr val="1D2939"/>
              </a:solidFill>
              <a:latin typeface="Space Grotesk"/>
              <a:ea typeface="Space Grotesk"/>
              <a:cs typeface="Space Grotesk"/>
              <a:sym typeface="Space Grotesk"/>
            </a:endParaRPr>
          </a:p>
          <a:p>
            <a:pPr marL="45720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0"/>
        <p:cNvGrpSpPr/>
        <p:nvPr/>
      </p:nvGrpSpPr>
      <p:grpSpPr>
        <a:xfrm>
          <a:off x="0" y="0"/>
          <a:ext cx="0" cy="0"/>
          <a:chOff x="0" y="0"/>
          <a:chExt cx="0" cy="0"/>
        </a:xfrm>
      </p:grpSpPr>
      <p:sp>
        <p:nvSpPr>
          <p:cNvPr id="661" name="Google Shape;661;p102"/>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@REQUESTPARAM</a:t>
            </a:r>
            <a:endParaRPr sz="3000" b="1">
              <a:solidFill>
                <a:srgbClr val="F63D68"/>
              </a:solidFill>
              <a:latin typeface="Space Grotesk"/>
              <a:ea typeface="Space Grotesk"/>
              <a:cs typeface="Space Grotesk"/>
              <a:sym typeface="Space Grotesk"/>
            </a:endParaRPr>
          </a:p>
        </p:txBody>
      </p:sp>
      <p:sp>
        <p:nvSpPr>
          <p:cNvPr id="662" name="Google Shape;662;p102"/>
          <p:cNvSpPr txBox="1"/>
          <p:nvPr/>
        </p:nvSpPr>
        <p:spPr>
          <a:xfrm>
            <a:off x="2121950" y="16076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Usando Map&lt;String, String&gt; o MultiValueMap&lt;String,String&gt;</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Sin </a:t>
            </a:r>
            <a:r>
              <a:rPr lang="es-419" sz="2000" b="1">
                <a:solidFill>
                  <a:srgbClr val="1D2939"/>
                </a:solidFill>
                <a:latin typeface="Space Grotesk"/>
                <a:ea typeface="Space Grotesk"/>
                <a:cs typeface="Space Grotesk"/>
                <a:sym typeface="Space Grotesk"/>
              </a:rPr>
              <a:t>value </a:t>
            </a:r>
            <a:r>
              <a:rPr lang="es-419" sz="2000">
                <a:solidFill>
                  <a:srgbClr val="1D2939"/>
                </a:solidFill>
                <a:latin typeface="Space Grotesk"/>
                <a:ea typeface="Space Grotesk"/>
                <a:cs typeface="Space Grotesk"/>
                <a:sym typeface="Space Grotesk"/>
              </a:rPr>
              <a:t>en @RequestParam</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Permite rescatar todos los parámetros de la query de una vez</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6"/>
        <p:cNvGrpSpPr/>
        <p:nvPr/>
      </p:nvGrpSpPr>
      <p:grpSpPr>
        <a:xfrm>
          <a:off x="0" y="0"/>
          <a:ext cx="0" cy="0"/>
          <a:chOff x="0" y="0"/>
          <a:chExt cx="0" cy="0"/>
        </a:xfrm>
      </p:grpSpPr>
      <p:sp>
        <p:nvSpPr>
          <p:cNvPr id="667" name="Google Shape;667;p103"/>
          <p:cNvSpPr txBox="1"/>
          <p:nvPr/>
        </p:nvSpPr>
        <p:spPr>
          <a:xfrm>
            <a:off x="1827600" y="653000"/>
            <a:ext cx="5476200" cy="82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500"/>
              </a:spcAft>
              <a:buNone/>
            </a:pPr>
            <a:r>
              <a:rPr lang="es-419" sz="3000" b="1">
                <a:solidFill>
                  <a:srgbClr val="F63D68"/>
                </a:solidFill>
                <a:latin typeface="Space Grotesk"/>
                <a:ea typeface="Space Grotesk"/>
                <a:cs typeface="Space Grotesk"/>
                <a:sym typeface="Space Grotesk"/>
              </a:rPr>
              <a:t>VALORES DE RETORNO</a:t>
            </a:r>
            <a:endParaRPr sz="3000" b="1">
              <a:solidFill>
                <a:srgbClr val="F63D68"/>
              </a:solidFill>
              <a:latin typeface="Space Grotesk"/>
              <a:ea typeface="Space Grotesk"/>
              <a:cs typeface="Space Grotesk"/>
              <a:sym typeface="Space Grotesk"/>
            </a:endParaRPr>
          </a:p>
        </p:txBody>
      </p:sp>
      <p:sp>
        <p:nvSpPr>
          <p:cNvPr id="668" name="Google Shape;668;p103"/>
          <p:cNvSpPr txBox="1"/>
          <p:nvPr/>
        </p:nvSpPr>
        <p:spPr>
          <a:xfrm>
            <a:off x="2121950" y="2064850"/>
            <a:ext cx="4995900" cy="2424000"/>
          </a:xfrm>
          <a:prstGeom prst="rect">
            <a:avLst/>
          </a:prstGeom>
          <a:noFill/>
          <a:ln>
            <a:noFill/>
          </a:ln>
        </p:spPr>
        <p:txBody>
          <a:bodyPr spcFirstLastPara="1" wrap="square" lIns="91425" tIns="91425" rIns="91425" bIns="91425" anchor="t" anchorCtr="0">
            <a:noAutofit/>
          </a:bodyPr>
          <a:lstStyle/>
          <a:p>
            <a:pPr marL="228600" lvl="0" indent="-241300" algn="l" rtl="0">
              <a:lnSpc>
                <a:spcPct val="115000"/>
              </a:lnSpc>
              <a:spcBef>
                <a:spcPts val="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ResponseEntity</a:t>
            </a:r>
            <a:endParaRPr sz="2000">
              <a:solidFill>
                <a:srgbClr val="1D2939"/>
              </a:solidFill>
              <a:latin typeface="Space Grotesk"/>
              <a:ea typeface="Space Grotesk"/>
              <a:cs typeface="Space Grotesk"/>
              <a:sym typeface="Space Grotesk"/>
            </a:endParaRPr>
          </a:p>
          <a:p>
            <a:pPr marL="228600" lvl="0"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Clase POJO</a:t>
            </a:r>
            <a:endParaRPr sz="2000">
              <a:solidFill>
                <a:srgbClr val="1D2939"/>
              </a:solidFill>
              <a:latin typeface="Space Grotesk"/>
              <a:ea typeface="Space Grotesk"/>
              <a:cs typeface="Space Grotesk"/>
              <a:sym typeface="Space Grotesk"/>
            </a:endParaRPr>
          </a:p>
          <a:p>
            <a:pPr marL="457200" lvl="1" indent="-241300" algn="l" rtl="0">
              <a:lnSpc>
                <a:spcPct val="115000"/>
              </a:lnSpc>
              <a:spcBef>
                <a:spcPts val="1500"/>
              </a:spcBef>
              <a:spcAft>
                <a:spcPts val="0"/>
              </a:spcAft>
              <a:buClr>
                <a:srgbClr val="1D2939"/>
              </a:buClr>
              <a:buSzPts val="2000"/>
              <a:buFont typeface="Space Grotesk"/>
              <a:buChar char="○"/>
            </a:pPr>
            <a:r>
              <a:rPr lang="es-419" sz="2000">
                <a:solidFill>
                  <a:srgbClr val="1D2939"/>
                </a:solidFill>
                <a:latin typeface="Space Grotesk"/>
                <a:ea typeface="Space Grotesk"/>
                <a:cs typeface="Space Grotesk"/>
                <a:sym typeface="Space Grotesk"/>
              </a:rPr>
              <a:t>Status code 200 OK</a:t>
            </a: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0"/>
              </a:spcAft>
              <a:buNone/>
            </a:pPr>
            <a:endParaRPr sz="2000">
              <a:solidFill>
                <a:srgbClr val="1D2939"/>
              </a:solidFill>
              <a:latin typeface="Space Grotesk"/>
              <a:ea typeface="Space Grotesk"/>
              <a:cs typeface="Space Grotesk"/>
              <a:sym typeface="Space Grotesk"/>
            </a:endParaRPr>
          </a:p>
          <a:p>
            <a:pPr marL="0" lvl="0" indent="0" algn="l" rtl="0">
              <a:lnSpc>
                <a:spcPct val="115000"/>
              </a:lnSpc>
              <a:spcBef>
                <a:spcPts val="1500"/>
              </a:spcBef>
              <a:spcAft>
                <a:spcPts val="1500"/>
              </a:spcAft>
              <a:buNone/>
            </a:pPr>
            <a:endParaRPr sz="2000">
              <a:solidFill>
                <a:srgbClr val="1D2939"/>
              </a:solidFill>
              <a:latin typeface="Space Grotesk"/>
              <a:ea typeface="Space Grotesk"/>
              <a:cs typeface="Space Grotesk"/>
              <a:sym typeface="Space Grotesk"/>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7622</Words>
  <Application>Microsoft Office PowerPoint</Application>
  <PresentationFormat>Presentación en pantalla (16:9)</PresentationFormat>
  <Paragraphs>1344</Paragraphs>
  <Slides>83</Slides>
  <Notes>83</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83</vt:i4>
      </vt:variant>
    </vt:vector>
  </HeadingPairs>
  <TitlesOfParts>
    <vt:vector size="95" baseType="lpstr">
      <vt:lpstr>Arial</vt:lpstr>
      <vt:lpstr>Courier New</vt:lpstr>
      <vt:lpstr>Exo 2 Black</vt:lpstr>
      <vt:lpstr>Exo 2</vt:lpstr>
      <vt:lpstr>Space Grotesk</vt:lpstr>
      <vt:lpstr>Consolas</vt:lpstr>
      <vt:lpstr>Georgia</vt:lpstr>
      <vt:lpstr>Roboto Mono</vt:lpstr>
      <vt:lpstr>Raleway</vt:lpstr>
      <vt:lpstr>Lato</vt:lpstr>
      <vt:lpstr>Space Grotesk Light</vt:lpstr>
      <vt:lpstr>Streamline</vt:lpstr>
      <vt:lpstr>Presentación de PowerPoint</vt:lpstr>
      <vt:lpstr>INTRODUCCIÓN</vt:lpstr>
      <vt:lpstr>Presentación de PowerPoint</vt:lpstr>
      <vt:lpstr>Presentación de PowerPoint</vt:lpstr>
      <vt:lpstr>Presentación de PowerPoint</vt:lpstr>
      <vt:lpstr>Presentación de PowerPoint</vt:lpstr>
      <vt:lpstr>Presentación de PowerPoint</vt:lpstr>
      <vt:lpstr>Presentación de PowerPoint</vt:lpstr>
      <vt:lpstr>PROTOCOLO HTTP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REST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SPRING BOOT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MI PRIMER ENDPOINT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ESTRUCTURA DE UN CONTROLADOR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MÉTODOS DE UN CONTROLADOR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David Díaz Stoica</cp:lastModifiedBy>
  <cp:revision>1</cp:revision>
  <dcterms:modified xsi:type="dcterms:W3CDTF">2026-09-25T09:52:14Z</dcterms:modified>
</cp:coreProperties>
</file>